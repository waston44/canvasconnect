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 Introduction to Git &amp; GitHub! I'm really glad to have you here today.
This course focuses on version control for new programmers. If you have never used Git before, you are exactly where you need to be.
We designed this for first-year students and anyone who is new to programming. You don't need any background in coding or version control.
By the end of this lesson, you will understand the basic Git and GitHub workflow and be able to use VS Code as your main tool.
Let's get started and see how version control can make your coding life much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a problem many of us know too well: manual version control.
Imagine you have a project folder called project1.
As you keep editing, you save copies with names like assignment_final.c, assignment_final2.c, assignment_FINAL.c, and even assignment_FINAL_WORKING_REAL.c.
Have you ever done this? It gets confusing fast.
This is manual version control, and the main risk is confusion and lost work. Next, we'll see what happens when something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manual version control we just covered, imagine a student with 200 lines of working code—that's Step 1.
Step 2: the student makes several edits to improve the program.
Step 3: the program breaks. The problem is, they can't remember which change caused the break.
So the big question is: how do we get back to the working version?
This is exactly what version control solves—it lets us restore any previous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manual version control problem we just discussed, let's now define version control properly.
Version control is a system that records changes to files over time. This gives us several key abilities.
First, you can see what changed, when it changed, and who made the change.
Second, you can go back to earlier versions safely, which solves the problem we just saw.
Finally, version control makes it much easier to work with other programmers. Notice the timeline at the bottom: Version 1 through Version 4, with an arrow returning to an earlier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what version control is, let's focus on Git itself. Git is the tool that makes version control happen on your computer.
Look at these three points. Git is a version control system. It runs entirely on your computer, not on a website. And it tracks changes to your files, so you can always see what you changed and when.
This is an important distinction: Git is not GitHub. Git is the software on your machine that tracks versions. GitHub is a website for sharing Git repositories, which we will explore later.
Now let's see how Git works step by step.
It all starts with your computer.
Inside your computer, you have a project folder with all your files.
When you run Git in that folder, it creates a hidden Git repository. This repository is like a control center that watches every file in the folder.
Each time you save a version, Git stores it in the commit history. This is the timeline of versions we saw earlier, now living right on your computer.
So remember: Git is the local tool that tracks changes and builds a commit history, while GitHub is something different we will meet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what we just covered about Git as the local tool, let's meet GitHub. It's the online home for your Git repositories.
At its heart, GitHub is an online platform where you can store and share Git repositories. Think of it like a cloud storage service built specifically for code and version history.
First, GitHub gives you a platform to keep your repositories online, so you never depend on just one computer.
Second, it acts as a backup. Your code and its full history are safe in the cloud, even if your laptop fails.
Third, GitHub makes teamwork much easier. You can invite others, share a project, and work on the same code from different places.
Fourth, it helps you track issues and pull requests, which are ways to discuss changes and review code before merging it.
And finally, GitHub can serve as your public portfolio. Recruiters and collaborators can see your real projects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met Git and GitHub separately. Now let's compare them side by side so the difference becomes very clear.
Look at this table. Git runs locally on your computer and creates commits. GitHub is an online hosting platform that stores remote repositories.
Here is a helpful analogy. Git is like the tracking system that records every change you make. GitHub is the online home where that tracked project lives and can be shared.
This point is key: Git works without GitHub, but GitHub needs Git. You can use Git entirely offline, while GitHub depends on Git to manage and store versions.
So remember: Git is the tool, and GitHub is the service built around it. Next, let's explore the idea of a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explore the idea of a repository. The title asks: What is a repository?
A repository, often called a repo, is simply a project folder that Git tracks. It is the place where your code and files live while Git watches over them.
So what exactly does a repo hold? Let's break it down.
A repo keeps three important things: Git tracks the full history of changes, it stores all the project files, and it keeps everything together in one place.
Here is an example project folder called my-program.
Inside, Git sees main.c, calculations.c, calculations.h, a README.md file, and a .gitignore file. All of these files are part of one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what a repository is, let's focus on one of the most important concepts inside it: the commit.
A commit is essentially a checkpoint or save point for your project. If you have ever saved a game before a difficult level, you already understand the idea.
Look at the timeline. Commit 1 is 'Create initial program' — that's the first save point. Commit 2 adds a feature, Commit 3 fixes a bug, and Commit 4 adds input validation.
Notice Commit 3's message: 'Fix incorrect Fahrenheit calculation'. Even without seeing the code, we know exactly what changed.
So remember: commits should represent meaningful changes, and each commit should have a clear message describing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what we just covered, let's focus on what makes a commit message truly useful.
The core idea is simple: a commit message should tell someone what changed. Imagine opening a project after a few weeks — can you tell what each commit did?
Look at this table of bad versus good examples. Messages like 'stuff', 'changes', 'update', 'asdf', and 'final' hide the change. But 'Add input validation', 'Fix calculation error', 'Add menu system', and 'Update README with instructions' make the change obvious.
A useful trick is to complete the sentence: 'This commit will...' That gives you messages like 'Fix calculation error' or 'Add input validation'.
Remember: bad messages hide what changed, good messages show it clearly. Let's carry this habit into every commit we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zoom out and see where that snapshot actually lives. On the left is your computer.
Your working files pass through Git, and when you save a commit, it stays in your local repository on your own machine.
On the right, GitHub stores a remote repository online. This is the copy that others can access.
Push sends your commits up to the remote repository, just like we saw a moment ago.
Pull brings commits down from GitHub to your local repository. So local means your computer, and remote means a stored copy elsewhere, usually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local and remote, let's get you onto GitHub. Creating an account takes only a few minutes, but one small choice matters quite a lot.
There are four steps. The main idea is to choose your username wisely because it becomes part of your professional identity.
First, go to github.com and click Sign up. You will enter your email, set a password, and choose your username.
Second, pick a username that is clear and professional. This name appears in your profile, your repository links, and any team activity later, so avoid nicknames if you plan to show your work to employers.
After you verify your account by email, your GitHub profile is live. Over time, it can become a portfolio that shows your skills and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your GitHub profile is live, let's create our first repository online. This page shows the key steps and options on GitHub.
First, give your repository a name. For our exercise, use hello-git. You can also add a short description so others know what the project is about. Then decide whether it should be public or private.
Next, GitHub offers three optional files. A README explains your project. A .gitignore tells Git which files to ignore. A licence sets how others may use your code.
One important note: if this is assessed university work, follow your lecturer's instructions about choosing public or private. They may have a required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created a repository, this page is where you'll spend a lot of time. The first thing to notice is the Files and README area. The README is like the front door — it explains what the project is about and how to use it.
Next, the commit history. Remember, a commit is a saved snapshot of your work. Here you can see the list of those snapshots, who made them, and when. It's like a time log for your project.
The branch selector lets you switch between different versions or lines of development. Right now you'll likely just see 'main', but branches will become very useful later.
The code and clone option is where you can grab a copy of the repository. The green Code button gives you the link to copy it to your own computer or share it with others.
Finally, issues and pull requests. Issues are for tracking problems or ideas, and pull requests are how you propose changes. We'll use both of these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from tracking issues and proposing changes to actually making an edit ourselves. We can do this right in the browser.
GitHub lets you edit and commit a file without leaving the browser. No terminal, no extra tools — just click, edit, and save.
Let's walk through the steps one by one.
First, open the README.md file. Then change the heading, and finally commit the change. We'll take it slowly.
Look at the before and after. We only changed the heading from 'My First Repository' to 'My First Git Repository'.
And here's the key idea: every simple browser edit creates a commit. That means this small change is recorded in your repository's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every edit on GitHub creates a commit, let's open the commit history to see all those changes in one place.
Each commit shows three key pieces of information: the commit message, the author, and the date. This tells us what was changed, who made the change, and when it happened.
When you click on a specific commit, GitHub reveals the changed files and the exact lines that were added or removed. For example, here we can see a change in the file main.py.
Notice the colors: green marks a line that was added, and red marks a line that was removed. This makes it very easy to see what changed at a glance.
This history is incredibly useful for debugging and for reviewing your work. If something breaks, you can look back and see exactly what changed and when. Next, we'll see how Git works inside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VS Code window with Git built right in. We can stay in one place while we work.
You can check changes, stage files, commit, and even push and pull without opening a separate terminal.
Under Changes, you see files that have been modified. The letter M means modified, U means untracked, and A means added.
Staged Changes are files ready to be committed. This matches the staging step in the Git workflow we just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Git working inside VS Code, let's clone a real repository from GitHub. Cloning means downloading the whole project and its Git history.
Step one: on GitHub, copy the repository URL. You can find this button right on the repository page.
Step two: in VS Code, open the Command Palette and choose Clone Repository, then paste the URL you copied.
Step three: choose a local folder on your computer and open the repository. VS Code will bring the whole project into your workspace.
So clone means you download the full repository plus its complete Git history. That gives you a live copy connected to Git.
With a clone, you get the full Git history and you can commit and push changes later.
By contrast, downloading a ZIP only gives you one snapshot of the files, with no history and no Git connection. So remember: clone when you want to keep working with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a cloned repository, let's make a small change in our project.
We are inside the hello-git project, working with the file main.c. This file currently shows a simple Hello World program.
Here is the original code. The printf line prints Hello World on the screen.
Now we change the message to Hello Git. That is the only difference we make.
VS Code immediately detects the modified file. But this local change is not committed yet; we will save it as a commit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made a change and saw VS Code detect it. Now let's look at how Source Control shows us exactly what kind of change each file has.
The letter M next to a file means Modified. This file was already being tracked, and we changed its content.
The letter U stands for Untracked. This is a new file that Git is not watching yet.
A stands for Added. It means we have told Git to include this new file in the next commit.
VS Code also highlights the changed files in the Source Control panel, so you can quickly spot what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seen how VS Code highlights changes, let's walk through the full workflow: stage, commit, and push.
First, edit main.c and change the greeting message. This is our local change.
Next, open the Source Control panel and stage the change by clicking the plus button. Staging prepares the file for the commit.
Then write a clear commit message: 'Change greeting to Hello Git.' A good message explains what and why.
Finally, commit and push, or sync changes. Then open GitHub to confirm the change appears online. That's the complete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pushed our own commits to GitHub. Now let's look at the opposite direction: pull. Pull brings remote commits into your local VS Code.
Imagine you edit the README file directly on GitHub in the browser, just as we did earlier.
Your local VS Code does not have that change yet. The remote repository is now ahead of your local copy.
The pull command moves those new commits from GitHub down to your local VS Code. You can run git pull or use the sync button.
So remember: before you start working on a shared project, pull first. That keeps your local copy up to date with the latest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what we just covered about pulling changes, let's explore a new idea: branches. A branch lets you work on a change without immediately changing the main version.
A branch is a separate line of work. You can experiment safely, and your main version stays untouched.
Later, if you like the changes, you can merge that branch back into the main line.
In this diagram, the main line follows commits A, B, C, and then F.
The feature branch starts at C, adds D and E, and then merges back into main at F. So main is your working program, and a feature branch for a menu adds a new menu without breaking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menu example we just saw, let's look at why branches are so useful. The first reason is to test an idea. You create a branch, try something out, and if it doesn't work, you just delete that branch. Main stays safe.
The second common use is building a new feature. While you're coding on a feature branch, the main branch still holds the working version, so the rest of the project is never blocked.
Third, you can fix a bug safely. Instead of editing main directly, you create a branch for the fix, test it there, and only merge it back when you're confident it works.
Fourth, branches make teamwork much cleaner. Each teammate works on their own branch, so their changes stay separate until everyone is ready to combine them.
And the biggest benefit is the safety net: if any experiment goes wrong, the main branch still contains the working version. You can always go back to a stable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those separate branches back together. This is called a merge.
A merge combines changes from one branch into another, so the main project gets the new work without losing the stable version.
Look at the diagram. We have a feature/menu branch where someone built a new menu.
When we merge, Git takes the changes from that branch and prepares to bring them together.
Those changes then land in main, so the main branch now includes the new menu work.
But sometimes two people change the same section of a file. Git cannot automatically decide which version should be kept. That is what we call a merge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how merge conflicts happen, let's look at the common Git mistakes that often cause them. First, commit often in small steps. Every commit is like a save point you can return to.
Next, write clear commit messages that explain what changed. We practiced this earlier on page 10. Messages like 'fixed stuff' don't help anyone.
Another frequent mistake is forgetting to push. Push your work to update the remote repository, so your changes are backed up and visible to your team.
Related to that: if you edit directly on GitHub, always pull first to sync your local repo. Otherwise you might create new conflicts when you make local changes.
Finally, be careful what you commit. Use .gitignore to keep out generated or unnecessary files, and never commit passwords or API keys. This warning is one of the most important rules in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a closer look at .gitignore. This small file has a big job: it tells Git which files and folders to skip.
The main goal is to keep secrets and generated files out of Git. We never want those to end up in our repository.
So what exactly does .gitignore do? It lists patterns for files and folders that Git should not track. If a file matches one of these patterns, Git ignores it completely.
Here are some common entries. 'build/' keeps entire build folders out. '*.exe' ignores compiled executable files. And '.env' is a special one we'll discuss next.
Why does .env matter so much? Files like .env often hold secrets such as API keys and passwords. If we commit them, those secrets become visible in the repository history.
For now, focus on the basic examples. You don't need to learn the full syntax today. Just remember what .gitignore is for and these common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just set up our first workflow in VS Code. Let's peek behind those buttons and see the Git commands they actually run.
This table maps each VS Code action to a Git command. For example, cloning a repository runs git clone &lt;repository-url&gt;.
The other key commands are git status, git add, git commit, git pull, git push, and git branch. Each one appears behind a button.
VS Code gives us a visual way to do these operations. But seeing the commands helps us understand what the tool is doing under the hood.
Don't worry about memorising all these commands today. This slide is a reference you can come back to. Let's move on to a quick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checked our understanding, and now it's time to bring it all together. This final summary captures the essentials you'll use every time you work with Git and GitHub.
The core workflow to remember is PULL, EDIT, STAGE, COMMIT, PUSH. Always pull before you edit so you start with the latest version.
Remember the core tools: Git tracks your work on your computer, and GitHub stores and shares your repositories online. A commit is a checkpoint in your project history.
Push sends your commits to GitHub, and pull receives commits from GitHub. Branches let you work on separate lines of development without affecting the main project.
Finally, commit early, commit often, and write useful commit messages. That's the habit that makes version control a superpower. You've done excellent work today. Keep practicing and you'll build confidence quickly. Thank you for being part of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914400" y="548640"/>
            <a:ext cx="7315200" cy="118872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Introduction to</a:t>
            </a:r>
            <a:endParaRPr lang="en-US" sz="1152" dirty="0"/>
          </a:p>
          <a:p>
            <a:pPr algn="ct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Git &amp; GitHub</a:t>
            </a:r>
            <a:endParaRPr lang="en-US" sz="1152" dirty="0"/>
          </a:p>
        </p:txBody>
      </p:sp>
      <p:sp>
        <p:nvSpPr>
          <p:cNvPr id="4" name="Text 1"/>
          <p:cNvSpPr/>
          <p:nvPr/>
        </p:nvSpPr>
        <p:spPr>
          <a:xfrm>
            <a:off x="548640" y="2011680"/>
            <a:ext cx="804672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555555"/>
                </a:solidFill>
                <a:latin typeface="Microsoft YaHei" pitchFamily="34" charset="0"/>
                <a:ea typeface="Microsoft YaHei" pitchFamily="34" charset="-122"/>
                <a:cs typeface="Microsoft YaHei" pitchFamily="34" charset="-120"/>
              </a:rPr>
              <a:t>Version Control for New Programmers</a:t>
            </a:r>
            <a:endParaRPr lang="en-US" sz="1152" dirty="0"/>
          </a:p>
        </p:txBody>
      </p:sp>
      <p:sp>
        <p:nvSpPr>
          <p:cNvPr id="5" name="Shape 2"/>
          <p:cNvSpPr/>
          <p:nvPr/>
        </p:nvSpPr>
        <p:spPr>
          <a:xfrm>
            <a:off x="3200400" y="2697480"/>
            <a:ext cx="2743200" cy="36576"/>
          </a:xfrm>
          <a:custGeom>
            <a:avLst/>
            <a:gdLst/>
            <a:ahLst/>
            <a:cxnLst/>
            <a:rect l="l" t="t" r="r" b="b"/>
            <a:pathLst>
              <a:path w="2743200" h="36576">
                <a:moveTo>
                  <a:pt x="0" y="0"/>
                </a:moveTo>
                <a:lnTo>
                  <a:pt x="2743200" y="0"/>
                </a:lnTo>
                <a:lnTo>
                  <a:pt x="2743200" y="36576"/>
                </a:lnTo>
                <a:lnTo>
                  <a:pt x="0" y="36576"/>
                </a:lnTo>
                <a:close/>
              </a:path>
            </a:pathLst>
          </a:custGeom>
          <a:solidFill>
            <a:srgbClr val="5B9BD5"/>
          </a:solidFill>
          <a:ln/>
        </p:spPr>
      </p:sp>
      <p:sp>
        <p:nvSpPr>
          <p:cNvPr id="6" name="Shape 3"/>
          <p:cNvSpPr/>
          <p:nvPr/>
        </p:nvSpPr>
        <p:spPr>
          <a:xfrm>
            <a:off x="457200" y="2926080"/>
            <a:ext cx="4023360" cy="1463040"/>
          </a:xfrm>
          <a:custGeom>
            <a:avLst/>
            <a:gdLst/>
            <a:ahLst/>
            <a:cxnLst/>
            <a:rect l="l" t="t" r="r" b="b"/>
            <a:pathLst>
              <a:path w="4023360" h="1463040">
                <a:moveTo>
                  <a:pt x="0" y="0"/>
                </a:moveTo>
                <a:lnTo>
                  <a:pt x="4023360" y="0"/>
                </a:lnTo>
                <a:lnTo>
                  <a:pt x="4023360" y="1463040"/>
                </a:lnTo>
                <a:lnTo>
                  <a:pt x="0" y="1463040"/>
                </a:lnTo>
                <a:close/>
              </a:path>
            </a:pathLst>
          </a:custGeom>
          <a:solidFill>
            <a:srgbClr val="E8F4FD"/>
          </a:solidFill>
          <a:ln/>
        </p:spPr>
      </p:sp>
      <p:sp>
        <p:nvSpPr>
          <p:cNvPr id="7" name="Shape 4"/>
          <p:cNvSpPr/>
          <p:nvPr/>
        </p:nvSpPr>
        <p:spPr>
          <a:xfrm>
            <a:off x="4663440" y="2926080"/>
            <a:ext cx="4023360" cy="1463040"/>
          </a:xfrm>
          <a:custGeom>
            <a:avLst/>
            <a:gdLst/>
            <a:ahLst/>
            <a:cxnLst/>
            <a:rect l="l" t="t" r="r" b="b"/>
            <a:pathLst>
              <a:path w="4023360" h="1463040">
                <a:moveTo>
                  <a:pt x="0" y="0"/>
                </a:moveTo>
                <a:lnTo>
                  <a:pt x="4023360" y="0"/>
                </a:lnTo>
                <a:lnTo>
                  <a:pt x="4023360" y="1463040"/>
                </a:lnTo>
                <a:lnTo>
                  <a:pt x="0" y="1463040"/>
                </a:lnTo>
                <a:close/>
              </a:path>
            </a:pathLst>
          </a:custGeom>
          <a:solidFill>
            <a:srgbClr val="E6F7ED"/>
          </a:solidFill>
          <a:ln/>
        </p:spPr>
      </p:sp>
      <p:sp>
        <p:nvSpPr>
          <p:cNvPr id="8" name="Text 5"/>
          <p:cNvSpPr/>
          <p:nvPr/>
        </p:nvSpPr>
        <p:spPr>
          <a:xfrm>
            <a:off x="640080" y="3145536"/>
            <a:ext cx="3657600" cy="1024128"/>
          </a:xfrm>
          <a:prstGeom prst="rect">
            <a:avLst/>
          </a:prstGeom>
          <a:noFill/>
          <a:ln/>
        </p:spPr>
        <p:txBody>
          <a:bodyPr wrap="square" lIns="91440" tIns="91440" rIns="91440" bIns="91440" rtlCol="0" anchor="t">
            <a:spAutoFit/>
          </a:bodyPr>
          <a:lstStyle/>
          <a:p>
            <a:pPr algn="l" indent="0" marL="0">
              <a:lnSpc>
                <a:spcPct val="120000"/>
              </a:lnSpc>
              <a:spcBef>
                <a:spcPts val="360"/>
              </a:spcBef>
              <a:buNone/>
            </a:pPr>
            <a:r>
              <a:rPr lang="en-US" sz="1440" b="1" dirty="0">
                <a:solidFill>
                  <a:srgbClr val="1E40AF"/>
                </a:solidFill>
                <a:latin typeface="Microsoft YaHei" pitchFamily="34" charset="0"/>
                <a:ea typeface="Microsoft YaHei" pitchFamily="34" charset="-122"/>
                <a:cs typeface="Microsoft YaHei" pitchFamily="34" charset="-120"/>
              </a:rPr>
              <a:t>Who is this for?</a:t>
            </a:r>
            <a:endParaRPr lang="en-US" sz="1152" dirty="0"/>
          </a:p>
          <a:p>
            <a:pPr algn="l"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First-year students</a:t>
            </a:r>
            <a:endParaRPr lang="en-US" sz="1152" dirty="0"/>
          </a:p>
          <a:p>
            <a:pPr algn="l"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New to programming</a:t>
            </a:r>
            <a:endParaRPr lang="en-US" sz="1152" dirty="0"/>
          </a:p>
        </p:txBody>
      </p:sp>
      <p:sp>
        <p:nvSpPr>
          <p:cNvPr id="9" name="Text 6"/>
          <p:cNvSpPr/>
          <p:nvPr/>
        </p:nvSpPr>
        <p:spPr>
          <a:xfrm>
            <a:off x="4846320" y="3145536"/>
            <a:ext cx="3657600" cy="1024128"/>
          </a:xfrm>
          <a:prstGeom prst="rect">
            <a:avLst/>
          </a:prstGeom>
          <a:noFill/>
          <a:ln/>
        </p:spPr>
        <p:txBody>
          <a:bodyPr wrap="square" lIns="91440" tIns="91440" rIns="91440" bIns="91440" rtlCol="0" anchor="t">
            <a:spAutoFit/>
          </a:bodyPr>
          <a:lstStyle/>
          <a:p>
            <a:pPr algn="l" indent="0" marL="0">
              <a:lnSpc>
                <a:spcPct val="120000"/>
              </a:lnSpc>
              <a:spcBef>
                <a:spcPts val="360"/>
              </a:spcBef>
              <a:buNone/>
            </a:pPr>
            <a:r>
              <a:rPr lang="en-US" sz="1440" b="1" dirty="0">
                <a:solidFill>
                  <a:srgbClr val="166534"/>
                </a:solidFill>
                <a:latin typeface="Microsoft YaHei" pitchFamily="34" charset="0"/>
                <a:ea typeface="Microsoft YaHei" pitchFamily="34" charset="-122"/>
                <a:cs typeface="Microsoft YaHei" pitchFamily="34" charset="-120"/>
              </a:rPr>
              <a:t>What you'll learn</a:t>
            </a:r>
            <a:endParaRPr lang="en-US" sz="1152" dirty="0"/>
          </a:p>
          <a:p>
            <a:pPr algn="l"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Git/GitHub workflow</a:t>
            </a:r>
            <a:endParaRPr lang="en-US" sz="1152" dirty="0"/>
          </a:p>
          <a:p>
            <a:pPr algn="l"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Use VS Code</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2937"/>
                </a:solidFill>
                <a:latin typeface="Microsoft YaHei" pitchFamily="34" charset="0"/>
                <a:ea typeface="Microsoft YaHei" pitchFamily="34" charset="-122"/>
                <a:cs typeface="Microsoft YaHei" pitchFamily="34" charset="-120"/>
              </a:rPr>
              <a:t>The Problem: Manual Version Control</a:t>
            </a:r>
            <a:endParaRPr lang="en-US" sz="1152" dirty="0"/>
          </a:p>
        </p:txBody>
      </p:sp>
      <p:sp>
        <p:nvSpPr>
          <p:cNvPr id="4" name="Shape 1"/>
          <p:cNvSpPr/>
          <p:nvPr/>
        </p:nvSpPr>
        <p:spPr>
          <a:xfrm>
            <a:off x="640080" y="118872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E67E22"/>
          </a:solidFill>
          <a:ln/>
        </p:spPr>
      </p:sp>
      <p:sp>
        <p:nvSpPr>
          <p:cNvPr id="5" name="Shape 2"/>
          <p:cNvSpPr/>
          <p:nvPr/>
        </p:nvSpPr>
        <p:spPr>
          <a:xfrm>
            <a:off x="548640" y="1371600"/>
            <a:ext cx="4754880" cy="3291840"/>
          </a:xfrm>
          <a:custGeom>
            <a:avLst/>
            <a:gdLst/>
            <a:ahLst/>
            <a:cxnLst/>
            <a:rect l="l" t="t" r="r" b="b"/>
            <a:pathLst>
              <a:path w="4754880" h="3291840">
                <a:moveTo>
                  <a:pt x="0" y="0"/>
                </a:moveTo>
                <a:lnTo>
                  <a:pt x="4754880" y="0"/>
                </a:lnTo>
                <a:lnTo>
                  <a:pt x="4754880" y="3291840"/>
                </a:lnTo>
                <a:lnTo>
                  <a:pt x="0" y="3291840"/>
                </a:lnTo>
                <a:close/>
              </a:path>
            </a:pathLst>
          </a:custGeom>
          <a:solidFill>
            <a:srgbClr val="F8FAFC"/>
          </a:solidFill>
          <a:ln/>
        </p:spPr>
      </p:sp>
      <p:sp>
        <p:nvSpPr>
          <p:cNvPr id="6" name="Shape 3"/>
          <p:cNvSpPr/>
          <p:nvPr/>
        </p:nvSpPr>
        <p:spPr>
          <a:xfrm>
            <a:off x="548640" y="1371600"/>
            <a:ext cx="4754880" cy="457200"/>
          </a:xfrm>
          <a:custGeom>
            <a:avLst/>
            <a:gdLst/>
            <a:ahLst/>
            <a:cxnLst/>
            <a:rect l="l" t="t" r="r" b="b"/>
            <a:pathLst>
              <a:path w="4754880" h="457200">
                <a:moveTo>
                  <a:pt x="0" y="0"/>
                </a:moveTo>
                <a:lnTo>
                  <a:pt x="4754880" y="0"/>
                </a:lnTo>
                <a:lnTo>
                  <a:pt x="4754880" y="457200"/>
                </a:lnTo>
                <a:lnTo>
                  <a:pt x="0" y="457200"/>
                </a:lnTo>
                <a:close/>
              </a:path>
            </a:pathLst>
          </a:custGeom>
          <a:solidFill>
            <a:srgbClr val="3B82F6"/>
          </a:solidFill>
          <a:ln/>
        </p:spPr>
      </p:sp>
      <p:sp>
        <p:nvSpPr>
          <p:cNvPr id="7" name="Shape 4"/>
          <p:cNvSpPr/>
          <p:nvPr/>
        </p:nvSpPr>
        <p:spPr>
          <a:xfrm>
            <a:off x="731520" y="1517904"/>
            <a:ext cx="237744" cy="164592"/>
          </a:xfrm>
          <a:custGeom>
            <a:avLst/>
            <a:gdLst/>
            <a:ahLst/>
            <a:cxnLst/>
            <a:rect l="l" t="t" r="r" b="b"/>
            <a:pathLst>
              <a:path w="237744" h="164592">
                <a:moveTo>
                  <a:pt x="0" y="32918"/>
                </a:moveTo>
                <a:lnTo>
                  <a:pt x="83210" y="32918"/>
                </a:lnTo>
                <a:lnTo>
                  <a:pt x="106985" y="57607"/>
                </a:lnTo>
                <a:lnTo>
                  <a:pt x="237744" y="57607"/>
                </a:lnTo>
                <a:lnTo>
                  <a:pt x="237744" y="164592"/>
                </a:lnTo>
                <a:lnTo>
                  <a:pt x="0" y="164592"/>
                </a:lnTo>
                <a:close/>
              </a:path>
            </a:pathLst>
          </a:custGeom>
          <a:solidFill>
            <a:srgbClr val="FBBF24"/>
          </a:solidFill>
          <a:ln/>
        </p:spPr>
      </p:sp>
      <p:sp>
        <p:nvSpPr>
          <p:cNvPr id="8" name="Text 5"/>
          <p:cNvSpPr/>
          <p:nvPr/>
        </p:nvSpPr>
        <p:spPr>
          <a:xfrm>
            <a:off x="1051560" y="1389888"/>
            <a:ext cx="18288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project1</a:t>
            </a:r>
            <a:endParaRPr lang="en-US" sz="1152" dirty="0"/>
          </a:p>
        </p:txBody>
      </p:sp>
      <p:sp>
        <p:nvSpPr>
          <p:cNvPr id="9" name="Shape 6"/>
          <p:cNvSpPr/>
          <p:nvPr/>
        </p:nvSpPr>
        <p:spPr>
          <a:xfrm>
            <a:off x="777240" y="1975104"/>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10" name="Text 7"/>
          <p:cNvSpPr/>
          <p:nvPr/>
        </p:nvSpPr>
        <p:spPr>
          <a:xfrm>
            <a:off x="1005840" y="1874520"/>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74151"/>
                </a:solidFill>
                <a:latin typeface="Microsoft YaHei" pitchFamily="34" charset="0"/>
                <a:ea typeface="Microsoft YaHei" pitchFamily="34" charset="-122"/>
                <a:cs typeface="Microsoft YaHei" pitchFamily="34" charset="-120"/>
              </a:rPr>
              <a:t>assignment.c</a:t>
            </a:r>
            <a:endParaRPr lang="en-US" sz="1152" dirty="0"/>
          </a:p>
        </p:txBody>
      </p:sp>
      <p:sp>
        <p:nvSpPr>
          <p:cNvPr id="11" name="Shape 8"/>
          <p:cNvSpPr/>
          <p:nvPr/>
        </p:nvSpPr>
        <p:spPr>
          <a:xfrm>
            <a:off x="777240" y="2414016"/>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12" name="Text 9"/>
          <p:cNvSpPr/>
          <p:nvPr/>
        </p:nvSpPr>
        <p:spPr>
          <a:xfrm>
            <a:off x="1005840" y="2313432"/>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74151"/>
                </a:solidFill>
                <a:latin typeface="Microsoft YaHei" pitchFamily="34" charset="0"/>
                <a:ea typeface="Microsoft YaHei" pitchFamily="34" charset="-122"/>
                <a:cs typeface="Microsoft YaHei" pitchFamily="34" charset="-120"/>
              </a:rPr>
              <a:t>assignment_final.c</a:t>
            </a:r>
            <a:endParaRPr lang="en-US" sz="1152" dirty="0"/>
          </a:p>
        </p:txBody>
      </p:sp>
      <p:sp>
        <p:nvSpPr>
          <p:cNvPr id="13" name="Shape 10"/>
          <p:cNvSpPr/>
          <p:nvPr/>
        </p:nvSpPr>
        <p:spPr>
          <a:xfrm>
            <a:off x="777240" y="2852928"/>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14" name="Text 11"/>
          <p:cNvSpPr/>
          <p:nvPr/>
        </p:nvSpPr>
        <p:spPr>
          <a:xfrm>
            <a:off x="1005840" y="2752344"/>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B45309"/>
                </a:solidFill>
                <a:latin typeface="Microsoft YaHei" pitchFamily="34" charset="0"/>
                <a:ea typeface="Microsoft YaHei" pitchFamily="34" charset="-122"/>
                <a:cs typeface="Microsoft YaHei" pitchFamily="34" charset="-120"/>
              </a:rPr>
              <a:t>assignment_final2.c</a:t>
            </a:r>
            <a:endParaRPr lang="en-US" sz="1152" dirty="0"/>
          </a:p>
        </p:txBody>
      </p:sp>
      <p:sp>
        <p:nvSpPr>
          <p:cNvPr id="15" name="Shape 12"/>
          <p:cNvSpPr/>
          <p:nvPr/>
        </p:nvSpPr>
        <p:spPr>
          <a:xfrm>
            <a:off x="777240" y="3291840"/>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16" name="Text 13"/>
          <p:cNvSpPr/>
          <p:nvPr/>
        </p:nvSpPr>
        <p:spPr>
          <a:xfrm>
            <a:off x="1005840" y="3191256"/>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B45309"/>
                </a:solidFill>
                <a:latin typeface="Microsoft YaHei" pitchFamily="34" charset="0"/>
                <a:ea typeface="Microsoft YaHei" pitchFamily="34" charset="-122"/>
                <a:cs typeface="Microsoft YaHei" pitchFamily="34" charset="-120"/>
              </a:rPr>
              <a:t>assignment_FINAL.c</a:t>
            </a:r>
            <a:endParaRPr lang="en-US" sz="1152" dirty="0"/>
          </a:p>
        </p:txBody>
      </p:sp>
      <p:sp>
        <p:nvSpPr>
          <p:cNvPr id="17" name="Shape 14"/>
          <p:cNvSpPr/>
          <p:nvPr/>
        </p:nvSpPr>
        <p:spPr>
          <a:xfrm>
            <a:off x="777240" y="3730752"/>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18" name="Text 15"/>
          <p:cNvSpPr/>
          <p:nvPr/>
        </p:nvSpPr>
        <p:spPr>
          <a:xfrm>
            <a:off x="1005840" y="3630168"/>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DC2626"/>
                </a:solidFill>
                <a:latin typeface="Microsoft YaHei" pitchFamily="34" charset="0"/>
                <a:ea typeface="Microsoft YaHei" pitchFamily="34" charset="-122"/>
                <a:cs typeface="Microsoft YaHei" pitchFamily="34" charset="-120"/>
              </a:rPr>
              <a:t>assignment_FINAL_WORKING.c</a:t>
            </a:r>
            <a:endParaRPr lang="en-US" sz="1152" dirty="0"/>
          </a:p>
        </p:txBody>
      </p:sp>
      <p:sp>
        <p:nvSpPr>
          <p:cNvPr id="19" name="Shape 16"/>
          <p:cNvSpPr/>
          <p:nvPr/>
        </p:nvSpPr>
        <p:spPr>
          <a:xfrm>
            <a:off x="777240" y="4169664"/>
            <a:ext cx="146304" cy="182880"/>
          </a:xfrm>
          <a:custGeom>
            <a:avLst/>
            <a:gdLst/>
            <a:ahLst/>
            <a:cxnLst/>
            <a:rect l="l" t="t" r="r" b="b"/>
            <a:pathLst>
              <a:path w="146304" h="182880">
                <a:moveTo>
                  <a:pt x="0" y="0"/>
                </a:moveTo>
                <a:lnTo>
                  <a:pt x="146304" y="0"/>
                </a:lnTo>
                <a:lnTo>
                  <a:pt x="146304" y="182880"/>
                </a:lnTo>
                <a:lnTo>
                  <a:pt x="0" y="182880"/>
                </a:lnTo>
                <a:close/>
              </a:path>
            </a:pathLst>
          </a:custGeom>
          <a:solidFill>
            <a:srgbClr val="9CA3AF"/>
          </a:solidFill>
          <a:ln/>
        </p:spPr>
      </p:sp>
      <p:sp>
        <p:nvSpPr>
          <p:cNvPr id="20" name="Text 17"/>
          <p:cNvSpPr/>
          <p:nvPr/>
        </p:nvSpPr>
        <p:spPr>
          <a:xfrm>
            <a:off x="1005840" y="4069080"/>
            <a:ext cx="42062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DC2626"/>
                </a:solidFill>
                <a:latin typeface="Microsoft YaHei" pitchFamily="34" charset="0"/>
                <a:ea typeface="Microsoft YaHei" pitchFamily="34" charset="-122"/>
                <a:cs typeface="Microsoft YaHei" pitchFamily="34" charset="-120"/>
              </a:rPr>
              <a:t>assignment_FINAL_WORKING_REAL.c</a:t>
            </a:r>
            <a:endParaRPr lang="en-US" sz="1152" dirty="0"/>
          </a:p>
        </p:txBody>
      </p:sp>
      <p:sp>
        <p:nvSpPr>
          <p:cNvPr id="21" name="Shape 18"/>
          <p:cNvSpPr/>
          <p:nvPr/>
        </p:nvSpPr>
        <p:spPr>
          <a:xfrm>
            <a:off x="5577840" y="1371600"/>
            <a:ext cx="3017520" cy="1005840"/>
          </a:xfrm>
          <a:custGeom>
            <a:avLst/>
            <a:gdLst/>
            <a:ahLst/>
            <a:cxnLst/>
            <a:rect l="l" t="t" r="r" b="b"/>
            <a:pathLst>
              <a:path w="3017520" h="1005840">
                <a:moveTo>
                  <a:pt x="0" y="0"/>
                </a:moveTo>
                <a:lnTo>
                  <a:pt x="3017520" y="0"/>
                </a:lnTo>
                <a:lnTo>
                  <a:pt x="3017520" y="1005840"/>
                </a:lnTo>
                <a:lnTo>
                  <a:pt x="0" y="1005840"/>
                </a:lnTo>
                <a:close/>
              </a:path>
            </a:pathLst>
          </a:custGeom>
          <a:solidFill>
            <a:srgbClr val="FEF9C3"/>
          </a:solidFill>
          <a:ln/>
        </p:spPr>
      </p:sp>
      <p:sp>
        <p:nvSpPr>
          <p:cNvPr id="22" name="Text 19"/>
          <p:cNvSpPr/>
          <p:nvPr/>
        </p:nvSpPr>
        <p:spPr>
          <a:xfrm>
            <a:off x="5760720" y="1554480"/>
            <a:ext cx="26517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854D0E"/>
                </a:solidFill>
                <a:latin typeface="Microsoft YaHei" pitchFamily="34" charset="0"/>
                <a:ea typeface="Microsoft YaHei" pitchFamily="34" charset="-122"/>
                <a:cs typeface="Microsoft YaHei" pitchFamily="34" charset="-120"/>
              </a:rPr>
              <a:t>Have you ever</a:t>
            </a:r>
            <a:endParaRPr lang="en-US" sz="1152" dirty="0"/>
          </a:p>
          <a:p>
            <a:pPr algn="ctr" indent="0" marL="0">
              <a:lnSpc>
                <a:spcPct val="120000"/>
              </a:lnSpc>
              <a:spcBef>
                <a:spcPts val="360"/>
              </a:spcBef>
              <a:buNone/>
            </a:pPr>
            <a:r>
              <a:rPr lang="en-US" sz="1152" b="1" dirty="0">
                <a:solidFill>
                  <a:srgbClr val="854D0E"/>
                </a:solidFill>
                <a:latin typeface="Microsoft YaHei" pitchFamily="34" charset="0"/>
                <a:ea typeface="Microsoft YaHei" pitchFamily="34" charset="-122"/>
                <a:cs typeface="Microsoft YaHei" pitchFamily="34" charset="-120"/>
              </a:rPr>
              <a:t>done this?</a:t>
            </a:r>
            <a:endParaRPr lang="en-US" sz="1152" dirty="0"/>
          </a:p>
        </p:txBody>
      </p:sp>
      <p:sp>
        <p:nvSpPr>
          <p:cNvPr id="23" name="Shape 20"/>
          <p:cNvSpPr/>
          <p:nvPr/>
        </p:nvSpPr>
        <p:spPr>
          <a:xfrm>
            <a:off x="5440680" y="2788920"/>
            <a:ext cx="36576" cy="356616"/>
          </a:xfrm>
          <a:custGeom>
            <a:avLst/>
            <a:gdLst/>
            <a:ahLst/>
            <a:cxnLst/>
            <a:rect l="l" t="t" r="r" b="b"/>
            <a:pathLst>
              <a:path w="36576" h="356616">
                <a:moveTo>
                  <a:pt x="0" y="0"/>
                </a:moveTo>
                <a:lnTo>
                  <a:pt x="36576" y="0"/>
                </a:lnTo>
                <a:lnTo>
                  <a:pt x="36576" y="356616"/>
                </a:lnTo>
                <a:lnTo>
                  <a:pt x="0" y="356616"/>
                </a:lnTo>
                <a:close/>
              </a:path>
            </a:pathLst>
          </a:custGeom>
          <a:solidFill>
            <a:srgbClr val="E67E22"/>
          </a:solidFill>
          <a:ln/>
        </p:spPr>
      </p:sp>
      <p:sp>
        <p:nvSpPr>
          <p:cNvPr id="24" name="Text 21"/>
          <p:cNvSpPr/>
          <p:nvPr/>
        </p:nvSpPr>
        <p:spPr>
          <a:xfrm>
            <a:off x="5577840" y="2743200"/>
            <a:ext cx="30175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2937"/>
                </a:solidFill>
                <a:latin typeface="Microsoft YaHei" pitchFamily="34" charset="0"/>
                <a:ea typeface="Microsoft YaHei" pitchFamily="34" charset="-122"/>
                <a:cs typeface="Microsoft YaHei" pitchFamily="34" charset="-120"/>
              </a:rPr>
              <a:t>This is manual version control</a:t>
            </a:r>
            <a:endParaRPr lang="en-US" sz="1152" dirty="0"/>
          </a:p>
        </p:txBody>
      </p:sp>
      <p:sp>
        <p:nvSpPr>
          <p:cNvPr id="25" name="Shape 22"/>
          <p:cNvSpPr/>
          <p:nvPr/>
        </p:nvSpPr>
        <p:spPr>
          <a:xfrm>
            <a:off x="5577840" y="3337560"/>
            <a:ext cx="3017520" cy="786384"/>
          </a:xfrm>
          <a:custGeom>
            <a:avLst/>
            <a:gdLst/>
            <a:ahLst/>
            <a:cxnLst/>
            <a:rect l="l" t="t" r="r" b="b"/>
            <a:pathLst>
              <a:path w="3017520" h="786384">
                <a:moveTo>
                  <a:pt x="0" y="0"/>
                </a:moveTo>
                <a:lnTo>
                  <a:pt x="3017520" y="0"/>
                </a:lnTo>
                <a:lnTo>
                  <a:pt x="3017520" y="786384"/>
                </a:lnTo>
                <a:lnTo>
                  <a:pt x="0" y="786384"/>
                </a:lnTo>
                <a:close/>
              </a:path>
            </a:pathLst>
          </a:custGeom>
          <a:solidFill>
            <a:srgbClr val="FEE2E2"/>
          </a:solidFill>
          <a:ln/>
        </p:spPr>
      </p:sp>
      <p:sp>
        <p:nvSpPr>
          <p:cNvPr id="26" name="Text 23"/>
          <p:cNvSpPr/>
          <p:nvPr/>
        </p:nvSpPr>
        <p:spPr>
          <a:xfrm>
            <a:off x="5760720" y="3520440"/>
            <a:ext cx="265176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991B1B"/>
                </a:solidFill>
                <a:latin typeface="Microsoft YaHei" pitchFamily="34" charset="0"/>
                <a:ea typeface="Microsoft YaHei" pitchFamily="34" charset="-122"/>
                <a:cs typeface="Microsoft YaHei" pitchFamily="34" charset="-120"/>
              </a:rPr>
              <a:t>Risk:</a:t>
            </a:r>
            <a:pPr algn="ctr" indent="0" marL="0">
              <a:lnSpc>
                <a:spcPct val="120000"/>
              </a:lnSpc>
              <a:spcBef>
                <a:spcPts val="360"/>
              </a:spcBef>
              <a:buNone/>
            </a:pPr>
            <a:r>
              <a:rPr lang="en-US" sz="1152" dirty="0">
                <a:solidFill>
                  <a:srgbClr val="991B1B"/>
                </a:solidFill>
                <a:latin typeface="Microsoft YaHei" pitchFamily="34" charset="0"/>
                <a:ea typeface="Microsoft YaHei" pitchFamily="34" charset="-122"/>
                <a:cs typeface="Microsoft YaHei" pitchFamily="34" charset="-120"/>
              </a:rPr>
              <a:t> confusion and lost work</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0F172A"/>
                </a:solidFill>
                <a:latin typeface="Microsoft YaHei" pitchFamily="34" charset="0"/>
                <a:ea typeface="Microsoft YaHei" pitchFamily="34" charset="-122"/>
                <a:cs typeface="Microsoft YaHei" pitchFamily="34" charset="-120"/>
              </a:rPr>
              <a:t>What If Something Breaks?</a:t>
            </a:r>
            <a:endParaRPr lang="en-US" sz="1152" dirty="0"/>
          </a:p>
        </p:txBody>
      </p:sp>
      <p:sp>
        <p:nvSpPr>
          <p:cNvPr id="4" name="Shape 1"/>
          <p:cNvSpPr/>
          <p:nvPr/>
        </p:nvSpPr>
        <p:spPr>
          <a:xfrm>
            <a:off x="548640" y="1225296"/>
            <a:ext cx="1828800" cy="36576"/>
          </a:xfrm>
          <a:custGeom>
            <a:avLst/>
            <a:gdLst/>
            <a:ahLst/>
            <a:cxnLst/>
            <a:rect l="l" t="t" r="r" b="b"/>
            <a:pathLst>
              <a:path w="1828800" h="36576">
                <a:moveTo>
                  <a:pt x="0" y="0"/>
                </a:moveTo>
                <a:lnTo>
                  <a:pt x="1828800" y="0"/>
                </a:lnTo>
                <a:lnTo>
                  <a:pt x="1828800" y="36576"/>
                </a:lnTo>
                <a:lnTo>
                  <a:pt x="0" y="36576"/>
                </a:lnTo>
                <a:close/>
              </a:path>
            </a:pathLst>
          </a:custGeom>
          <a:solidFill>
            <a:srgbClr val="ED7D31"/>
          </a:solidFill>
          <a:ln/>
        </p:spPr>
      </p:sp>
      <p:sp>
        <p:nvSpPr>
          <p:cNvPr id="5" name="Shape 2"/>
          <p:cNvSpPr/>
          <p:nvPr/>
        </p:nvSpPr>
        <p:spPr>
          <a:xfrm>
            <a:off x="548640" y="1353312"/>
            <a:ext cx="2560320" cy="1371600"/>
          </a:xfrm>
          <a:custGeom>
            <a:avLst/>
            <a:gdLst/>
            <a:ahLst/>
            <a:cxnLst/>
            <a:rect l="l" t="t" r="r" b="b"/>
            <a:pathLst>
              <a:path w="2560320" h="1371600">
                <a:moveTo>
                  <a:pt x="0" y="0"/>
                </a:moveTo>
                <a:lnTo>
                  <a:pt x="2560320" y="0"/>
                </a:lnTo>
                <a:lnTo>
                  <a:pt x="2560320" y="1371600"/>
                </a:lnTo>
                <a:lnTo>
                  <a:pt x="0" y="1371600"/>
                </a:lnTo>
                <a:close/>
              </a:path>
            </a:pathLst>
          </a:custGeom>
          <a:solidFill>
            <a:srgbClr val="DCFCE7"/>
          </a:solidFill>
          <a:ln/>
        </p:spPr>
      </p:sp>
      <p:sp>
        <p:nvSpPr>
          <p:cNvPr id="6" name="Shape 3"/>
          <p:cNvSpPr/>
          <p:nvPr/>
        </p:nvSpPr>
        <p:spPr>
          <a:xfrm>
            <a:off x="3291840" y="1353312"/>
            <a:ext cx="2560320" cy="1371600"/>
          </a:xfrm>
          <a:custGeom>
            <a:avLst/>
            <a:gdLst/>
            <a:ahLst/>
            <a:cxnLst/>
            <a:rect l="l" t="t" r="r" b="b"/>
            <a:pathLst>
              <a:path w="2560320" h="1371600">
                <a:moveTo>
                  <a:pt x="0" y="0"/>
                </a:moveTo>
                <a:lnTo>
                  <a:pt x="2560320" y="0"/>
                </a:lnTo>
                <a:lnTo>
                  <a:pt x="2560320" y="1371600"/>
                </a:lnTo>
                <a:lnTo>
                  <a:pt x="0" y="1371600"/>
                </a:lnTo>
                <a:close/>
              </a:path>
            </a:pathLst>
          </a:custGeom>
          <a:solidFill>
            <a:srgbClr val="E0F2FE"/>
          </a:solidFill>
          <a:ln/>
        </p:spPr>
      </p:sp>
      <p:sp>
        <p:nvSpPr>
          <p:cNvPr id="7" name="Shape 4"/>
          <p:cNvSpPr/>
          <p:nvPr/>
        </p:nvSpPr>
        <p:spPr>
          <a:xfrm>
            <a:off x="6035040" y="1353312"/>
            <a:ext cx="2560320" cy="1371600"/>
          </a:xfrm>
          <a:custGeom>
            <a:avLst/>
            <a:gdLst/>
            <a:ahLst/>
            <a:cxnLst/>
            <a:rect l="l" t="t" r="r" b="b"/>
            <a:pathLst>
              <a:path w="2560320" h="1371600">
                <a:moveTo>
                  <a:pt x="0" y="0"/>
                </a:moveTo>
                <a:lnTo>
                  <a:pt x="2560320" y="0"/>
                </a:lnTo>
                <a:lnTo>
                  <a:pt x="2560320" y="1371600"/>
                </a:lnTo>
                <a:lnTo>
                  <a:pt x="0" y="1371600"/>
                </a:lnTo>
                <a:close/>
              </a:path>
            </a:pathLst>
          </a:custGeom>
          <a:solidFill>
            <a:srgbClr val="FEE2E2"/>
          </a:solidFill>
          <a:ln/>
        </p:spPr>
      </p:sp>
      <p:sp>
        <p:nvSpPr>
          <p:cNvPr id="8" name="Text 5"/>
          <p:cNvSpPr/>
          <p:nvPr/>
        </p:nvSpPr>
        <p:spPr>
          <a:xfrm>
            <a:off x="731520" y="1563624"/>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64748B"/>
                </a:solidFill>
                <a:latin typeface="Microsoft YaHei" pitchFamily="34" charset="0"/>
                <a:ea typeface="Microsoft YaHei" pitchFamily="34" charset="-122"/>
                <a:cs typeface="Microsoft YaHei" pitchFamily="34" charset="-120"/>
              </a:rPr>
              <a:t>Step 1</a:t>
            </a:r>
            <a:endParaRPr lang="en-US" sz="1152" dirty="0"/>
          </a:p>
          <a:p>
            <a:pP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200 lines</a:t>
            </a:r>
            <a:endParaRPr lang="en-US" sz="1152" dirty="0"/>
          </a:p>
          <a:p>
            <a:pP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working code</a:t>
            </a:r>
            <a:endParaRPr lang="en-US" sz="1152" dirty="0"/>
          </a:p>
        </p:txBody>
      </p:sp>
      <p:sp>
        <p:nvSpPr>
          <p:cNvPr id="9" name="Text 6"/>
          <p:cNvSpPr/>
          <p:nvPr/>
        </p:nvSpPr>
        <p:spPr>
          <a:xfrm>
            <a:off x="3474720" y="1563624"/>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64748B"/>
                </a:solidFill>
                <a:latin typeface="Microsoft YaHei" pitchFamily="34" charset="0"/>
                <a:ea typeface="Microsoft YaHei" pitchFamily="34" charset="-122"/>
                <a:cs typeface="Microsoft YaHei" pitchFamily="34" charset="-120"/>
              </a:rPr>
              <a:t>Step 2</a:t>
            </a:r>
            <a:endParaRPr lang="en-US" sz="1152" dirty="0"/>
          </a:p>
          <a:p>
            <a:pP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Changes</a:t>
            </a:r>
            <a:endParaRPr lang="en-US" sz="1152" dirty="0"/>
          </a:p>
          <a:p>
            <a:pP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several edits</a:t>
            </a:r>
            <a:endParaRPr lang="en-US" sz="1152" dirty="0"/>
          </a:p>
        </p:txBody>
      </p:sp>
      <p:sp>
        <p:nvSpPr>
          <p:cNvPr id="10" name="Text 7"/>
          <p:cNvSpPr/>
          <p:nvPr/>
        </p:nvSpPr>
        <p:spPr>
          <a:xfrm>
            <a:off x="6217920" y="1563624"/>
            <a:ext cx="21945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64748B"/>
                </a:solidFill>
                <a:latin typeface="Microsoft YaHei" pitchFamily="34" charset="0"/>
                <a:ea typeface="Microsoft YaHei" pitchFamily="34" charset="-122"/>
                <a:cs typeface="Microsoft YaHei" pitchFamily="34" charset="-120"/>
              </a:rPr>
              <a:t>Step 3</a:t>
            </a:r>
            <a:endParaRPr lang="en-US" sz="1152" dirty="0"/>
          </a:p>
          <a:p>
            <a:pPr indent="0" marL="0">
              <a:lnSpc>
                <a:spcPct val="120000"/>
              </a:lnSpc>
              <a:spcBef>
                <a:spcPts val="360"/>
              </a:spcBef>
              <a:buNone/>
            </a:pPr>
            <a:r>
              <a:rPr lang="en-US" sz="1296" b="1" dirty="0">
                <a:solidFill>
                  <a:srgbClr val="991B1B"/>
                </a:solidFill>
                <a:latin typeface="Microsoft YaHei" pitchFamily="34" charset="0"/>
                <a:ea typeface="Microsoft YaHei" pitchFamily="34" charset="-122"/>
                <a:cs typeface="Microsoft YaHei" pitchFamily="34" charset="-120"/>
              </a:rPr>
              <a:t>Breaks</a:t>
            </a:r>
            <a:endParaRPr lang="en-US" sz="1152" dirty="0"/>
          </a:p>
          <a:p>
            <a:pPr indent="0" marL="0">
              <a:lnSpc>
                <a:spcPct val="120000"/>
              </a:lnSpc>
              <a:spcBef>
                <a:spcPts val="360"/>
              </a:spcBef>
              <a:buNone/>
            </a:pPr>
            <a:r>
              <a:rPr lang="en-US" sz="1152" dirty="0">
                <a:solidFill>
                  <a:srgbClr val="991B1B"/>
                </a:solidFill>
                <a:latin typeface="Microsoft YaHei" pitchFamily="34" charset="0"/>
                <a:ea typeface="Microsoft YaHei" pitchFamily="34" charset="-122"/>
                <a:cs typeface="Microsoft YaHei" pitchFamily="34" charset="-120"/>
              </a:rPr>
              <a:t>which change?</a:t>
            </a:r>
            <a:endParaRPr lang="en-US" sz="1152" dirty="0"/>
          </a:p>
        </p:txBody>
      </p:sp>
      <p:sp>
        <p:nvSpPr>
          <p:cNvPr id="11" name="Text 8"/>
          <p:cNvSpPr/>
          <p:nvPr/>
        </p:nvSpPr>
        <p:spPr>
          <a:xfrm>
            <a:off x="548640" y="2852928"/>
            <a:ext cx="8046720" cy="85953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0F172A"/>
                </a:solidFill>
                <a:latin typeface="Microsoft YaHei" pitchFamily="34" charset="0"/>
                <a:ea typeface="Microsoft YaHei" pitchFamily="34" charset="-122"/>
                <a:cs typeface="Microsoft YaHei" pitchFamily="34" charset="-120"/>
              </a:rPr>
              <a:t>How do we get back to the working version?</a:t>
            </a:r>
            <a:endParaRPr lang="en-US" sz="1152" dirty="0"/>
          </a:p>
        </p:txBody>
      </p:sp>
      <p:sp>
        <p:nvSpPr>
          <p:cNvPr id="12" name="Shape 9"/>
          <p:cNvSpPr/>
          <p:nvPr/>
        </p:nvSpPr>
        <p:spPr>
          <a:xfrm>
            <a:off x="548640" y="3840480"/>
            <a:ext cx="8046720" cy="813816"/>
          </a:xfrm>
          <a:custGeom>
            <a:avLst/>
            <a:gdLst/>
            <a:ahLst/>
            <a:cxnLst/>
            <a:rect l="l" t="t" r="r" b="b"/>
            <a:pathLst>
              <a:path w="8046720" h="813816">
                <a:moveTo>
                  <a:pt x="0" y="0"/>
                </a:moveTo>
                <a:lnTo>
                  <a:pt x="8046720" y="0"/>
                </a:lnTo>
                <a:lnTo>
                  <a:pt x="8046720" y="813816"/>
                </a:lnTo>
                <a:lnTo>
                  <a:pt x="0" y="813816"/>
                </a:lnTo>
                <a:close/>
              </a:path>
            </a:pathLst>
          </a:custGeom>
          <a:solidFill>
            <a:srgbClr val="DCFCE7"/>
          </a:solidFill>
          <a:ln/>
        </p:spPr>
      </p:sp>
      <p:sp>
        <p:nvSpPr>
          <p:cNvPr id="13" name="Text 10"/>
          <p:cNvSpPr/>
          <p:nvPr/>
        </p:nvSpPr>
        <p:spPr>
          <a:xfrm>
            <a:off x="731520" y="4023360"/>
            <a:ext cx="768096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Version Control → restore any version</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1F3864"/>
                </a:solidFill>
                <a:latin typeface="Microsoft YaHei" pitchFamily="34" charset="0"/>
                <a:ea typeface="Microsoft YaHei" pitchFamily="34" charset="-122"/>
                <a:cs typeface="Microsoft YaHei" pitchFamily="34" charset="-120"/>
              </a:rPr>
              <a:t>What Is Version Control?</a:t>
            </a:r>
            <a:endParaRPr lang="en-US" sz="1152" dirty="0"/>
          </a:p>
        </p:txBody>
      </p:sp>
      <p:sp>
        <p:nvSpPr>
          <p:cNvPr id="4" name="Shape 1"/>
          <p:cNvSpPr/>
          <p:nvPr/>
        </p:nvSpPr>
        <p:spPr>
          <a:xfrm>
            <a:off x="640080" y="1115568"/>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32588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It records changes to files over time.</a:t>
            </a:r>
            <a:endParaRPr lang="en-US" sz="1152" dirty="0"/>
          </a:p>
        </p:txBody>
      </p:sp>
      <p:sp>
        <p:nvSpPr>
          <p:cNvPr id="6" name="Shape 3"/>
          <p:cNvSpPr/>
          <p:nvPr/>
        </p:nvSpPr>
        <p:spPr>
          <a:xfrm>
            <a:off x="548640" y="192024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DEEBF7"/>
          </a:solidFill>
          <a:ln/>
        </p:spPr>
      </p:sp>
      <p:sp>
        <p:nvSpPr>
          <p:cNvPr id="7" name="Shape 4"/>
          <p:cNvSpPr/>
          <p:nvPr/>
        </p:nvSpPr>
        <p:spPr>
          <a:xfrm>
            <a:off x="4663440" y="192024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E2F0D9"/>
          </a:solidFill>
          <a:ln/>
        </p:spPr>
      </p:sp>
      <p:sp>
        <p:nvSpPr>
          <p:cNvPr id="8" name="Shape 5"/>
          <p:cNvSpPr/>
          <p:nvPr/>
        </p:nvSpPr>
        <p:spPr>
          <a:xfrm>
            <a:off x="548640" y="292608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FFF2CC"/>
          </a:solidFill>
          <a:ln/>
        </p:spPr>
      </p:sp>
      <p:sp>
        <p:nvSpPr>
          <p:cNvPr id="9" name="Shape 6"/>
          <p:cNvSpPr/>
          <p:nvPr/>
        </p:nvSpPr>
        <p:spPr>
          <a:xfrm>
            <a:off x="4663440" y="2926080"/>
            <a:ext cx="3931920" cy="822960"/>
          </a:xfrm>
          <a:custGeom>
            <a:avLst/>
            <a:gdLst/>
            <a:ahLst/>
            <a:cxnLst/>
            <a:rect l="l" t="t" r="r" b="b"/>
            <a:pathLst>
              <a:path w="3931920" h="822960">
                <a:moveTo>
                  <a:pt x="0" y="0"/>
                </a:moveTo>
                <a:lnTo>
                  <a:pt x="3931920" y="0"/>
                </a:lnTo>
                <a:lnTo>
                  <a:pt x="3931920" y="822960"/>
                </a:lnTo>
                <a:lnTo>
                  <a:pt x="0" y="822960"/>
                </a:lnTo>
                <a:close/>
              </a:path>
            </a:pathLst>
          </a:custGeom>
          <a:solidFill>
            <a:srgbClr val="FCE4D6"/>
          </a:solidFill>
          <a:ln/>
        </p:spPr>
      </p:sp>
      <p:sp>
        <p:nvSpPr>
          <p:cNvPr id="10" name="Text 7"/>
          <p:cNvSpPr/>
          <p:nvPr/>
        </p:nvSpPr>
        <p:spPr>
          <a:xfrm>
            <a:off x="731520" y="1984248"/>
            <a:ext cx="35661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Records changes</a:t>
            </a:r>
            <a:endParaRPr lang="en-US" sz="1152" dirty="0"/>
          </a:p>
          <a:p>
            <a:pPr algn="ctr" indent="0" marL="0">
              <a:lnSpc>
                <a:spcPct val="120000"/>
              </a:lnSpc>
              <a:spcBef>
                <a:spcPts val="360"/>
              </a:spcBef>
              <a:buNone/>
            </a:pPr>
            <a:r>
              <a:rPr lang="en-US" sz="1296" dirty="0">
                <a:solidFill>
                  <a:srgbClr val="1F3864"/>
                </a:solidFill>
                <a:latin typeface="Microsoft YaHei" pitchFamily="34" charset="0"/>
                <a:ea typeface="Microsoft YaHei" pitchFamily="34" charset="-122"/>
                <a:cs typeface="Microsoft YaHei" pitchFamily="34" charset="-120"/>
              </a:rPr>
              <a:t>over time</a:t>
            </a:r>
            <a:endParaRPr lang="en-US" sz="1152" dirty="0"/>
          </a:p>
        </p:txBody>
      </p:sp>
      <p:sp>
        <p:nvSpPr>
          <p:cNvPr id="11" name="Text 8"/>
          <p:cNvSpPr/>
          <p:nvPr/>
        </p:nvSpPr>
        <p:spPr>
          <a:xfrm>
            <a:off x="4846320" y="1984248"/>
            <a:ext cx="35661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See what, when,</a:t>
            </a:r>
            <a:endParaRPr lang="en-US" sz="1152" dirty="0"/>
          </a:p>
          <a:p>
            <a:pPr algn="ctr" indent="0" marL="0">
              <a:lnSpc>
                <a:spcPct val="120000"/>
              </a:lnSpc>
              <a:spcBef>
                <a:spcPts val="360"/>
              </a:spcBef>
              <a:buNone/>
            </a:pPr>
            <a:r>
              <a:rPr lang="en-US" sz="1296" dirty="0">
                <a:solidFill>
                  <a:srgbClr val="1F3864"/>
                </a:solidFill>
                <a:latin typeface="Microsoft YaHei" pitchFamily="34" charset="0"/>
                <a:ea typeface="Microsoft YaHei" pitchFamily="34" charset="-122"/>
                <a:cs typeface="Microsoft YaHei" pitchFamily="34" charset="-120"/>
              </a:rPr>
              <a:t>and who changed</a:t>
            </a:r>
            <a:endParaRPr lang="en-US" sz="1152" dirty="0"/>
          </a:p>
        </p:txBody>
      </p:sp>
      <p:sp>
        <p:nvSpPr>
          <p:cNvPr id="12" name="Text 9"/>
          <p:cNvSpPr/>
          <p:nvPr/>
        </p:nvSpPr>
        <p:spPr>
          <a:xfrm>
            <a:off x="731520" y="2990088"/>
            <a:ext cx="35661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Go back to earlier</a:t>
            </a:r>
            <a:endParaRPr lang="en-US" sz="1152" dirty="0"/>
          </a:p>
          <a:p>
            <a:pPr algn="ctr" indent="0" marL="0">
              <a:lnSpc>
                <a:spcPct val="120000"/>
              </a:lnSpc>
              <a:spcBef>
                <a:spcPts val="360"/>
              </a:spcBef>
              <a:buNone/>
            </a:pPr>
            <a:r>
              <a:rPr lang="en-US" sz="1296" dirty="0">
                <a:solidFill>
                  <a:srgbClr val="1F3864"/>
                </a:solidFill>
                <a:latin typeface="Microsoft YaHei" pitchFamily="34" charset="0"/>
                <a:ea typeface="Microsoft YaHei" pitchFamily="34" charset="-122"/>
                <a:cs typeface="Microsoft YaHei" pitchFamily="34" charset="-120"/>
              </a:rPr>
              <a:t>versions safely</a:t>
            </a:r>
            <a:endParaRPr lang="en-US" sz="1152" dirty="0"/>
          </a:p>
        </p:txBody>
      </p:sp>
      <p:sp>
        <p:nvSpPr>
          <p:cNvPr id="13" name="Text 10"/>
          <p:cNvSpPr/>
          <p:nvPr/>
        </p:nvSpPr>
        <p:spPr>
          <a:xfrm>
            <a:off x="4846320" y="2990088"/>
            <a:ext cx="35661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Work with other</a:t>
            </a:r>
            <a:endParaRPr lang="en-US" sz="1152" dirty="0"/>
          </a:p>
          <a:p>
            <a:pPr algn="ctr" indent="0" marL="0">
              <a:lnSpc>
                <a:spcPct val="120000"/>
              </a:lnSpc>
              <a:spcBef>
                <a:spcPts val="360"/>
              </a:spcBef>
              <a:buNone/>
            </a:pPr>
            <a:r>
              <a:rPr lang="en-US" sz="1296" dirty="0">
                <a:solidFill>
                  <a:srgbClr val="1F3864"/>
                </a:solidFill>
                <a:latin typeface="Microsoft YaHei" pitchFamily="34" charset="0"/>
                <a:ea typeface="Microsoft YaHei" pitchFamily="34" charset="-122"/>
                <a:cs typeface="Microsoft YaHei" pitchFamily="34" charset="-120"/>
              </a:rPr>
              <a:t>programmers</a:t>
            </a:r>
            <a:endParaRPr lang="en-US" sz="1152" dirty="0"/>
          </a:p>
        </p:txBody>
      </p:sp>
      <p:sp>
        <p:nvSpPr>
          <p:cNvPr id="14" name="Shape 11"/>
          <p:cNvSpPr/>
          <p:nvPr/>
        </p:nvSpPr>
        <p:spPr>
          <a:xfrm>
            <a:off x="640080" y="3977640"/>
            <a:ext cx="1554480" cy="548640"/>
          </a:xfrm>
          <a:custGeom>
            <a:avLst/>
            <a:gdLst/>
            <a:ahLst/>
            <a:cxnLst/>
            <a:rect l="l" t="t" r="r" b="b"/>
            <a:pathLst>
              <a:path w="1554480" h="548640">
                <a:moveTo>
                  <a:pt x="0" y="0"/>
                </a:moveTo>
                <a:lnTo>
                  <a:pt x="1554480" y="0"/>
                </a:lnTo>
                <a:lnTo>
                  <a:pt x="1554480" y="548640"/>
                </a:lnTo>
                <a:lnTo>
                  <a:pt x="0" y="548640"/>
                </a:lnTo>
                <a:close/>
              </a:path>
            </a:pathLst>
          </a:custGeom>
          <a:solidFill>
            <a:srgbClr val="DEEBF7"/>
          </a:solidFill>
          <a:ln/>
        </p:spPr>
      </p:sp>
      <p:sp>
        <p:nvSpPr>
          <p:cNvPr id="15" name="Shape 12"/>
          <p:cNvSpPr/>
          <p:nvPr/>
        </p:nvSpPr>
        <p:spPr>
          <a:xfrm>
            <a:off x="2743200" y="3977640"/>
            <a:ext cx="1554480" cy="548640"/>
          </a:xfrm>
          <a:custGeom>
            <a:avLst/>
            <a:gdLst/>
            <a:ahLst/>
            <a:cxnLst/>
            <a:rect l="l" t="t" r="r" b="b"/>
            <a:pathLst>
              <a:path w="1554480" h="548640">
                <a:moveTo>
                  <a:pt x="0" y="0"/>
                </a:moveTo>
                <a:lnTo>
                  <a:pt x="1554480" y="0"/>
                </a:lnTo>
                <a:lnTo>
                  <a:pt x="1554480" y="548640"/>
                </a:lnTo>
                <a:lnTo>
                  <a:pt x="0" y="548640"/>
                </a:lnTo>
                <a:close/>
              </a:path>
            </a:pathLst>
          </a:custGeom>
          <a:solidFill>
            <a:srgbClr val="DEEBF7"/>
          </a:solidFill>
          <a:ln/>
        </p:spPr>
      </p:sp>
      <p:sp>
        <p:nvSpPr>
          <p:cNvPr id="16" name="Shape 13"/>
          <p:cNvSpPr/>
          <p:nvPr/>
        </p:nvSpPr>
        <p:spPr>
          <a:xfrm>
            <a:off x="4846320" y="3977640"/>
            <a:ext cx="1554480" cy="548640"/>
          </a:xfrm>
          <a:custGeom>
            <a:avLst/>
            <a:gdLst/>
            <a:ahLst/>
            <a:cxnLst/>
            <a:rect l="l" t="t" r="r" b="b"/>
            <a:pathLst>
              <a:path w="1554480" h="548640">
                <a:moveTo>
                  <a:pt x="0" y="0"/>
                </a:moveTo>
                <a:lnTo>
                  <a:pt x="1554480" y="0"/>
                </a:lnTo>
                <a:lnTo>
                  <a:pt x="1554480" y="548640"/>
                </a:lnTo>
                <a:lnTo>
                  <a:pt x="0" y="548640"/>
                </a:lnTo>
                <a:close/>
              </a:path>
            </a:pathLst>
          </a:custGeom>
          <a:solidFill>
            <a:srgbClr val="DEEBF7"/>
          </a:solidFill>
          <a:ln/>
        </p:spPr>
      </p:sp>
      <p:sp>
        <p:nvSpPr>
          <p:cNvPr id="17" name="Shape 14"/>
          <p:cNvSpPr/>
          <p:nvPr/>
        </p:nvSpPr>
        <p:spPr>
          <a:xfrm>
            <a:off x="6949440" y="3977640"/>
            <a:ext cx="1554480" cy="548640"/>
          </a:xfrm>
          <a:custGeom>
            <a:avLst/>
            <a:gdLst/>
            <a:ahLst/>
            <a:cxnLst/>
            <a:rect l="l" t="t" r="r" b="b"/>
            <a:pathLst>
              <a:path w="1554480" h="548640">
                <a:moveTo>
                  <a:pt x="0" y="0"/>
                </a:moveTo>
                <a:lnTo>
                  <a:pt x="1554480" y="0"/>
                </a:lnTo>
                <a:lnTo>
                  <a:pt x="1554480" y="548640"/>
                </a:lnTo>
                <a:lnTo>
                  <a:pt x="0" y="548640"/>
                </a:lnTo>
                <a:close/>
              </a:path>
            </a:pathLst>
          </a:custGeom>
          <a:solidFill>
            <a:srgbClr val="DEEBF7"/>
          </a:solidFill>
          <a:ln/>
        </p:spPr>
      </p:sp>
      <p:sp>
        <p:nvSpPr>
          <p:cNvPr id="18" name="Text 15"/>
          <p:cNvSpPr/>
          <p:nvPr/>
        </p:nvSpPr>
        <p:spPr>
          <a:xfrm>
            <a:off x="731520" y="4059936"/>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3864"/>
                </a:solidFill>
                <a:latin typeface="Microsoft YaHei" pitchFamily="34" charset="0"/>
                <a:ea typeface="Microsoft YaHei" pitchFamily="34" charset="-122"/>
                <a:cs typeface="Microsoft YaHei" pitchFamily="34" charset="-120"/>
              </a:rPr>
              <a:t>Version 1</a:t>
            </a:r>
            <a:endParaRPr lang="en-US" sz="1152" dirty="0"/>
          </a:p>
        </p:txBody>
      </p:sp>
      <p:sp>
        <p:nvSpPr>
          <p:cNvPr id="19" name="Text 16"/>
          <p:cNvSpPr/>
          <p:nvPr/>
        </p:nvSpPr>
        <p:spPr>
          <a:xfrm>
            <a:off x="2834640" y="4059936"/>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3864"/>
                </a:solidFill>
                <a:latin typeface="Microsoft YaHei" pitchFamily="34" charset="0"/>
                <a:ea typeface="Microsoft YaHei" pitchFamily="34" charset="-122"/>
                <a:cs typeface="Microsoft YaHei" pitchFamily="34" charset="-120"/>
              </a:rPr>
              <a:t>Version 2</a:t>
            </a:r>
            <a:endParaRPr lang="en-US" sz="1152" dirty="0"/>
          </a:p>
        </p:txBody>
      </p:sp>
      <p:sp>
        <p:nvSpPr>
          <p:cNvPr id="20" name="Text 17"/>
          <p:cNvSpPr/>
          <p:nvPr/>
        </p:nvSpPr>
        <p:spPr>
          <a:xfrm>
            <a:off x="4937760" y="4059936"/>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3864"/>
                </a:solidFill>
                <a:latin typeface="Microsoft YaHei" pitchFamily="34" charset="0"/>
                <a:ea typeface="Microsoft YaHei" pitchFamily="34" charset="-122"/>
                <a:cs typeface="Microsoft YaHei" pitchFamily="34" charset="-120"/>
              </a:rPr>
              <a:t>Version 3</a:t>
            </a:r>
            <a:endParaRPr lang="en-US" sz="1152" dirty="0"/>
          </a:p>
        </p:txBody>
      </p:sp>
      <p:sp>
        <p:nvSpPr>
          <p:cNvPr id="21" name="Text 18"/>
          <p:cNvSpPr/>
          <p:nvPr/>
        </p:nvSpPr>
        <p:spPr>
          <a:xfrm>
            <a:off x="7040880" y="4059936"/>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3864"/>
                </a:solidFill>
                <a:latin typeface="Microsoft YaHei" pitchFamily="34" charset="0"/>
                <a:ea typeface="Microsoft YaHei" pitchFamily="34" charset="-122"/>
                <a:cs typeface="Microsoft YaHei" pitchFamily="34" charset="-120"/>
              </a:rPr>
              <a:t>Version 4</a:t>
            </a:r>
            <a:endParaRPr lang="en-US" sz="1152" dirty="0"/>
          </a:p>
        </p:txBody>
      </p:sp>
      <p:sp>
        <p:nvSpPr>
          <p:cNvPr id="22" name="Shape 19"/>
          <p:cNvSpPr/>
          <p:nvPr/>
        </p:nvSpPr>
        <p:spPr>
          <a:xfrm>
            <a:off x="2240280" y="4251960"/>
            <a:ext cx="457200" cy="0"/>
          </a:xfrm>
          <a:custGeom>
            <a:avLst/>
            <a:gdLst/>
            <a:ahLst/>
            <a:cxnLst/>
            <a:rect l="l" t="t" r="r" b="b"/>
            <a:pathLst>
              <a:path w="457200" h="0">
                <a:moveTo>
                  <a:pt x="0" y="0"/>
                </a:moveTo>
                <a:lnTo>
                  <a:pt x="457200" y="0"/>
                </a:lnTo>
              </a:path>
            </a:pathLst>
          </a:custGeom>
          <a:noFill/>
          <a:ln w="27432">
            <a:solidFill>
              <a:srgbClr val="5B9BD5"/>
            </a:solidFill>
            <a:prstDash val="solid"/>
            <a:headEnd type="none"/>
            <a:tailEnd type="arrow"/>
          </a:ln>
        </p:spPr>
      </p:sp>
      <p:sp>
        <p:nvSpPr>
          <p:cNvPr id="23" name="Shape 20"/>
          <p:cNvSpPr/>
          <p:nvPr/>
        </p:nvSpPr>
        <p:spPr>
          <a:xfrm>
            <a:off x="4343400" y="4251960"/>
            <a:ext cx="457200" cy="0"/>
          </a:xfrm>
          <a:custGeom>
            <a:avLst/>
            <a:gdLst/>
            <a:ahLst/>
            <a:cxnLst/>
            <a:rect l="l" t="t" r="r" b="b"/>
            <a:pathLst>
              <a:path w="457200" h="0">
                <a:moveTo>
                  <a:pt x="0" y="0"/>
                </a:moveTo>
                <a:lnTo>
                  <a:pt x="457200" y="0"/>
                </a:lnTo>
              </a:path>
            </a:pathLst>
          </a:custGeom>
          <a:noFill/>
          <a:ln w="27432">
            <a:solidFill>
              <a:srgbClr val="5B9BD5"/>
            </a:solidFill>
            <a:prstDash val="solid"/>
            <a:headEnd type="none"/>
            <a:tailEnd type="arrow"/>
          </a:ln>
        </p:spPr>
      </p:sp>
      <p:sp>
        <p:nvSpPr>
          <p:cNvPr id="24" name="Shape 21"/>
          <p:cNvSpPr/>
          <p:nvPr/>
        </p:nvSpPr>
        <p:spPr>
          <a:xfrm>
            <a:off x="6446520" y="4251960"/>
            <a:ext cx="457200" cy="0"/>
          </a:xfrm>
          <a:custGeom>
            <a:avLst/>
            <a:gdLst/>
            <a:ahLst/>
            <a:cxnLst/>
            <a:rect l="l" t="t" r="r" b="b"/>
            <a:pathLst>
              <a:path w="457200" h="0">
                <a:moveTo>
                  <a:pt x="0" y="0"/>
                </a:moveTo>
                <a:lnTo>
                  <a:pt x="457200" y="0"/>
                </a:lnTo>
              </a:path>
            </a:pathLst>
          </a:custGeom>
          <a:noFill/>
          <a:ln w="27432">
            <a:solidFill>
              <a:srgbClr val="5B9BD5"/>
            </a:solidFill>
            <a:prstDash val="solid"/>
            <a:headEnd type="none"/>
            <a:tailEnd type="arrow"/>
          </a:ln>
        </p:spPr>
      </p:sp>
      <p:sp>
        <p:nvSpPr>
          <p:cNvPr id="25" name="Shape 22"/>
          <p:cNvSpPr/>
          <p:nvPr/>
        </p:nvSpPr>
        <p:spPr>
          <a:xfrm>
            <a:off x="1417320" y="4526280"/>
            <a:ext cx="6309360" cy="0"/>
          </a:xfrm>
          <a:custGeom>
            <a:avLst/>
            <a:gdLst/>
            <a:ahLst/>
            <a:cxnLst/>
            <a:rect l="l" t="t" r="r" b="b"/>
            <a:pathLst>
              <a:path w="6309360" h="0">
                <a:moveTo>
                  <a:pt x="6309360" y="0"/>
                </a:moveTo>
                <a:cubicBezTo>
                  <a:pt x="4754880" y="182880"/>
                  <a:pt x="1554480" y="182880"/>
                  <a:pt x="0" y="0"/>
                </a:cubicBezTo>
              </a:path>
            </a:pathLst>
          </a:custGeom>
          <a:noFill/>
          <a:ln w="27432">
            <a:solidFill>
              <a:srgbClr val="ED7D31"/>
            </a:solidFill>
            <a:prstDash val="solid"/>
            <a:headEnd type="none"/>
            <a:tailEnd type="arrow"/>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What Is Git?</a:t>
            </a:r>
            <a:endParaRPr lang="en-US" sz="1152" dirty="0"/>
          </a:p>
        </p:txBody>
      </p:sp>
      <p:sp>
        <p:nvSpPr>
          <p:cNvPr id="4" name="Shape 1"/>
          <p:cNvSpPr/>
          <p:nvPr/>
        </p:nvSpPr>
        <p:spPr>
          <a:xfrm>
            <a:off x="640080" y="1225296"/>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554480"/>
            <a:ext cx="41148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Git = version control</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Runs on your computer</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Tracks file changes</a:t>
            </a:r>
            <a:endParaRPr lang="en-US" sz="1152" dirty="0"/>
          </a:p>
        </p:txBody>
      </p:sp>
      <p:sp>
        <p:nvSpPr>
          <p:cNvPr id="6" name="Shape 3"/>
          <p:cNvSpPr/>
          <p:nvPr/>
        </p:nvSpPr>
        <p:spPr>
          <a:xfrm>
            <a:off x="4846320" y="1554480"/>
            <a:ext cx="3749040" cy="1097280"/>
          </a:xfrm>
          <a:custGeom>
            <a:avLst/>
            <a:gdLst/>
            <a:ahLst/>
            <a:cxnLst/>
            <a:rect l="l" t="t" r="r" b="b"/>
            <a:pathLst>
              <a:path w="3749040" h="1097280">
                <a:moveTo>
                  <a:pt x="0" y="0"/>
                </a:moveTo>
                <a:lnTo>
                  <a:pt x="3749040" y="0"/>
                </a:lnTo>
                <a:lnTo>
                  <a:pt x="3749040" y="1097280"/>
                </a:lnTo>
                <a:lnTo>
                  <a:pt x="0" y="1097280"/>
                </a:lnTo>
                <a:close/>
              </a:path>
            </a:pathLst>
          </a:custGeom>
          <a:solidFill>
            <a:srgbClr val="FEE2E2"/>
          </a:solidFill>
          <a:ln/>
        </p:spPr>
      </p:sp>
      <p:sp>
        <p:nvSpPr>
          <p:cNvPr id="7" name="Text 4"/>
          <p:cNvSpPr/>
          <p:nvPr/>
        </p:nvSpPr>
        <p:spPr>
          <a:xfrm>
            <a:off x="5029200" y="1810512"/>
            <a:ext cx="33832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016" b="1" dirty="0">
                <a:solidFill>
                  <a:srgbClr val="B91C1C"/>
                </a:solidFill>
                <a:latin typeface="Microsoft YaHei" pitchFamily="34" charset="0"/>
                <a:ea typeface="Microsoft YaHei" pitchFamily="34" charset="-122"/>
                <a:cs typeface="Microsoft YaHei" pitchFamily="34" charset="-120"/>
              </a:rPr>
              <a:t>Git ≠ GitHub</a:t>
            </a:r>
            <a:endParaRPr lang="en-US" sz="1152" dirty="0"/>
          </a:p>
        </p:txBody>
      </p:sp>
      <p:sp>
        <p:nvSpPr>
          <p:cNvPr id="8" name="Text 5"/>
          <p:cNvSpPr/>
          <p:nvPr/>
        </p:nvSpPr>
        <p:spPr>
          <a:xfrm>
            <a:off x="548640" y="2743200"/>
            <a:ext cx="27432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475569"/>
                </a:solidFill>
                <a:latin typeface="Microsoft YaHei" pitchFamily="34" charset="0"/>
                <a:ea typeface="Microsoft YaHei" pitchFamily="34" charset="-122"/>
                <a:cs typeface="Microsoft YaHei" pitchFamily="34" charset="-120"/>
              </a:rPr>
              <a:t>How Git Works</a:t>
            </a:r>
            <a:endParaRPr lang="en-US" sz="1152" dirty="0"/>
          </a:p>
        </p:txBody>
      </p:sp>
      <p:sp>
        <p:nvSpPr>
          <p:cNvPr id="9" name="Shape 6"/>
          <p:cNvSpPr/>
          <p:nvPr/>
        </p:nvSpPr>
        <p:spPr>
          <a:xfrm>
            <a:off x="548640" y="3291840"/>
            <a:ext cx="1600200" cy="822960"/>
          </a:xfrm>
          <a:custGeom>
            <a:avLst/>
            <a:gdLst/>
            <a:ahLst/>
            <a:cxnLst/>
            <a:rect l="l" t="t" r="r" b="b"/>
            <a:pathLst>
              <a:path w="1600200" h="822960">
                <a:moveTo>
                  <a:pt x="0" y="0"/>
                </a:moveTo>
                <a:lnTo>
                  <a:pt x="1600200" y="0"/>
                </a:lnTo>
                <a:lnTo>
                  <a:pt x="1600200" y="822960"/>
                </a:lnTo>
                <a:lnTo>
                  <a:pt x="0" y="822960"/>
                </a:lnTo>
                <a:close/>
              </a:path>
            </a:pathLst>
          </a:custGeom>
          <a:solidFill>
            <a:srgbClr val="E0F2FE"/>
          </a:solidFill>
          <a:ln/>
        </p:spPr>
      </p:sp>
      <p:sp>
        <p:nvSpPr>
          <p:cNvPr id="10" name="Shape 7"/>
          <p:cNvSpPr/>
          <p:nvPr/>
        </p:nvSpPr>
        <p:spPr>
          <a:xfrm>
            <a:off x="2697480" y="3291840"/>
            <a:ext cx="1600200" cy="822960"/>
          </a:xfrm>
          <a:custGeom>
            <a:avLst/>
            <a:gdLst/>
            <a:ahLst/>
            <a:cxnLst/>
            <a:rect l="l" t="t" r="r" b="b"/>
            <a:pathLst>
              <a:path w="1600200" h="822960">
                <a:moveTo>
                  <a:pt x="0" y="0"/>
                </a:moveTo>
                <a:lnTo>
                  <a:pt x="1600200" y="0"/>
                </a:lnTo>
                <a:lnTo>
                  <a:pt x="1600200" y="822960"/>
                </a:lnTo>
                <a:lnTo>
                  <a:pt x="0" y="822960"/>
                </a:lnTo>
                <a:close/>
              </a:path>
            </a:pathLst>
          </a:custGeom>
          <a:solidFill>
            <a:srgbClr val="E0F2FE"/>
          </a:solidFill>
          <a:ln/>
        </p:spPr>
      </p:sp>
      <p:sp>
        <p:nvSpPr>
          <p:cNvPr id="11" name="Shape 8"/>
          <p:cNvSpPr/>
          <p:nvPr/>
        </p:nvSpPr>
        <p:spPr>
          <a:xfrm>
            <a:off x="4846320" y="3291840"/>
            <a:ext cx="1600200" cy="822960"/>
          </a:xfrm>
          <a:custGeom>
            <a:avLst/>
            <a:gdLst/>
            <a:ahLst/>
            <a:cxnLst/>
            <a:rect l="l" t="t" r="r" b="b"/>
            <a:pathLst>
              <a:path w="1600200" h="822960">
                <a:moveTo>
                  <a:pt x="0" y="0"/>
                </a:moveTo>
                <a:lnTo>
                  <a:pt x="1600200" y="0"/>
                </a:lnTo>
                <a:lnTo>
                  <a:pt x="1600200" y="822960"/>
                </a:lnTo>
                <a:lnTo>
                  <a:pt x="0" y="822960"/>
                </a:lnTo>
                <a:close/>
              </a:path>
            </a:pathLst>
          </a:custGeom>
          <a:solidFill>
            <a:srgbClr val="E0F2FE"/>
          </a:solidFill>
          <a:ln/>
        </p:spPr>
      </p:sp>
      <p:sp>
        <p:nvSpPr>
          <p:cNvPr id="12" name="Shape 9"/>
          <p:cNvSpPr/>
          <p:nvPr/>
        </p:nvSpPr>
        <p:spPr>
          <a:xfrm>
            <a:off x="6995160" y="3291840"/>
            <a:ext cx="1600200" cy="822960"/>
          </a:xfrm>
          <a:custGeom>
            <a:avLst/>
            <a:gdLst/>
            <a:ahLst/>
            <a:cxnLst/>
            <a:rect l="l" t="t" r="r" b="b"/>
            <a:pathLst>
              <a:path w="1600200" h="822960">
                <a:moveTo>
                  <a:pt x="0" y="0"/>
                </a:moveTo>
                <a:lnTo>
                  <a:pt x="1600200" y="0"/>
                </a:lnTo>
                <a:lnTo>
                  <a:pt x="1600200" y="822960"/>
                </a:lnTo>
                <a:lnTo>
                  <a:pt x="0" y="822960"/>
                </a:lnTo>
                <a:close/>
              </a:path>
            </a:pathLst>
          </a:custGeom>
          <a:solidFill>
            <a:srgbClr val="E0F2FE"/>
          </a:solidFill>
          <a:ln/>
        </p:spPr>
      </p:sp>
      <p:sp>
        <p:nvSpPr>
          <p:cNvPr id="13" name="Text 10"/>
          <p:cNvSpPr/>
          <p:nvPr/>
        </p:nvSpPr>
        <p:spPr>
          <a:xfrm>
            <a:off x="731520" y="3410712"/>
            <a:ext cx="12344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0F172A"/>
                </a:solidFill>
                <a:latin typeface="Microsoft YaHei" pitchFamily="34" charset="0"/>
                <a:ea typeface="Microsoft YaHei" pitchFamily="34" charset="-122"/>
                <a:cs typeface="Microsoft YaHei" pitchFamily="34" charset="-120"/>
              </a:rPr>
              <a:t>Computer</a:t>
            </a:r>
            <a:endParaRPr lang="en-US" sz="1152" dirty="0"/>
          </a:p>
        </p:txBody>
      </p:sp>
      <p:sp>
        <p:nvSpPr>
          <p:cNvPr id="14" name="Text 11"/>
          <p:cNvSpPr/>
          <p:nvPr/>
        </p:nvSpPr>
        <p:spPr>
          <a:xfrm>
            <a:off x="2880360" y="3410712"/>
            <a:ext cx="12344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0F172A"/>
                </a:solidFill>
                <a:latin typeface="Microsoft YaHei" pitchFamily="34" charset="0"/>
                <a:ea typeface="Microsoft YaHei" pitchFamily="34" charset="-122"/>
                <a:cs typeface="Microsoft YaHei" pitchFamily="34" charset="-120"/>
              </a:rPr>
              <a:t>Project Folder</a:t>
            </a:r>
            <a:endParaRPr lang="en-US" sz="1152" dirty="0"/>
          </a:p>
        </p:txBody>
      </p:sp>
      <p:sp>
        <p:nvSpPr>
          <p:cNvPr id="15" name="Text 12"/>
          <p:cNvSpPr/>
          <p:nvPr/>
        </p:nvSpPr>
        <p:spPr>
          <a:xfrm>
            <a:off x="5029200" y="3410712"/>
            <a:ext cx="12344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0F172A"/>
                </a:solidFill>
                <a:latin typeface="Microsoft YaHei" pitchFamily="34" charset="0"/>
                <a:ea typeface="Microsoft YaHei" pitchFamily="34" charset="-122"/>
                <a:cs typeface="Microsoft YaHei" pitchFamily="34" charset="-120"/>
              </a:rPr>
              <a:t>Git Repository</a:t>
            </a:r>
            <a:endParaRPr lang="en-US" sz="1152" dirty="0"/>
          </a:p>
        </p:txBody>
      </p:sp>
      <p:sp>
        <p:nvSpPr>
          <p:cNvPr id="16" name="Text 13"/>
          <p:cNvSpPr/>
          <p:nvPr/>
        </p:nvSpPr>
        <p:spPr>
          <a:xfrm>
            <a:off x="7178040" y="3410712"/>
            <a:ext cx="12344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0F172A"/>
                </a:solidFill>
                <a:latin typeface="Microsoft YaHei" pitchFamily="34" charset="0"/>
                <a:ea typeface="Microsoft YaHei" pitchFamily="34" charset="-122"/>
                <a:cs typeface="Microsoft YaHei" pitchFamily="34" charset="-120"/>
              </a:rPr>
              <a:t>Commit History</a:t>
            </a:r>
            <a:endParaRPr lang="en-US" sz="1152" dirty="0"/>
          </a:p>
        </p:txBody>
      </p:sp>
      <p:sp>
        <p:nvSpPr>
          <p:cNvPr id="17" name="Shape 14"/>
          <p:cNvSpPr/>
          <p:nvPr/>
        </p:nvSpPr>
        <p:spPr>
          <a:xfrm>
            <a:off x="2148840" y="3703320"/>
            <a:ext cx="457200" cy="0"/>
          </a:xfrm>
          <a:custGeom>
            <a:avLst/>
            <a:gdLst/>
            <a:ahLst/>
            <a:cxnLst/>
            <a:rect l="l" t="t" r="r" b="b"/>
            <a:pathLst>
              <a:path w="457200" h="0">
                <a:moveTo>
                  <a:pt x="45720" y="0"/>
                </a:moveTo>
                <a:lnTo>
                  <a:pt x="457200" y="0"/>
                </a:lnTo>
              </a:path>
            </a:pathLst>
          </a:custGeom>
          <a:noFill/>
          <a:ln w="27432">
            <a:solidFill>
              <a:srgbClr val="5B9BD5"/>
            </a:solidFill>
            <a:prstDash val="solid"/>
            <a:headEnd type="none"/>
            <a:tailEnd type="arrow"/>
          </a:ln>
        </p:spPr>
      </p:sp>
      <p:sp>
        <p:nvSpPr>
          <p:cNvPr id="18" name="Shape 15"/>
          <p:cNvSpPr/>
          <p:nvPr/>
        </p:nvSpPr>
        <p:spPr>
          <a:xfrm>
            <a:off x="4297680" y="3703320"/>
            <a:ext cx="457200" cy="0"/>
          </a:xfrm>
          <a:custGeom>
            <a:avLst/>
            <a:gdLst/>
            <a:ahLst/>
            <a:cxnLst/>
            <a:rect l="l" t="t" r="r" b="b"/>
            <a:pathLst>
              <a:path w="457200" h="0">
                <a:moveTo>
                  <a:pt x="45720" y="0"/>
                </a:moveTo>
                <a:lnTo>
                  <a:pt x="457200" y="0"/>
                </a:lnTo>
              </a:path>
            </a:pathLst>
          </a:custGeom>
          <a:noFill/>
          <a:ln w="27432">
            <a:solidFill>
              <a:srgbClr val="5B9BD5"/>
            </a:solidFill>
            <a:prstDash val="solid"/>
            <a:headEnd type="none"/>
            <a:tailEnd type="arrow"/>
          </a:ln>
        </p:spPr>
      </p:sp>
      <p:sp>
        <p:nvSpPr>
          <p:cNvPr id="19" name="Shape 16"/>
          <p:cNvSpPr/>
          <p:nvPr/>
        </p:nvSpPr>
        <p:spPr>
          <a:xfrm>
            <a:off x="6446520" y="3703320"/>
            <a:ext cx="457200" cy="0"/>
          </a:xfrm>
          <a:custGeom>
            <a:avLst/>
            <a:gdLst/>
            <a:ahLst/>
            <a:cxnLst/>
            <a:rect l="l" t="t" r="r" b="b"/>
            <a:pathLst>
              <a:path w="457200" h="0">
                <a:moveTo>
                  <a:pt x="45720" y="0"/>
                </a:moveTo>
                <a:lnTo>
                  <a:pt x="457200" y="0"/>
                </a:lnTo>
              </a:path>
            </a:pathLst>
          </a:custGeom>
          <a:noFill/>
          <a:ln w="27432">
            <a:solidFill>
              <a:srgbClr val="5B9BD5"/>
            </a:solidFill>
            <a:prstDash val="solid"/>
            <a:headEnd type="none"/>
            <a:tailEnd type="arrow"/>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6576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3864"/>
                </a:solidFill>
                <a:latin typeface="Microsoft YaHei" pitchFamily="34" charset="0"/>
                <a:ea typeface="Microsoft YaHei" pitchFamily="34" charset="-122"/>
                <a:cs typeface="Microsoft YaHei" pitchFamily="34" charset="-120"/>
              </a:rPr>
              <a:t>What Is GitHub?</a:t>
            </a:r>
            <a:endParaRPr lang="en-US" sz="1152" dirty="0"/>
          </a:p>
        </p:txBody>
      </p:sp>
      <p:sp>
        <p:nvSpPr>
          <p:cNvPr id="4" name="Shape 1"/>
          <p:cNvSpPr/>
          <p:nvPr/>
        </p:nvSpPr>
        <p:spPr>
          <a:xfrm>
            <a:off x="548640" y="1078992"/>
            <a:ext cx="1280160" cy="36576"/>
          </a:xfrm>
          <a:custGeom>
            <a:avLst/>
            <a:gdLst/>
            <a:ahLst/>
            <a:cxnLst/>
            <a:rect l="l" t="t" r="r" b="b"/>
            <a:pathLst>
              <a:path w="1280160" h="36576">
                <a:moveTo>
                  <a:pt x="0" y="0"/>
                </a:moveTo>
                <a:lnTo>
                  <a:pt x="1280160" y="0"/>
                </a:lnTo>
                <a:lnTo>
                  <a:pt x="1280160" y="36576"/>
                </a:lnTo>
                <a:lnTo>
                  <a:pt x="0" y="36576"/>
                </a:lnTo>
                <a:close/>
              </a:path>
            </a:pathLst>
          </a:custGeom>
          <a:solidFill>
            <a:srgbClr val="5B9BD5"/>
          </a:solidFill>
          <a:ln/>
        </p:spPr>
      </p:sp>
      <p:sp>
        <p:nvSpPr>
          <p:cNvPr id="5" name="Shape 2"/>
          <p:cNvSpPr/>
          <p:nvPr/>
        </p:nvSpPr>
        <p:spPr>
          <a:xfrm>
            <a:off x="548640" y="1225296"/>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EEF4FD"/>
          </a:solidFill>
          <a:ln/>
        </p:spPr>
      </p:sp>
      <p:sp>
        <p:nvSpPr>
          <p:cNvPr id="6" name="Text 3"/>
          <p:cNvSpPr/>
          <p:nvPr/>
        </p:nvSpPr>
        <p:spPr>
          <a:xfrm>
            <a:off x="731520" y="1280160"/>
            <a:ext cx="768096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An online platform for Git repositories</a:t>
            </a:r>
            <a:endParaRPr lang="en-US" sz="1152" dirty="0"/>
          </a:p>
        </p:txBody>
      </p:sp>
      <p:sp>
        <p:nvSpPr>
          <p:cNvPr id="7" name="Shape 4"/>
          <p:cNvSpPr/>
          <p:nvPr/>
        </p:nvSpPr>
        <p:spPr>
          <a:xfrm>
            <a:off x="548640" y="1901952"/>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4F7FB"/>
          </a:solidFill>
          <a:ln/>
        </p:spPr>
      </p:sp>
      <p:sp>
        <p:nvSpPr>
          <p:cNvPr id="8" name="Text 5"/>
          <p:cNvSpPr/>
          <p:nvPr/>
        </p:nvSpPr>
        <p:spPr>
          <a:xfrm>
            <a:off x="731520" y="2112264"/>
            <a:ext cx="21945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5B9BD5"/>
                </a:solidFill>
                <a:latin typeface="Microsoft YaHei" pitchFamily="34" charset="0"/>
                <a:ea typeface="Microsoft YaHei" pitchFamily="34" charset="-122"/>
                <a:cs typeface="Microsoft YaHei" pitchFamily="34" charset="-120"/>
              </a:rPr>
              <a:t>1 ·</a:t>
            </a:r>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 Platform</a:t>
            </a:r>
            <a:endParaRPr lang="en-US" sz="1152" dirty="0"/>
          </a:p>
          <a:p>
            <a:pP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Store Git repositories online</a:t>
            </a:r>
            <a:endParaRPr lang="en-US" sz="1152" dirty="0"/>
          </a:p>
        </p:txBody>
      </p:sp>
      <p:sp>
        <p:nvSpPr>
          <p:cNvPr id="9" name="Shape 6"/>
          <p:cNvSpPr/>
          <p:nvPr/>
        </p:nvSpPr>
        <p:spPr>
          <a:xfrm>
            <a:off x="3337560" y="1901952"/>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4F7FB"/>
          </a:solidFill>
          <a:ln/>
        </p:spPr>
      </p:sp>
      <p:sp>
        <p:nvSpPr>
          <p:cNvPr id="10" name="Text 7"/>
          <p:cNvSpPr/>
          <p:nvPr/>
        </p:nvSpPr>
        <p:spPr>
          <a:xfrm>
            <a:off x="3520440" y="2112264"/>
            <a:ext cx="21945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5B9BD5"/>
                </a:solidFill>
                <a:latin typeface="Microsoft YaHei" pitchFamily="34" charset="0"/>
                <a:ea typeface="Microsoft YaHei" pitchFamily="34" charset="-122"/>
                <a:cs typeface="Microsoft YaHei" pitchFamily="34" charset="-120"/>
              </a:rPr>
              <a:t>2 ·</a:t>
            </a:r>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 Backup</a:t>
            </a:r>
            <a:endParaRPr lang="en-US" sz="1152" dirty="0"/>
          </a:p>
          <a:p>
            <a:pP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Keep your code safe online</a:t>
            </a:r>
            <a:endParaRPr lang="en-US" sz="1152" dirty="0"/>
          </a:p>
        </p:txBody>
      </p:sp>
      <p:sp>
        <p:nvSpPr>
          <p:cNvPr id="11" name="Shape 8"/>
          <p:cNvSpPr/>
          <p:nvPr/>
        </p:nvSpPr>
        <p:spPr>
          <a:xfrm>
            <a:off x="6126480" y="1901952"/>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4F7FB"/>
          </a:solidFill>
          <a:ln/>
        </p:spPr>
      </p:sp>
      <p:sp>
        <p:nvSpPr>
          <p:cNvPr id="12" name="Text 9"/>
          <p:cNvSpPr/>
          <p:nvPr/>
        </p:nvSpPr>
        <p:spPr>
          <a:xfrm>
            <a:off x="6309360" y="2112264"/>
            <a:ext cx="21945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5B9BD5"/>
                </a:solidFill>
                <a:latin typeface="Microsoft YaHei" pitchFamily="34" charset="0"/>
                <a:ea typeface="Microsoft YaHei" pitchFamily="34" charset="-122"/>
                <a:cs typeface="Microsoft YaHei" pitchFamily="34" charset="-120"/>
              </a:rPr>
              <a:t>3 ·</a:t>
            </a:r>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 Teamwork</a:t>
            </a:r>
            <a:endParaRPr lang="en-US" sz="1152" dirty="0"/>
          </a:p>
          <a:p>
            <a:pP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Collaborate and share projects</a:t>
            </a:r>
            <a:endParaRPr lang="en-US" sz="1152" dirty="0"/>
          </a:p>
        </p:txBody>
      </p:sp>
      <p:sp>
        <p:nvSpPr>
          <p:cNvPr id="13" name="Shape 10"/>
          <p:cNvSpPr/>
          <p:nvPr/>
        </p:nvSpPr>
        <p:spPr>
          <a:xfrm>
            <a:off x="1920240" y="3346704"/>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4F7FB"/>
          </a:solidFill>
          <a:ln/>
        </p:spPr>
      </p:sp>
      <p:sp>
        <p:nvSpPr>
          <p:cNvPr id="14" name="Text 11"/>
          <p:cNvSpPr/>
          <p:nvPr/>
        </p:nvSpPr>
        <p:spPr>
          <a:xfrm>
            <a:off x="2103120" y="3557016"/>
            <a:ext cx="21945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5B9BD5"/>
                </a:solidFill>
                <a:latin typeface="Microsoft YaHei" pitchFamily="34" charset="0"/>
                <a:ea typeface="Microsoft YaHei" pitchFamily="34" charset="-122"/>
                <a:cs typeface="Microsoft YaHei" pitchFamily="34" charset="-120"/>
              </a:rPr>
              <a:t>4 ·</a:t>
            </a:r>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 Tracking</a:t>
            </a:r>
            <a:endParaRPr lang="en-US" sz="1152" dirty="0"/>
          </a:p>
          <a:p>
            <a:pP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Track issues and pull requests</a:t>
            </a:r>
            <a:endParaRPr lang="en-US" sz="1152" dirty="0"/>
          </a:p>
        </p:txBody>
      </p:sp>
      <p:sp>
        <p:nvSpPr>
          <p:cNvPr id="15" name="Shape 12"/>
          <p:cNvSpPr/>
          <p:nvPr/>
        </p:nvSpPr>
        <p:spPr>
          <a:xfrm>
            <a:off x="4663440" y="3346704"/>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4F7FB"/>
          </a:solidFill>
          <a:ln/>
        </p:spPr>
      </p:sp>
      <p:sp>
        <p:nvSpPr>
          <p:cNvPr id="16" name="Text 13"/>
          <p:cNvSpPr/>
          <p:nvPr/>
        </p:nvSpPr>
        <p:spPr>
          <a:xfrm>
            <a:off x="4846320" y="3557016"/>
            <a:ext cx="21945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5B9BD5"/>
                </a:solidFill>
                <a:latin typeface="Microsoft YaHei" pitchFamily="34" charset="0"/>
                <a:ea typeface="Microsoft YaHei" pitchFamily="34" charset="-122"/>
                <a:cs typeface="Microsoft YaHei" pitchFamily="34" charset="-120"/>
              </a:rPr>
              <a:t>5 ·</a:t>
            </a:r>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 Portfolio</a:t>
            </a:r>
            <a:endParaRPr lang="en-US" sz="1152" dirty="0"/>
          </a:p>
          <a:p>
            <a:pP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Show your work from anywhere</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75488"/>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Git vs GitHub</a:t>
            </a:r>
            <a:endParaRPr lang="en-US" sz="1152" dirty="0"/>
          </a:p>
        </p:txBody>
      </p:sp>
      <p:sp>
        <p:nvSpPr>
          <p:cNvPr id="4" name="Shape 1"/>
          <p:cNvSpPr/>
          <p:nvPr/>
        </p:nvSpPr>
        <p:spPr>
          <a:xfrm>
            <a:off x="640080" y="1243584"/>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08176"/>
          <a:ext cx="8046720" cy="1645920"/>
        </p:xfrm>
        <a:graphic>
          <a:graphicData uri="http://schemas.openxmlformats.org/drawingml/2006/table">
            <a:tbl>
              <a:tblPr/>
              <a:tblGrid>
                <a:gridCol w="1609344"/>
                <a:gridCol w="3218688"/>
                <a:gridCol w="3218688"/>
              </a:tblGrid>
              <a:tr h="329184">
                <a:tc>
                  <a:txBody>
                    <a:bodyPr/>
                    <a:lstStyle/>
                    <a:p>
                      <a:pPr algn="ctr" indent="0" marL="0">
                        <a:buNone/>
                      </a:pPr>
                      <a:r>
                        <a:rPr lang="en-US" sz="1152" b="1" u="none" dirty="0">
                          <a:solidFill>
                            <a:srgbClr val="000000"/>
                          </a:solidFill>
                          <a:latin typeface="Microsoft YaHei" pitchFamily="34" charset="0"/>
                          <a:ea typeface="Microsoft YaHei" pitchFamily="34" charset="-122"/>
                          <a:cs typeface="Microsoft YaHei" pitchFamily="34" charset="-120"/>
                        </a:rPr>
                        <a:t>Feature</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EEF4FB"/>
                    </a:solidFill>
                  </a:tcPr>
                </a:tc>
                <a:tc>
                  <a:txBody>
                    <a:bodyPr/>
                    <a:lstStyle/>
                    <a:p>
                      <a:pPr algn="ctr" indent="0" marL="0">
                        <a:buNone/>
                      </a:pPr>
                      <a:r>
                        <a:rPr lang="en-US" sz="1152" b="1" u="none" dirty="0">
                          <a:solidFill>
                            <a:srgbClr val="000000"/>
                          </a:solidFill>
                          <a:latin typeface="Microsoft YaHei" pitchFamily="34" charset="0"/>
                          <a:ea typeface="Microsoft YaHei" pitchFamily="34" charset="-122"/>
                          <a:cs typeface="Microsoft YaHei" pitchFamily="34" charset="-120"/>
                        </a:rPr>
                        <a:t>Git</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E8F0FE"/>
                    </a:solidFill>
                  </a:tcPr>
                </a:tc>
                <a:tc>
                  <a:txBody>
                    <a:bodyPr/>
                    <a:lstStyle/>
                    <a:p>
                      <a:pPr algn="ctr" indent="0" marL="0">
                        <a:buNone/>
                      </a:pPr>
                      <a:r>
                        <a:rPr lang="en-US" sz="1152" b="1" u="none" dirty="0">
                          <a:solidFill>
                            <a:srgbClr val="000000"/>
                          </a:solidFill>
                          <a:latin typeface="Microsoft YaHei" pitchFamily="34" charset="0"/>
                          <a:ea typeface="Microsoft YaHei" pitchFamily="34" charset="-122"/>
                          <a:cs typeface="Microsoft YaHei" pitchFamily="34" charset="-120"/>
                        </a:rPr>
                        <a:t>GitHub</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EF3C7"/>
                    </a:solidFill>
                  </a:tcPr>
                </a:tc>
              </a:tr>
              <a:tr h="329184">
                <a:tc>
                  <a:txBody>
                    <a:bodyPr/>
                    <a:lstStyle/>
                    <a:p>
                      <a:pPr algn="l" indent="0" marL="0">
                        <a:buNone/>
                      </a:pPr>
                      <a:r>
                        <a:rPr lang="en-US" sz="1008" b="1" u="none" dirty="0">
                          <a:solidFill>
                            <a:srgbClr val="000000"/>
                          </a:solidFill>
                          <a:latin typeface="Microsoft YaHei" pitchFamily="34" charset="0"/>
                          <a:ea typeface="Microsoft YaHei" pitchFamily="34" charset="-122"/>
                          <a:cs typeface="Microsoft YaHei" pitchFamily="34" charset="-120"/>
                        </a:rPr>
                        <a:t>Location</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On your computer</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On the web</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r>
              <a:tr h="329184">
                <a:tc>
                  <a:txBody>
                    <a:bodyPr/>
                    <a:lstStyle/>
                    <a:p>
                      <a:pPr algn="l" indent="0" marL="0">
                        <a:buNone/>
                      </a:pPr>
                      <a:r>
                        <a:rPr lang="en-US" sz="1008" b="1" u="none" dirty="0">
                          <a:solidFill>
                            <a:srgbClr val="000000"/>
                          </a:solidFill>
                          <a:latin typeface="Microsoft YaHei" pitchFamily="34" charset="0"/>
                          <a:ea typeface="Microsoft YaHei" pitchFamily="34" charset="-122"/>
                          <a:cs typeface="Microsoft YaHei" pitchFamily="34" charset="-120"/>
                        </a:rPr>
                        <a:t>Function</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Creates commits</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Stores remote repos</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r>
              <a:tr h="329184">
                <a:tc>
                  <a:txBody>
                    <a:bodyPr/>
                    <a:lstStyle/>
                    <a:p>
                      <a:pPr algn="l" indent="0" marL="0">
                        <a:buNone/>
                      </a:pPr>
                      <a:r>
                        <a:rPr lang="en-US" sz="1008" b="1" u="none" dirty="0">
                          <a:solidFill>
                            <a:srgbClr val="000000"/>
                          </a:solidFill>
                          <a:latin typeface="Microsoft YaHei" pitchFamily="34" charset="0"/>
                          <a:ea typeface="Microsoft YaHei" pitchFamily="34" charset="-122"/>
                          <a:cs typeface="Microsoft YaHei" pitchFamily="34" charset="-120"/>
                        </a:rPr>
                        <a:t>Dependency</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Works without GitHub</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Needs Git</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r>
              <a:tr h="329184">
                <a:tc>
                  <a:txBody>
                    <a:bodyPr/>
                    <a:lstStyle/>
                    <a:p>
                      <a:pPr algn="l" indent="0" marL="0">
                        <a:buNone/>
                      </a:pPr>
                      <a:r>
                        <a:rPr lang="en-US" sz="1008" b="1" u="none" dirty="0">
                          <a:solidFill>
                            <a:srgbClr val="000000"/>
                          </a:solidFill>
                          <a:latin typeface="Microsoft YaHei" pitchFamily="34" charset="0"/>
                          <a:ea typeface="Microsoft YaHei" pitchFamily="34" charset="-122"/>
                          <a:cs typeface="Microsoft YaHei" pitchFamily="34" charset="-120"/>
                        </a:rPr>
                        <a:t>Examples</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VS Code, terminal</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github.com</a:t>
                      </a:r>
                      <a:endParaRPr lang="en-US" sz="1008"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tcPr>
                </a:tc>
              </a:tr>
            </a:tbl>
          </a:graphicData>
        </a:graphic>
      </p:graphicFrame>
      <p:sp>
        <p:nvSpPr>
          <p:cNvPr id="6" name="Shape 2"/>
          <p:cNvSpPr/>
          <p:nvPr/>
        </p:nvSpPr>
        <p:spPr>
          <a:xfrm>
            <a:off x="548640" y="3200400"/>
            <a:ext cx="8046720" cy="804672"/>
          </a:xfrm>
          <a:custGeom>
            <a:avLst/>
            <a:gdLst/>
            <a:ahLst/>
            <a:cxnLst/>
            <a:rect l="l" t="t" r="r" b="b"/>
            <a:pathLst>
              <a:path w="8046720" h="804672">
                <a:moveTo>
                  <a:pt x="0" y="0"/>
                </a:moveTo>
                <a:lnTo>
                  <a:pt x="8046720" y="0"/>
                </a:lnTo>
                <a:lnTo>
                  <a:pt x="8046720" y="804672"/>
                </a:lnTo>
                <a:lnTo>
                  <a:pt x="0" y="804672"/>
                </a:lnTo>
                <a:close/>
              </a:path>
            </a:pathLst>
          </a:custGeom>
          <a:solidFill>
            <a:srgbClr val="FEF3C7"/>
          </a:solidFill>
          <a:ln/>
        </p:spPr>
      </p:sp>
      <p:sp>
        <p:nvSpPr>
          <p:cNvPr id="7" name="Text 3"/>
          <p:cNvSpPr/>
          <p:nvPr/>
        </p:nvSpPr>
        <p:spPr>
          <a:xfrm>
            <a:off x="914400" y="3282696"/>
            <a:ext cx="731520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Analogy:</a:t>
            </a:r>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Git = tracking system</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GitHub = online home for your project</a:t>
            </a:r>
            <a:endParaRPr lang="en-US" sz="1152" dirty="0"/>
          </a:p>
        </p:txBody>
      </p:sp>
      <p:sp>
        <p:nvSpPr>
          <p:cNvPr id="8" name="Text 4"/>
          <p:cNvSpPr/>
          <p:nvPr/>
        </p:nvSpPr>
        <p:spPr>
          <a:xfrm>
            <a:off x="548640" y="4151376"/>
            <a:ext cx="80467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Git works without GitHub</a:t>
            </a:r>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GitHub needs Git.</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2937"/>
                </a:solidFill>
                <a:latin typeface="Microsoft YaHei" pitchFamily="34" charset="0"/>
                <a:ea typeface="Microsoft YaHei" pitchFamily="34" charset="-122"/>
                <a:cs typeface="Microsoft YaHei" pitchFamily="34" charset="-120"/>
              </a:rPr>
              <a:t>What Is a Repository?</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325880"/>
            <a:ext cx="804672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74151"/>
                </a:solidFill>
                <a:latin typeface="Microsoft YaHei" pitchFamily="34" charset="0"/>
                <a:ea typeface="Microsoft YaHei" pitchFamily="34" charset="-122"/>
                <a:cs typeface="Microsoft YaHei" pitchFamily="34" charset="-120"/>
              </a:rPr>
              <a:t>Repository (repo)</a:t>
            </a:r>
            <a:endParaRPr lang="en-US" sz="1152" dirty="0"/>
          </a:p>
          <a:p>
            <a:pPr indent="0" marL="0">
              <a:lnSpc>
                <a:spcPct val="120000"/>
              </a:lnSpc>
              <a:spcBef>
                <a:spcPts val="360"/>
              </a:spcBef>
              <a:buNone/>
            </a:pPr>
            <a:r>
              <a:rPr lang="en-US" sz="1440" dirty="0">
                <a:solidFill>
                  <a:srgbClr val="374151"/>
                </a:solidFill>
                <a:latin typeface="Microsoft YaHei" pitchFamily="34" charset="0"/>
                <a:ea typeface="Microsoft YaHei" pitchFamily="34" charset="-122"/>
                <a:cs typeface="Microsoft YaHei" pitchFamily="34" charset="-120"/>
              </a:rPr>
              <a:t>A project folder that Git tracks</a:t>
            </a:r>
            <a:endParaRPr lang="en-US" sz="1152" dirty="0"/>
          </a:p>
        </p:txBody>
      </p:sp>
      <p:sp>
        <p:nvSpPr>
          <p:cNvPr id="6" name="Shape 3"/>
          <p:cNvSpPr/>
          <p:nvPr/>
        </p:nvSpPr>
        <p:spPr>
          <a:xfrm>
            <a:off x="548640" y="2240280"/>
            <a:ext cx="4023360" cy="2011680"/>
          </a:xfrm>
          <a:custGeom>
            <a:avLst/>
            <a:gdLst/>
            <a:ahLst/>
            <a:cxnLst/>
            <a:rect l="l" t="t" r="r" b="b"/>
            <a:pathLst>
              <a:path w="4023360" h="2011680">
                <a:moveTo>
                  <a:pt x="0" y="0"/>
                </a:moveTo>
                <a:lnTo>
                  <a:pt x="4023360" y="0"/>
                </a:lnTo>
                <a:lnTo>
                  <a:pt x="4023360" y="2011680"/>
                </a:lnTo>
                <a:lnTo>
                  <a:pt x="0" y="2011680"/>
                </a:lnTo>
                <a:close/>
              </a:path>
            </a:pathLst>
          </a:custGeom>
          <a:solidFill>
            <a:srgbClr val="EEF2FF"/>
          </a:solidFill>
          <a:ln/>
        </p:spPr>
      </p:sp>
      <p:sp>
        <p:nvSpPr>
          <p:cNvPr id="7" name="Text 4"/>
          <p:cNvSpPr/>
          <p:nvPr/>
        </p:nvSpPr>
        <p:spPr>
          <a:xfrm>
            <a:off x="731520" y="242316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730A3"/>
                </a:solidFill>
                <a:latin typeface="Microsoft YaHei" pitchFamily="34" charset="0"/>
                <a:ea typeface="Microsoft YaHei" pitchFamily="34" charset="-122"/>
                <a:cs typeface="Microsoft YaHei" pitchFamily="34" charset="-120"/>
              </a:rPr>
              <a:t>What a repo holds</a:t>
            </a:r>
            <a:endParaRPr lang="en-US" sz="1152" dirty="0"/>
          </a:p>
        </p:txBody>
      </p:sp>
      <p:sp>
        <p:nvSpPr>
          <p:cNvPr id="8" name="Text 5"/>
          <p:cNvSpPr/>
          <p:nvPr/>
        </p:nvSpPr>
        <p:spPr>
          <a:xfrm>
            <a:off x="731520" y="3017520"/>
            <a:ext cx="365760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1E293B"/>
                </a:solidFill>
                <a:latin typeface="Microsoft YaHei" pitchFamily="34" charset="0"/>
                <a:ea typeface="Microsoft YaHei" pitchFamily="34" charset="-122"/>
                <a:cs typeface="Microsoft YaHei" pitchFamily="34" charset="-120"/>
              </a:rPr>
              <a:t>• Git tracks history</a:t>
            </a:r>
            <a:endParaRPr lang="en-US" sz="1152" dirty="0"/>
          </a:p>
          <a:p>
            <a:pPr indent="0" marL="0">
              <a:lnSpc>
                <a:spcPct val="120000"/>
              </a:lnSpc>
              <a:spcBef>
                <a:spcPts val="360"/>
              </a:spcBef>
              <a:buNone/>
            </a:pPr>
            <a:r>
              <a:rPr lang="en-US" sz="1152" dirty="0">
                <a:solidFill>
                  <a:srgbClr val="1E293B"/>
                </a:solidFill>
                <a:latin typeface="Microsoft YaHei" pitchFamily="34" charset="0"/>
                <a:ea typeface="Microsoft YaHei" pitchFamily="34" charset="-122"/>
                <a:cs typeface="Microsoft YaHei" pitchFamily="34" charset="-120"/>
              </a:rPr>
              <a:t>• Stores project files</a:t>
            </a:r>
            <a:endParaRPr lang="en-US" sz="1152" dirty="0"/>
          </a:p>
          <a:p>
            <a:pPr indent="0" marL="0">
              <a:lnSpc>
                <a:spcPct val="120000"/>
              </a:lnSpc>
              <a:spcBef>
                <a:spcPts val="360"/>
              </a:spcBef>
              <a:buNone/>
            </a:pPr>
            <a:r>
              <a:rPr lang="en-US" sz="1152" dirty="0">
                <a:solidFill>
                  <a:srgbClr val="1E293B"/>
                </a:solidFill>
                <a:latin typeface="Microsoft YaHei" pitchFamily="34" charset="0"/>
                <a:ea typeface="Microsoft YaHei" pitchFamily="34" charset="-122"/>
                <a:cs typeface="Microsoft YaHei" pitchFamily="34" charset="-120"/>
              </a:rPr>
              <a:t>• Keeps version history</a:t>
            </a:r>
            <a:endParaRPr lang="en-US" sz="1152" dirty="0"/>
          </a:p>
        </p:txBody>
      </p:sp>
      <p:sp>
        <p:nvSpPr>
          <p:cNvPr id="9" name="Shape 6"/>
          <p:cNvSpPr/>
          <p:nvPr/>
        </p:nvSpPr>
        <p:spPr>
          <a:xfrm>
            <a:off x="4754880" y="2240280"/>
            <a:ext cx="3840480" cy="2011680"/>
          </a:xfrm>
          <a:custGeom>
            <a:avLst/>
            <a:gdLst/>
            <a:ahLst/>
            <a:cxnLst/>
            <a:rect l="l" t="t" r="r" b="b"/>
            <a:pathLst>
              <a:path w="3840480" h="2011680">
                <a:moveTo>
                  <a:pt x="0" y="0"/>
                </a:moveTo>
                <a:lnTo>
                  <a:pt x="3840480" y="0"/>
                </a:lnTo>
                <a:lnTo>
                  <a:pt x="3840480" y="2011680"/>
                </a:lnTo>
                <a:lnTo>
                  <a:pt x="0" y="2011680"/>
                </a:lnTo>
                <a:close/>
              </a:path>
            </a:pathLst>
          </a:custGeom>
          <a:solidFill>
            <a:srgbClr val="F0FDF4"/>
          </a:solidFill>
          <a:ln/>
        </p:spPr>
      </p:sp>
      <p:sp>
        <p:nvSpPr>
          <p:cNvPr id="10" name="Text 7"/>
          <p:cNvSpPr/>
          <p:nvPr/>
        </p:nvSpPr>
        <p:spPr>
          <a:xfrm>
            <a:off x="4937760" y="242316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my-program/</a:t>
            </a:r>
            <a:endParaRPr lang="en-US" sz="1152" dirty="0"/>
          </a:p>
        </p:txBody>
      </p:sp>
      <p:sp>
        <p:nvSpPr>
          <p:cNvPr id="11" name="Text 8"/>
          <p:cNvSpPr/>
          <p:nvPr/>
        </p:nvSpPr>
        <p:spPr>
          <a:xfrm>
            <a:off x="4937760" y="2944368"/>
            <a:ext cx="3474720" cy="11612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166534"/>
                </a:solidFill>
                <a:latin typeface="'Courier New', monospace" pitchFamily="34" charset="0"/>
                <a:ea typeface="'Courier New', monospace" pitchFamily="34" charset="-122"/>
                <a:cs typeface="'Courier New', monospace" pitchFamily="34" charset="-120"/>
              </a:rPr>
              <a:t>├── main.c</a:t>
            </a:r>
            <a:endParaRPr lang="en-US" sz="1152" dirty="0"/>
          </a:p>
          <a:p>
            <a:pPr indent="0" marL="0">
              <a:lnSpc>
                <a:spcPct val="120000"/>
              </a:lnSpc>
              <a:spcBef>
                <a:spcPts val="360"/>
              </a:spcBef>
              <a:buNone/>
            </a:pPr>
            <a:r>
              <a:rPr lang="en-US" sz="1008" dirty="0">
                <a:solidFill>
                  <a:srgbClr val="166534"/>
                </a:solidFill>
                <a:latin typeface="'Courier New', monospace" pitchFamily="34" charset="0"/>
                <a:ea typeface="'Courier New', monospace" pitchFamily="34" charset="-122"/>
                <a:cs typeface="'Courier New', monospace" pitchFamily="34" charset="-120"/>
              </a:rPr>
              <a:t>├── calculations.c</a:t>
            </a:r>
            <a:endParaRPr lang="en-US" sz="1152" dirty="0"/>
          </a:p>
          <a:p>
            <a:pPr indent="0" marL="0">
              <a:lnSpc>
                <a:spcPct val="120000"/>
              </a:lnSpc>
              <a:spcBef>
                <a:spcPts val="360"/>
              </a:spcBef>
              <a:buNone/>
            </a:pPr>
            <a:r>
              <a:rPr lang="en-US" sz="1008" dirty="0">
                <a:solidFill>
                  <a:srgbClr val="166534"/>
                </a:solidFill>
                <a:latin typeface="'Courier New', monospace" pitchFamily="34" charset="0"/>
                <a:ea typeface="'Courier New', monospace" pitchFamily="34" charset="-122"/>
                <a:cs typeface="'Courier New', monospace" pitchFamily="34" charset="-120"/>
              </a:rPr>
              <a:t>├── calculations.h</a:t>
            </a:r>
            <a:endParaRPr lang="en-US" sz="1152" dirty="0"/>
          </a:p>
          <a:p>
            <a:pPr indent="0" marL="0">
              <a:lnSpc>
                <a:spcPct val="120000"/>
              </a:lnSpc>
              <a:spcBef>
                <a:spcPts val="360"/>
              </a:spcBef>
              <a:buNone/>
            </a:pPr>
            <a:r>
              <a:rPr lang="en-US" sz="1008" dirty="0">
                <a:solidFill>
                  <a:srgbClr val="166534"/>
                </a:solidFill>
                <a:latin typeface="'Courier New', monospace" pitchFamily="34" charset="0"/>
                <a:ea typeface="'Courier New', monospace" pitchFamily="34" charset="-122"/>
                <a:cs typeface="'Courier New', monospace" pitchFamily="34" charset="-120"/>
              </a:rPr>
              <a:t>├── README.md</a:t>
            </a:r>
            <a:endParaRPr lang="en-US" sz="1152" dirty="0"/>
          </a:p>
          <a:p>
            <a:pPr indent="0" marL="0">
              <a:lnSpc>
                <a:spcPct val="120000"/>
              </a:lnSpc>
              <a:spcBef>
                <a:spcPts val="360"/>
              </a:spcBef>
              <a:buNone/>
            </a:pPr>
            <a:r>
              <a:rPr lang="en-US" sz="1008" dirty="0">
                <a:solidFill>
                  <a:srgbClr val="166534"/>
                </a:solidFill>
                <a:latin typeface="'Courier New', monospace" pitchFamily="34" charset="0"/>
                <a:ea typeface="'Courier New', monospace" pitchFamily="34" charset="-122"/>
                <a:cs typeface="'Courier New', monospace" pitchFamily="34" charset="-120"/>
              </a:rPr>
              <a:t>└── .gitignore</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What Is a Commit?</a:t>
            </a:r>
            <a:endParaRPr lang="en-US" sz="1152" dirty="0"/>
          </a:p>
        </p:txBody>
      </p:sp>
      <p:sp>
        <p:nvSpPr>
          <p:cNvPr id="4" name="Shape 1"/>
          <p:cNvSpPr/>
          <p:nvPr/>
        </p:nvSpPr>
        <p:spPr>
          <a:xfrm>
            <a:off x="640080" y="112471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280160"/>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EEF2FF"/>
          </a:solidFill>
          <a:ln/>
        </p:spPr>
      </p:sp>
      <p:sp>
        <p:nvSpPr>
          <p:cNvPr id="6" name="Text 3"/>
          <p:cNvSpPr/>
          <p:nvPr/>
        </p:nvSpPr>
        <p:spPr>
          <a:xfrm>
            <a:off x="1371600" y="1325880"/>
            <a:ext cx="64008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A commit is a checkpoint / save point</a:t>
            </a:r>
            <a:endParaRPr lang="en-US" sz="1152" dirty="0"/>
          </a:p>
        </p:txBody>
      </p:sp>
      <p:sp>
        <p:nvSpPr>
          <p:cNvPr id="7" name="Shape 4"/>
          <p:cNvSpPr/>
          <p:nvPr/>
        </p:nvSpPr>
        <p:spPr>
          <a:xfrm>
            <a:off x="1005840" y="2103120"/>
            <a:ext cx="0" cy="1591056"/>
          </a:xfrm>
          <a:custGeom>
            <a:avLst/>
            <a:gdLst/>
            <a:ahLst/>
            <a:cxnLst/>
            <a:rect l="l" t="t" r="r" b="b"/>
            <a:pathLst>
              <a:path w="0" h="1591056">
                <a:moveTo>
                  <a:pt x="0" y="0"/>
                </a:moveTo>
                <a:lnTo>
                  <a:pt x="0" y="1591056"/>
                </a:lnTo>
              </a:path>
            </a:pathLst>
          </a:custGeom>
          <a:noFill/>
          <a:ln w="27432">
            <a:solidFill>
              <a:srgbClr val="5B9BD5"/>
            </a:solidFill>
            <a:prstDash val="solid"/>
            <a:headEnd type="none"/>
            <a:tailEnd type="none"/>
          </a:ln>
        </p:spPr>
      </p:sp>
      <p:sp>
        <p:nvSpPr>
          <p:cNvPr id="8" name="Shape 5"/>
          <p:cNvSpPr/>
          <p:nvPr/>
        </p:nvSpPr>
        <p:spPr>
          <a:xfrm>
            <a:off x="914400" y="2011680"/>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5B9BD5"/>
          </a:solidFill>
          <a:ln/>
        </p:spPr>
      </p:sp>
      <p:sp>
        <p:nvSpPr>
          <p:cNvPr id="9" name="Shape 6"/>
          <p:cNvSpPr/>
          <p:nvPr/>
        </p:nvSpPr>
        <p:spPr>
          <a:xfrm>
            <a:off x="914400" y="2542032"/>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5B9BD5"/>
          </a:solidFill>
          <a:ln/>
        </p:spPr>
      </p:sp>
      <p:sp>
        <p:nvSpPr>
          <p:cNvPr id="10" name="Shape 7"/>
          <p:cNvSpPr/>
          <p:nvPr/>
        </p:nvSpPr>
        <p:spPr>
          <a:xfrm>
            <a:off x="914400" y="3072384"/>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5B9BD5"/>
          </a:solidFill>
          <a:ln/>
        </p:spPr>
      </p:sp>
      <p:sp>
        <p:nvSpPr>
          <p:cNvPr id="11" name="Shape 8"/>
          <p:cNvSpPr/>
          <p:nvPr/>
        </p:nvSpPr>
        <p:spPr>
          <a:xfrm>
            <a:off x="914400" y="3602736"/>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5B9BD5"/>
          </a:solidFill>
          <a:ln/>
        </p:spPr>
      </p:sp>
      <p:sp>
        <p:nvSpPr>
          <p:cNvPr id="12" name="Text 9"/>
          <p:cNvSpPr/>
          <p:nvPr/>
        </p:nvSpPr>
        <p:spPr>
          <a:xfrm>
            <a:off x="1234440" y="1892808"/>
            <a:ext cx="73152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Commit 1: Create initial program</a:t>
            </a:r>
            <a:endParaRPr lang="en-US" sz="1152" dirty="0"/>
          </a:p>
        </p:txBody>
      </p:sp>
      <p:sp>
        <p:nvSpPr>
          <p:cNvPr id="13" name="Text 10"/>
          <p:cNvSpPr/>
          <p:nvPr/>
        </p:nvSpPr>
        <p:spPr>
          <a:xfrm>
            <a:off x="1234440" y="2423160"/>
            <a:ext cx="73152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Commit 2: Add temperature conversion</a:t>
            </a:r>
            <a:endParaRPr lang="en-US" sz="1152" dirty="0"/>
          </a:p>
        </p:txBody>
      </p:sp>
      <p:sp>
        <p:nvSpPr>
          <p:cNvPr id="14" name="Text 11"/>
          <p:cNvSpPr/>
          <p:nvPr/>
        </p:nvSpPr>
        <p:spPr>
          <a:xfrm>
            <a:off x="1234440" y="2953512"/>
            <a:ext cx="73152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Commit 3: Fix incorrect Fahrenheit calculation</a:t>
            </a:r>
            <a:endParaRPr lang="en-US" sz="1152" dirty="0"/>
          </a:p>
        </p:txBody>
      </p:sp>
      <p:sp>
        <p:nvSpPr>
          <p:cNvPr id="15" name="Text 12"/>
          <p:cNvSpPr/>
          <p:nvPr/>
        </p:nvSpPr>
        <p:spPr>
          <a:xfrm>
            <a:off x="1234440" y="3483864"/>
            <a:ext cx="73152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Commit 4: Add input validation</a:t>
            </a:r>
            <a:endParaRPr lang="en-US" sz="1152" dirty="0"/>
          </a:p>
        </p:txBody>
      </p:sp>
      <p:sp>
        <p:nvSpPr>
          <p:cNvPr id="16" name="Text 13"/>
          <p:cNvSpPr/>
          <p:nvPr/>
        </p:nvSpPr>
        <p:spPr>
          <a:xfrm>
            <a:off x="548640" y="3986784"/>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Commits should represent meaningful changes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Each commit has a message describing what changed</a:t>
            </a:r>
            <a:endParaRPr lang="en-US" sz="11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Good Commit Messages</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325880"/>
            <a:ext cx="8046720" cy="914400"/>
          </a:xfrm>
          <a:custGeom>
            <a:avLst/>
            <a:gdLst/>
            <a:ahLst/>
            <a:cxnLst/>
            <a:rect l="l" t="t" r="r" b="b"/>
            <a:pathLst>
              <a:path w="8046720" h="914400">
                <a:moveTo>
                  <a:pt x="0" y="0"/>
                </a:moveTo>
                <a:lnTo>
                  <a:pt x="8046720" y="0"/>
                </a:lnTo>
                <a:lnTo>
                  <a:pt x="8046720" y="914400"/>
                </a:lnTo>
                <a:lnTo>
                  <a:pt x="0" y="914400"/>
                </a:lnTo>
                <a:close/>
              </a:path>
            </a:pathLst>
          </a:custGeom>
          <a:solidFill>
            <a:srgbClr val="E8F4FD"/>
          </a:solidFill>
          <a:ln/>
        </p:spPr>
      </p:sp>
      <p:sp>
        <p:nvSpPr>
          <p:cNvPr id="6" name="Text 3"/>
          <p:cNvSpPr/>
          <p:nvPr/>
        </p:nvSpPr>
        <p:spPr>
          <a:xfrm>
            <a:off x="731520" y="1408176"/>
            <a:ext cx="7680960" cy="7498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1E40AF"/>
                </a:solidFill>
                <a:latin typeface="Microsoft YaHei" pitchFamily="34" charset="0"/>
                <a:ea typeface="Microsoft YaHei" pitchFamily="34" charset="-122"/>
                <a:cs typeface="Microsoft YaHei" pitchFamily="34" charset="-120"/>
              </a:rPr>
              <a:t>A commit message should tell someone WHAT changed.</a:t>
            </a:r>
            <a:endParaRPr lang="en-US" sz="1152"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8046720" cy="2103120"/>
        </p:xfrm>
        <a:graphic>
          <a:graphicData uri="http://schemas.openxmlformats.org/drawingml/2006/table">
            <a:tbl>
              <a:tblPr/>
              <a:tblGrid>
                <a:gridCol w="4023360"/>
                <a:gridCol w="4023360"/>
              </a:tblGrid>
              <a:tr h="350520">
                <a:tc>
                  <a:txBody>
                    <a:bodyPr/>
                    <a:lstStyle/>
                    <a:p>
                      <a:pPr algn="ctr" indent="0" marL="0">
                        <a:buNone/>
                      </a:pPr>
                      <a:r>
                        <a:rPr lang="en-US" sz="1296" b="1" u="none" dirty="0">
                          <a:solidFill>
                            <a:srgbClr val="FFFFFF"/>
                          </a:solidFill>
                          <a:latin typeface="Microsoft YaHei" pitchFamily="34" charset="0"/>
                          <a:ea typeface="Microsoft YaHei" pitchFamily="34" charset="-122"/>
                          <a:cs typeface="Microsoft YaHei" pitchFamily="34" charset="-120"/>
                        </a:rPr>
                        <a:t>Bad Commit Messages</a:t>
                      </a:r>
                      <a:endParaRPr lang="en-US" sz="1296"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D9534F"/>
                    </a:solidFill>
                  </a:tcPr>
                </a:tc>
                <a:tc>
                  <a:txBody>
                    <a:bodyPr/>
                    <a:lstStyle/>
                    <a:p>
                      <a:pPr algn="ctr" indent="0" marL="0">
                        <a:buNone/>
                      </a:pPr>
                      <a:r>
                        <a:rPr lang="en-US" sz="1296" b="1" u="none" dirty="0">
                          <a:solidFill>
                            <a:srgbClr val="FFFFFF"/>
                          </a:solidFill>
                          <a:latin typeface="Microsoft YaHei" pitchFamily="34" charset="0"/>
                          <a:ea typeface="Microsoft YaHei" pitchFamily="34" charset="-122"/>
                          <a:cs typeface="Microsoft YaHei" pitchFamily="34" charset="-120"/>
                        </a:rPr>
                        <a:t>Good Commit Messages</a:t>
                      </a:r>
                      <a:endParaRPr lang="en-US" sz="1296"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5CB85C"/>
                    </a:solidFill>
                  </a:tcPr>
                </a:tc>
              </a:tr>
              <a:tr h="350520">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stuff</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DF2F2"/>
                    </a:solidFill>
                  </a:tcPr>
                </a:tc>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Add input validation</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0F9F0"/>
                    </a:solidFill>
                  </a:tcPr>
                </a:tc>
              </a:tr>
              <a:tr h="350520">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changes</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DF2F2"/>
                    </a:solidFill>
                  </a:tcPr>
                </a:tc>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Fix calculation error</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0F9F0"/>
                    </a:solidFill>
                  </a:tcPr>
                </a:tc>
              </a:tr>
              <a:tr h="350520">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update</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DF2F2"/>
                    </a:solidFill>
                  </a:tcPr>
                </a:tc>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Add menu system</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0F9F0"/>
                    </a:solidFill>
                  </a:tcPr>
                </a:tc>
              </a:tr>
              <a:tr h="350520">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asdf</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DF2F2"/>
                    </a:solidFill>
                  </a:tcPr>
                </a:tc>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Update README with instructions</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0F9F0"/>
                    </a:solidFill>
                  </a:tcPr>
                </a:tc>
              </a:tr>
              <a:tr h="350520">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final</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DF2F2"/>
                    </a:solidFill>
                  </a:tcPr>
                </a:tc>
                <a:tc>
                  <a:txBody>
                    <a:bodyPr/>
                    <a:lstStyle/>
                    <a:p>
                      <a:pPr algn="ctr" indent="0" marL="0">
                        <a:buNone/>
                      </a:pPr>
                      <a:r>
                        <a:rPr lang="en-US" sz="1152" u="none" dirty="0">
                          <a:solidFill>
                            <a:srgbClr val="000000"/>
                          </a:solidFill>
                          <a:latin typeface="Microsoft YaHei" pitchFamily="34" charset="0"/>
                          <a:ea typeface="Microsoft YaHei" pitchFamily="34" charset="-122"/>
                          <a:cs typeface="Microsoft YaHei" pitchFamily="34" charset="-120"/>
                        </a:rPr>
                        <a:t>—</a:t>
                      </a:r>
                      <a:endParaRPr lang="en-US" sz="1152" dirty="0">
                        <a:latin typeface="Microsoft YaHei" charset="0"/>
                        <a:ea typeface="Microsoft YaHei" charset="0"/>
                        <a:cs typeface="Microsoft YaHei" charset="0"/>
                      </a:endParaRPr>
                    </a:p>
                  </a:txBody>
                  <a:tcPr marL="91440" marR="91440" marT="45720" marB="45720" anchor="ctr">
                    <a:lnL w="18288" cap="flat" cmpd="sng" algn="ctr">
                      <a:solidFill>
                        <a:srgbClr val="CCCCCC"/>
                      </a:solidFill>
                      <a:prstDash val="solid"/>
                      <a:round/>
                      <a:headEnd type="none" w="med" len="med"/>
                      <a:tailEnd type="none" w="med" len="med"/>
                    </a:lnL>
                    <a:lnR w="18288" cap="flat" cmpd="sng" algn="ctr">
                      <a:solidFill>
                        <a:srgbClr val="CCCCCC"/>
                      </a:solidFill>
                      <a:prstDash val="solid"/>
                      <a:round/>
                      <a:headEnd type="none" w="med" len="med"/>
                      <a:tailEnd type="none" w="med" len="med"/>
                    </a:lnR>
                    <a:lnT w="18288" cap="flat" cmpd="sng" algn="ctr">
                      <a:solidFill>
                        <a:srgbClr val="CCCCCC"/>
                      </a:solidFill>
                      <a:prstDash val="solid"/>
                      <a:round/>
                      <a:headEnd type="none" w="med" len="med"/>
                      <a:tailEnd type="none" w="med" len="med"/>
                    </a:lnT>
                    <a:lnB w="18288" cap="flat" cmpd="sng" algn="ctr">
                      <a:solidFill>
                        <a:srgbClr val="CCCCCC"/>
                      </a:solidFill>
                      <a:prstDash val="solid"/>
                      <a:round/>
                      <a:headEnd type="none" w="med" len="med"/>
                      <a:tailEnd type="none" w="med" len="med"/>
                    </a:lnB>
                    <a:solidFill>
                      <a:srgbClr val="F0F9F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1F3B57"/>
                </a:solidFill>
                <a:latin typeface="Microsoft YaHei" pitchFamily="34" charset="0"/>
                <a:ea typeface="Microsoft YaHei" pitchFamily="34" charset="-122"/>
                <a:cs typeface="Microsoft YaHei" pitchFamily="34" charset="-120"/>
              </a:rPr>
              <a:t>Local vs Remote Repositories</a:t>
            </a:r>
            <a:endParaRPr lang="en-US" sz="1152" dirty="0"/>
          </a:p>
        </p:txBody>
      </p:sp>
      <p:sp>
        <p:nvSpPr>
          <p:cNvPr id="4" name="Shape 1"/>
          <p:cNvSpPr/>
          <p:nvPr/>
        </p:nvSpPr>
        <p:spPr>
          <a:xfrm>
            <a:off x="640080" y="1115568"/>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234440"/>
            <a:ext cx="3108960" cy="2606040"/>
          </a:xfrm>
          <a:custGeom>
            <a:avLst/>
            <a:gdLst/>
            <a:ahLst/>
            <a:cxnLst/>
            <a:rect l="l" t="t" r="r" b="b"/>
            <a:pathLst>
              <a:path w="3108960" h="2606040">
                <a:moveTo>
                  <a:pt x="0" y="0"/>
                </a:moveTo>
                <a:lnTo>
                  <a:pt x="3108960" y="0"/>
                </a:lnTo>
                <a:lnTo>
                  <a:pt x="3108960" y="2606040"/>
                </a:lnTo>
                <a:lnTo>
                  <a:pt x="0" y="2606040"/>
                </a:lnTo>
                <a:close/>
              </a:path>
            </a:pathLst>
          </a:custGeom>
          <a:solidFill>
            <a:srgbClr val="E8F1FB"/>
          </a:solidFill>
          <a:ln/>
        </p:spPr>
      </p:sp>
      <p:sp>
        <p:nvSpPr>
          <p:cNvPr id="6" name="Shape 3"/>
          <p:cNvSpPr/>
          <p:nvPr/>
        </p:nvSpPr>
        <p:spPr>
          <a:xfrm>
            <a:off x="4572000" y="1234440"/>
            <a:ext cx="3108960" cy="2606040"/>
          </a:xfrm>
          <a:custGeom>
            <a:avLst/>
            <a:gdLst/>
            <a:ahLst/>
            <a:cxnLst/>
            <a:rect l="l" t="t" r="r" b="b"/>
            <a:pathLst>
              <a:path w="3108960" h="2606040">
                <a:moveTo>
                  <a:pt x="0" y="0"/>
                </a:moveTo>
                <a:lnTo>
                  <a:pt x="3108960" y="0"/>
                </a:lnTo>
                <a:lnTo>
                  <a:pt x="3108960" y="2606040"/>
                </a:lnTo>
                <a:lnTo>
                  <a:pt x="0" y="2606040"/>
                </a:lnTo>
                <a:close/>
              </a:path>
            </a:pathLst>
          </a:custGeom>
          <a:solidFill>
            <a:srgbClr val="E8F5E9"/>
          </a:solidFill>
          <a:ln/>
        </p:spPr>
      </p:sp>
      <p:sp>
        <p:nvSpPr>
          <p:cNvPr id="7" name="Text 4"/>
          <p:cNvSpPr/>
          <p:nvPr/>
        </p:nvSpPr>
        <p:spPr>
          <a:xfrm>
            <a:off x="731520" y="1325880"/>
            <a:ext cx="27432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E3A8A"/>
                </a:solidFill>
                <a:latin typeface="Microsoft YaHei" pitchFamily="34" charset="0"/>
                <a:ea typeface="Microsoft YaHei" pitchFamily="34" charset="-122"/>
                <a:cs typeface="Microsoft YaHei" pitchFamily="34" charset="-120"/>
              </a:rPr>
              <a:t>YOUR COMPUTER</a:t>
            </a:r>
            <a:endParaRPr lang="en-US" sz="1152" dirty="0"/>
          </a:p>
        </p:txBody>
      </p:sp>
      <p:sp>
        <p:nvSpPr>
          <p:cNvPr id="8" name="Text 5"/>
          <p:cNvSpPr/>
          <p:nvPr/>
        </p:nvSpPr>
        <p:spPr>
          <a:xfrm>
            <a:off x="4754880" y="1325880"/>
            <a:ext cx="27432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B5E20"/>
                </a:solidFill>
                <a:latin typeface="Microsoft YaHei" pitchFamily="34" charset="0"/>
                <a:ea typeface="Microsoft YaHei" pitchFamily="34" charset="-122"/>
                <a:cs typeface="Microsoft YaHei" pitchFamily="34" charset="-120"/>
              </a:rPr>
              <a:t>GITHUB</a:t>
            </a:r>
            <a:endParaRPr lang="en-US" sz="1152" dirty="0"/>
          </a:p>
        </p:txBody>
      </p:sp>
      <p:sp>
        <p:nvSpPr>
          <p:cNvPr id="9" name="Shape 6"/>
          <p:cNvSpPr/>
          <p:nvPr/>
        </p:nvSpPr>
        <p:spPr>
          <a:xfrm>
            <a:off x="731520" y="1828800"/>
            <a:ext cx="2743200" cy="512064"/>
          </a:xfrm>
          <a:custGeom>
            <a:avLst/>
            <a:gdLst/>
            <a:ahLst/>
            <a:cxnLst/>
            <a:rect l="l" t="t" r="r" b="b"/>
            <a:pathLst>
              <a:path w="2743200" h="512064">
                <a:moveTo>
                  <a:pt x="0" y="0"/>
                </a:moveTo>
                <a:lnTo>
                  <a:pt x="2743200" y="0"/>
                </a:lnTo>
                <a:lnTo>
                  <a:pt x="2743200" y="512064"/>
                </a:lnTo>
                <a:lnTo>
                  <a:pt x="0" y="512064"/>
                </a:lnTo>
                <a:close/>
              </a:path>
            </a:pathLst>
          </a:custGeom>
          <a:solidFill>
            <a:srgbClr val="FFFFFF"/>
          </a:solidFill>
          <a:ln/>
        </p:spPr>
      </p:sp>
      <p:sp>
        <p:nvSpPr>
          <p:cNvPr id="10" name="Text 7"/>
          <p:cNvSpPr/>
          <p:nvPr/>
        </p:nvSpPr>
        <p:spPr>
          <a:xfrm>
            <a:off x="822960" y="1883664"/>
            <a:ext cx="2560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Working Files</a:t>
            </a:r>
            <a:endParaRPr lang="en-US" sz="1152" dirty="0"/>
          </a:p>
        </p:txBody>
      </p:sp>
      <p:sp>
        <p:nvSpPr>
          <p:cNvPr id="11" name="Shape 8"/>
          <p:cNvSpPr/>
          <p:nvPr/>
        </p:nvSpPr>
        <p:spPr>
          <a:xfrm>
            <a:off x="2103120" y="2340864"/>
            <a:ext cx="0" cy="146304"/>
          </a:xfrm>
          <a:custGeom>
            <a:avLst/>
            <a:gdLst/>
            <a:ahLst/>
            <a:cxnLst/>
            <a:rect l="l" t="t" r="r" b="b"/>
            <a:pathLst>
              <a:path w="0" h="146304">
                <a:moveTo>
                  <a:pt x="0" y="0"/>
                </a:moveTo>
                <a:lnTo>
                  <a:pt x="0" y="146304"/>
                </a:lnTo>
              </a:path>
            </a:pathLst>
          </a:custGeom>
          <a:noFill/>
          <a:ln w="27432">
            <a:solidFill>
              <a:srgbClr val="5B9BD5"/>
            </a:solidFill>
            <a:prstDash val="solid"/>
            <a:headEnd type="none"/>
            <a:tailEnd type="arrow"/>
          </a:ln>
        </p:spPr>
      </p:sp>
      <p:sp>
        <p:nvSpPr>
          <p:cNvPr id="12" name="Shape 9"/>
          <p:cNvSpPr/>
          <p:nvPr/>
        </p:nvSpPr>
        <p:spPr>
          <a:xfrm>
            <a:off x="731520" y="2560320"/>
            <a:ext cx="2743200" cy="512064"/>
          </a:xfrm>
          <a:custGeom>
            <a:avLst/>
            <a:gdLst/>
            <a:ahLst/>
            <a:cxnLst/>
            <a:rect l="l" t="t" r="r" b="b"/>
            <a:pathLst>
              <a:path w="2743200" h="512064">
                <a:moveTo>
                  <a:pt x="0" y="0"/>
                </a:moveTo>
                <a:lnTo>
                  <a:pt x="2743200" y="0"/>
                </a:lnTo>
                <a:lnTo>
                  <a:pt x="2743200" y="512064"/>
                </a:lnTo>
                <a:lnTo>
                  <a:pt x="0" y="512064"/>
                </a:lnTo>
                <a:close/>
              </a:path>
            </a:pathLst>
          </a:custGeom>
          <a:solidFill>
            <a:srgbClr val="FFFFFF"/>
          </a:solidFill>
          <a:ln/>
        </p:spPr>
      </p:sp>
      <p:sp>
        <p:nvSpPr>
          <p:cNvPr id="13" name="Text 10"/>
          <p:cNvSpPr/>
          <p:nvPr/>
        </p:nvSpPr>
        <p:spPr>
          <a:xfrm>
            <a:off x="822960" y="2615184"/>
            <a:ext cx="2560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Git</a:t>
            </a:r>
            <a:endParaRPr lang="en-US" sz="1152" dirty="0"/>
          </a:p>
        </p:txBody>
      </p:sp>
      <p:sp>
        <p:nvSpPr>
          <p:cNvPr id="14" name="Shape 11"/>
          <p:cNvSpPr/>
          <p:nvPr/>
        </p:nvSpPr>
        <p:spPr>
          <a:xfrm>
            <a:off x="2103120" y="3072384"/>
            <a:ext cx="0" cy="146304"/>
          </a:xfrm>
          <a:custGeom>
            <a:avLst/>
            <a:gdLst/>
            <a:ahLst/>
            <a:cxnLst/>
            <a:rect l="l" t="t" r="r" b="b"/>
            <a:pathLst>
              <a:path w="0" h="146304">
                <a:moveTo>
                  <a:pt x="0" y="0"/>
                </a:moveTo>
                <a:lnTo>
                  <a:pt x="0" y="146304"/>
                </a:lnTo>
              </a:path>
            </a:pathLst>
          </a:custGeom>
          <a:noFill/>
          <a:ln w="27432">
            <a:solidFill>
              <a:srgbClr val="5B9BD5"/>
            </a:solidFill>
            <a:prstDash val="solid"/>
            <a:headEnd type="none"/>
            <a:tailEnd type="arrow"/>
          </a:ln>
        </p:spPr>
      </p:sp>
      <p:sp>
        <p:nvSpPr>
          <p:cNvPr id="15" name="Shape 12"/>
          <p:cNvSpPr/>
          <p:nvPr/>
        </p:nvSpPr>
        <p:spPr>
          <a:xfrm>
            <a:off x="731520" y="3291840"/>
            <a:ext cx="2743200" cy="512064"/>
          </a:xfrm>
          <a:custGeom>
            <a:avLst/>
            <a:gdLst/>
            <a:ahLst/>
            <a:cxnLst/>
            <a:rect l="l" t="t" r="r" b="b"/>
            <a:pathLst>
              <a:path w="2743200" h="512064">
                <a:moveTo>
                  <a:pt x="0" y="0"/>
                </a:moveTo>
                <a:lnTo>
                  <a:pt x="2743200" y="0"/>
                </a:lnTo>
                <a:lnTo>
                  <a:pt x="2743200" y="512064"/>
                </a:lnTo>
                <a:lnTo>
                  <a:pt x="0" y="512064"/>
                </a:lnTo>
                <a:close/>
              </a:path>
            </a:pathLst>
          </a:custGeom>
          <a:solidFill>
            <a:srgbClr val="FFFFFF"/>
          </a:solidFill>
          <a:ln/>
        </p:spPr>
      </p:sp>
      <p:sp>
        <p:nvSpPr>
          <p:cNvPr id="16" name="Text 13"/>
          <p:cNvSpPr/>
          <p:nvPr/>
        </p:nvSpPr>
        <p:spPr>
          <a:xfrm>
            <a:off x="822960" y="3346704"/>
            <a:ext cx="2560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Local Repository</a:t>
            </a:r>
            <a:endParaRPr lang="en-US" sz="1152" dirty="0"/>
          </a:p>
        </p:txBody>
      </p:sp>
      <p:sp>
        <p:nvSpPr>
          <p:cNvPr id="17" name="Shape 14"/>
          <p:cNvSpPr/>
          <p:nvPr/>
        </p:nvSpPr>
        <p:spPr>
          <a:xfrm>
            <a:off x="4754880" y="2240280"/>
            <a:ext cx="2743200" cy="731520"/>
          </a:xfrm>
          <a:custGeom>
            <a:avLst/>
            <a:gdLst/>
            <a:ahLst/>
            <a:cxnLst/>
            <a:rect l="l" t="t" r="r" b="b"/>
            <a:pathLst>
              <a:path w="2743200" h="731520">
                <a:moveTo>
                  <a:pt x="0" y="0"/>
                </a:moveTo>
                <a:lnTo>
                  <a:pt x="2743200" y="0"/>
                </a:lnTo>
                <a:lnTo>
                  <a:pt x="2743200" y="731520"/>
                </a:lnTo>
                <a:lnTo>
                  <a:pt x="0" y="731520"/>
                </a:lnTo>
                <a:close/>
              </a:path>
            </a:pathLst>
          </a:custGeom>
          <a:solidFill>
            <a:srgbClr val="FFFFFF"/>
          </a:solidFill>
          <a:ln/>
        </p:spPr>
      </p:sp>
      <p:sp>
        <p:nvSpPr>
          <p:cNvPr id="18" name="Text 15"/>
          <p:cNvSpPr/>
          <p:nvPr/>
        </p:nvSpPr>
        <p:spPr>
          <a:xfrm>
            <a:off x="4846320" y="2404872"/>
            <a:ext cx="2560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66534"/>
                </a:solidFill>
                <a:latin typeface="Microsoft YaHei" pitchFamily="34" charset="0"/>
                <a:ea typeface="Microsoft YaHei" pitchFamily="34" charset="-122"/>
                <a:cs typeface="Microsoft YaHei" pitchFamily="34" charset="-120"/>
              </a:rPr>
              <a:t>Remote Repository</a:t>
            </a:r>
            <a:endParaRPr lang="en-US" sz="1152" dirty="0"/>
          </a:p>
        </p:txBody>
      </p:sp>
      <p:sp>
        <p:nvSpPr>
          <p:cNvPr id="19" name="Text 16"/>
          <p:cNvSpPr/>
          <p:nvPr/>
        </p:nvSpPr>
        <p:spPr>
          <a:xfrm>
            <a:off x="3657600" y="1691640"/>
            <a:ext cx="9144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C2410C"/>
                </a:solidFill>
                <a:latin typeface="Microsoft YaHei" pitchFamily="34" charset="0"/>
                <a:ea typeface="Microsoft YaHei" pitchFamily="34" charset="-122"/>
                <a:cs typeface="Microsoft YaHei" pitchFamily="34" charset="-120"/>
              </a:rPr>
              <a:t>PUSH</a:t>
            </a:r>
            <a:endParaRPr lang="en-US" sz="1152" dirty="0"/>
          </a:p>
        </p:txBody>
      </p:sp>
      <p:sp>
        <p:nvSpPr>
          <p:cNvPr id="20" name="Shape 17"/>
          <p:cNvSpPr/>
          <p:nvPr/>
        </p:nvSpPr>
        <p:spPr>
          <a:xfrm>
            <a:off x="3657600" y="2103120"/>
            <a:ext cx="804672" cy="0"/>
          </a:xfrm>
          <a:custGeom>
            <a:avLst/>
            <a:gdLst/>
            <a:ahLst/>
            <a:cxnLst/>
            <a:rect l="l" t="t" r="r" b="b"/>
            <a:pathLst>
              <a:path w="804672" h="0">
                <a:moveTo>
                  <a:pt x="0" y="0"/>
                </a:moveTo>
                <a:lnTo>
                  <a:pt x="804672" y="0"/>
                </a:lnTo>
              </a:path>
            </a:pathLst>
          </a:custGeom>
          <a:noFill/>
          <a:ln w="27432">
            <a:solidFill>
              <a:srgbClr val="EA580C"/>
            </a:solidFill>
            <a:prstDash val="solid"/>
            <a:headEnd type="none"/>
            <a:tailEnd type="arrow"/>
          </a:ln>
        </p:spPr>
      </p:sp>
      <p:sp>
        <p:nvSpPr>
          <p:cNvPr id="21" name="Text 18"/>
          <p:cNvSpPr/>
          <p:nvPr/>
        </p:nvSpPr>
        <p:spPr>
          <a:xfrm>
            <a:off x="3657600" y="3200400"/>
            <a:ext cx="9144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5803D"/>
                </a:solidFill>
                <a:latin typeface="Microsoft YaHei" pitchFamily="34" charset="0"/>
                <a:ea typeface="Microsoft YaHei" pitchFamily="34" charset="-122"/>
                <a:cs typeface="Microsoft YaHei" pitchFamily="34" charset="-120"/>
              </a:rPr>
              <a:t>PULL</a:t>
            </a:r>
            <a:endParaRPr lang="en-US" sz="1152" dirty="0"/>
          </a:p>
        </p:txBody>
      </p:sp>
      <p:sp>
        <p:nvSpPr>
          <p:cNvPr id="22" name="Shape 19"/>
          <p:cNvSpPr/>
          <p:nvPr/>
        </p:nvSpPr>
        <p:spPr>
          <a:xfrm>
            <a:off x="3657600" y="3611880"/>
            <a:ext cx="804672" cy="0"/>
          </a:xfrm>
          <a:custGeom>
            <a:avLst/>
            <a:gdLst/>
            <a:ahLst/>
            <a:cxnLst/>
            <a:rect l="l" t="t" r="r" b="b"/>
            <a:pathLst>
              <a:path w="804672" h="0">
                <a:moveTo>
                  <a:pt x="804672" y="0"/>
                </a:moveTo>
                <a:lnTo>
                  <a:pt x="0" y="0"/>
                </a:lnTo>
              </a:path>
            </a:pathLst>
          </a:custGeom>
          <a:noFill/>
          <a:ln w="27432">
            <a:solidFill>
              <a:srgbClr val="15803D"/>
            </a:solidFill>
            <a:prstDash val="solid"/>
            <a:headEnd type="none"/>
            <a:tailEnd type="arrow"/>
          </a:ln>
        </p:spPr>
      </p:sp>
      <p:sp>
        <p:nvSpPr>
          <p:cNvPr id="23" name="Shape 20"/>
          <p:cNvSpPr/>
          <p:nvPr/>
        </p:nvSpPr>
        <p:spPr>
          <a:xfrm>
            <a:off x="548640" y="3931920"/>
            <a:ext cx="8046720" cy="658368"/>
          </a:xfrm>
          <a:custGeom>
            <a:avLst/>
            <a:gdLst/>
            <a:ahLst/>
            <a:cxnLst/>
            <a:rect l="l" t="t" r="r" b="b"/>
            <a:pathLst>
              <a:path w="8046720" h="658368">
                <a:moveTo>
                  <a:pt x="0" y="0"/>
                </a:moveTo>
                <a:lnTo>
                  <a:pt x="8046720" y="0"/>
                </a:lnTo>
                <a:lnTo>
                  <a:pt x="8046720" y="658368"/>
                </a:lnTo>
                <a:lnTo>
                  <a:pt x="0" y="658368"/>
                </a:lnTo>
                <a:close/>
              </a:path>
            </a:pathLst>
          </a:custGeom>
          <a:solidFill>
            <a:srgbClr val="F1F5F9"/>
          </a:solidFill>
          <a:ln/>
        </p:spPr>
      </p:sp>
      <p:sp>
        <p:nvSpPr>
          <p:cNvPr id="24" name="Text 21"/>
          <p:cNvSpPr/>
          <p:nvPr/>
        </p:nvSpPr>
        <p:spPr>
          <a:xfrm>
            <a:off x="731520" y="3968496"/>
            <a:ext cx="76809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3B57"/>
                </a:solidFill>
                <a:latin typeface="Microsoft YaHei" pitchFamily="34" charset="0"/>
                <a:ea typeface="Microsoft YaHei" pitchFamily="34" charset="-122"/>
                <a:cs typeface="Microsoft YaHei" pitchFamily="34" charset="-120"/>
              </a:rPr>
              <a:t>Local = your computer</a:t>
            </a:r>
            <a:pPr algn="ctr" indent="0" marL="0">
              <a:lnSpc>
                <a:spcPct val="120000"/>
              </a:lnSpc>
              <a:spcBef>
                <a:spcPts val="360"/>
              </a:spcBef>
              <a:buNone/>
            </a:pPr>
            <a:r>
              <a:rPr lang="en-US" sz="1008" dirty="0">
                <a:solidFill>
                  <a:srgbClr val="1F3B57"/>
                </a:solidFill>
                <a:latin typeface="Microsoft YaHei" pitchFamily="34" charset="0"/>
                <a:ea typeface="Microsoft YaHei" pitchFamily="34" charset="-122"/>
                <a:cs typeface="Microsoft YaHei" pitchFamily="34" charset="-120"/>
              </a:rPr>
              <a:t>  •  </a:t>
            </a:r>
            <a:pPr algn="ctr" indent="0" marL="0">
              <a:lnSpc>
                <a:spcPct val="120000"/>
              </a:lnSpc>
              <a:spcBef>
                <a:spcPts val="360"/>
              </a:spcBef>
              <a:buNone/>
            </a:pPr>
            <a:r>
              <a:rPr lang="en-US" sz="1008" b="1" dirty="0">
                <a:solidFill>
                  <a:srgbClr val="1F3B57"/>
                </a:solidFill>
                <a:latin typeface="Microsoft YaHei" pitchFamily="34" charset="0"/>
                <a:ea typeface="Microsoft YaHei" pitchFamily="34" charset="-122"/>
                <a:cs typeface="Microsoft YaHei" pitchFamily="34" charset="-120"/>
              </a:rPr>
              <a:t>Remote = stored on GitHub</a:t>
            </a:r>
            <a:endParaRPr lang="en-US" sz="1152" dirty="0"/>
          </a:p>
          <a:p>
            <a:pPr algn="ctr" indent="0" marL="0">
              <a:lnSpc>
                <a:spcPct val="120000"/>
              </a:lnSpc>
              <a:spcBef>
                <a:spcPts val="360"/>
              </a:spcBef>
              <a:buNone/>
            </a:pPr>
            <a:r>
              <a:rPr lang="en-US" sz="1008" b="1" dirty="0">
                <a:solidFill>
                  <a:srgbClr val="1F3B57"/>
                </a:solidFill>
                <a:latin typeface="Microsoft YaHei" pitchFamily="34" charset="0"/>
                <a:ea typeface="Microsoft YaHei" pitchFamily="34" charset="-122"/>
                <a:cs typeface="Microsoft YaHei" pitchFamily="34" charset="-120"/>
              </a:rPr>
              <a:t>PUSH = send commits up</a:t>
            </a:r>
            <a:pPr algn="ctr" indent="0" marL="0">
              <a:lnSpc>
                <a:spcPct val="120000"/>
              </a:lnSpc>
              <a:spcBef>
                <a:spcPts val="360"/>
              </a:spcBef>
              <a:buNone/>
            </a:pPr>
            <a:r>
              <a:rPr lang="en-US" sz="1008" dirty="0">
                <a:solidFill>
                  <a:srgbClr val="1F3B57"/>
                </a:solidFill>
                <a:latin typeface="Microsoft YaHei" pitchFamily="34" charset="0"/>
                <a:ea typeface="Microsoft YaHei" pitchFamily="34" charset="-122"/>
                <a:cs typeface="Microsoft YaHei" pitchFamily="34" charset="-120"/>
              </a:rPr>
              <a:t>  •  </a:t>
            </a:r>
            <a:pPr algn="ctr" indent="0" marL="0">
              <a:lnSpc>
                <a:spcPct val="120000"/>
              </a:lnSpc>
              <a:spcBef>
                <a:spcPts val="360"/>
              </a:spcBef>
              <a:buNone/>
            </a:pPr>
            <a:r>
              <a:rPr lang="en-US" sz="1008" b="1" dirty="0">
                <a:solidFill>
                  <a:srgbClr val="1F3B57"/>
                </a:solidFill>
                <a:latin typeface="Microsoft YaHei" pitchFamily="34" charset="0"/>
                <a:ea typeface="Microsoft YaHei" pitchFamily="34" charset="-122"/>
                <a:cs typeface="Microsoft YaHei" pitchFamily="34" charset="-120"/>
              </a:rPr>
              <a:t>PULL = bring commits down</a:t>
            </a:r>
            <a:endParaRPr lang="en-US" sz="115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3864"/>
                </a:solidFill>
                <a:latin typeface="Microsoft YaHei" pitchFamily="34" charset="0"/>
                <a:ea typeface="Microsoft YaHei" pitchFamily="34" charset="-122"/>
                <a:cs typeface="Microsoft YaHei" pitchFamily="34" charset="-120"/>
              </a:rPr>
              <a:t>Creating a GitHub Account</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2E75B6"/>
          </a:solidFill>
          <a:ln/>
        </p:spPr>
      </p:sp>
      <p:sp>
        <p:nvSpPr>
          <p:cNvPr id="5" name="Text 2"/>
          <p:cNvSpPr/>
          <p:nvPr/>
        </p:nvSpPr>
        <p:spPr>
          <a:xfrm>
            <a:off x="548640" y="1280160"/>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555555"/>
                </a:solidFill>
                <a:latin typeface="Microsoft YaHei" pitchFamily="34" charset="0"/>
                <a:ea typeface="Microsoft YaHei" pitchFamily="34" charset="-122"/>
                <a:cs typeface="Microsoft YaHei" pitchFamily="34" charset="-120"/>
              </a:rPr>
              <a:t>Four steps — choose your username wisely</a:t>
            </a:r>
            <a:endParaRPr lang="en-US" sz="1152" dirty="0"/>
          </a:p>
        </p:txBody>
      </p:sp>
      <p:sp>
        <p:nvSpPr>
          <p:cNvPr id="6" name="Shape 3"/>
          <p:cNvSpPr/>
          <p:nvPr/>
        </p:nvSpPr>
        <p:spPr>
          <a:xfrm>
            <a:off x="548640" y="1828800"/>
            <a:ext cx="3657600" cy="1280160"/>
          </a:xfrm>
          <a:custGeom>
            <a:avLst/>
            <a:gdLst/>
            <a:ahLst/>
            <a:cxnLst/>
            <a:rect l="l" t="t" r="r" b="b"/>
            <a:pathLst>
              <a:path w="3657600" h="1280160">
                <a:moveTo>
                  <a:pt x="0" y="0"/>
                </a:moveTo>
                <a:lnTo>
                  <a:pt x="3657600" y="0"/>
                </a:lnTo>
                <a:lnTo>
                  <a:pt x="3657600" y="1280160"/>
                </a:lnTo>
                <a:lnTo>
                  <a:pt x="0" y="1280160"/>
                </a:lnTo>
                <a:close/>
              </a:path>
            </a:pathLst>
          </a:custGeom>
          <a:solidFill>
            <a:srgbClr val="E8F0FE"/>
          </a:solidFill>
          <a:ln/>
        </p:spPr>
      </p:sp>
      <p:sp>
        <p:nvSpPr>
          <p:cNvPr id="7" name="Shape 4"/>
          <p:cNvSpPr/>
          <p:nvPr/>
        </p:nvSpPr>
        <p:spPr>
          <a:xfrm>
            <a:off x="4572000" y="1828800"/>
            <a:ext cx="3657600" cy="1280160"/>
          </a:xfrm>
          <a:custGeom>
            <a:avLst/>
            <a:gdLst/>
            <a:ahLst/>
            <a:cxnLst/>
            <a:rect l="l" t="t" r="r" b="b"/>
            <a:pathLst>
              <a:path w="3657600" h="1280160">
                <a:moveTo>
                  <a:pt x="0" y="0"/>
                </a:moveTo>
                <a:lnTo>
                  <a:pt x="3657600" y="0"/>
                </a:lnTo>
                <a:lnTo>
                  <a:pt x="3657600" y="1280160"/>
                </a:lnTo>
                <a:lnTo>
                  <a:pt x="0" y="1280160"/>
                </a:lnTo>
                <a:close/>
              </a:path>
            </a:pathLst>
          </a:custGeom>
          <a:solidFill>
            <a:srgbClr val="E6F4EA"/>
          </a:solidFill>
          <a:ln/>
        </p:spPr>
      </p:sp>
      <p:sp>
        <p:nvSpPr>
          <p:cNvPr id="8" name="Shape 5"/>
          <p:cNvSpPr/>
          <p:nvPr/>
        </p:nvSpPr>
        <p:spPr>
          <a:xfrm>
            <a:off x="548640" y="3246120"/>
            <a:ext cx="3657600" cy="1280160"/>
          </a:xfrm>
          <a:custGeom>
            <a:avLst/>
            <a:gdLst/>
            <a:ahLst/>
            <a:cxnLst/>
            <a:rect l="l" t="t" r="r" b="b"/>
            <a:pathLst>
              <a:path w="3657600" h="1280160">
                <a:moveTo>
                  <a:pt x="0" y="0"/>
                </a:moveTo>
                <a:lnTo>
                  <a:pt x="3657600" y="0"/>
                </a:lnTo>
                <a:lnTo>
                  <a:pt x="3657600" y="1280160"/>
                </a:lnTo>
                <a:lnTo>
                  <a:pt x="0" y="1280160"/>
                </a:lnTo>
                <a:close/>
              </a:path>
            </a:pathLst>
          </a:custGeom>
          <a:solidFill>
            <a:srgbClr val="FEF7E0"/>
          </a:solidFill>
          <a:ln/>
        </p:spPr>
      </p:sp>
      <p:sp>
        <p:nvSpPr>
          <p:cNvPr id="9" name="Shape 6"/>
          <p:cNvSpPr/>
          <p:nvPr/>
        </p:nvSpPr>
        <p:spPr>
          <a:xfrm>
            <a:off x="4572000" y="3246120"/>
            <a:ext cx="3657600" cy="1280160"/>
          </a:xfrm>
          <a:custGeom>
            <a:avLst/>
            <a:gdLst/>
            <a:ahLst/>
            <a:cxnLst/>
            <a:rect l="l" t="t" r="r" b="b"/>
            <a:pathLst>
              <a:path w="3657600" h="1280160">
                <a:moveTo>
                  <a:pt x="0" y="0"/>
                </a:moveTo>
                <a:lnTo>
                  <a:pt x="3657600" y="0"/>
                </a:lnTo>
                <a:lnTo>
                  <a:pt x="3657600" y="1280160"/>
                </a:lnTo>
                <a:lnTo>
                  <a:pt x="0" y="1280160"/>
                </a:lnTo>
                <a:close/>
              </a:path>
            </a:pathLst>
          </a:custGeom>
          <a:solidFill>
            <a:srgbClr val="FCE8E6"/>
          </a:solidFill>
          <a:ln/>
        </p:spPr>
      </p:sp>
      <p:sp>
        <p:nvSpPr>
          <p:cNvPr id="10" name="Text 7"/>
          <p:cNvSpPr/>
          <p:nvPr/>
        </p:nvSpPr>
        <p:spPr>
          <a:xfrm>
            <a:off x="731520" y="2039112"/>
            <a:ext cx="329184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Step 1 · Sign Up</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Go to github.com and click Sign up.</a:t>
            </a:r>
            <a:endParaRPr lang="en-US" sz="1152" dirty="0"/>
          </a:p>
        </p:txBody>
      </p:sp>
      <p:sp>
        <p:nvSpPr>
          <p:cNvPr id="11" name="Text 8"/>
          <p:cNvSpPr/>
          <p:nvPr/>
        </p:nvSpPr>
        <p:spPr>
          <a:xfrm>
            <a:off x="4754880" y="2039112"/>
            <a:ext cx="329184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Step 2 · Username</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Choose something clear and professional.</a:t>
            </a:r>
            <a:endParaRPr lang="en-US" sz="1152" dirty="0"/>
          </a:p>
        </p:txBody>
      </p:sp>
      <p:sp>
        <p:nvSpPr>
          <p:cNvPr id="12" name="Text 9"/>
          <p:cNvSpPr/>
          <p:nvPr/>
        </p:nvSpPr>
        <p:spPr>
          <a:xfrm>
            <a:off x="731520" y="3456432"/>
            <a:ext cx="329184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Step 3 · Verify</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Confirm your account by email.</a:t>
            </a:r>
            <a:endParaRPr lang="en-US" sz="1152" dirty="0"/>
          </a:p>
        </p:txBody>
      </p:sp>
      <p:sp>
        <p:nvSpPr>
          <p:cNvPr id="13" name="Text 10"/>
          <p:cNvSpPr/>
          <p:nvPr/>
        </p:nvSpPr>
        <p:spPr>
          <a:xfrm>
            <a:off x="4754880" y="3456432"/>
            <a:ext cx="329184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Step 4 · Profile</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Your profile can become a portfolio.</a:t>
            </a:r>
            <a:endParaRPr lang="en-US" sz="1152"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1F3864"/>
                </a:solidFill>
                <a:latin typeface="Microsoft YaHei" pitchFamily="34" charset="0"/>
                <a:ea typeface="Microsoft YaHei" pitchFamily="34" charset="-122"/>
                <a:cs typeface="Microsoft YaHei" pitchFamily="34" charset="-120"/>
              </a:rPr>
              <a:t>Creating a Repository Online</a:t>
            </a:r>
            <a:endParaRPr lang="en-US" sz="1152" dirty="0"/>
          </a:p>
        </p:txBody>
      </p:sp>
      <p:sp>
        <p:nvSpPr>
          <p:cNvPr id="4" name="Shape 1"/>
          <p:cNvSpPr/>
          <p:nvPr/>
        </p:nvSpPr>
        <p:spPr>
          <a:xfrm>
            <a:off x="640080" y="1115568"/>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463040"/>
            <a:ext cx="3931920" cy="2011680"/>
          </a:xfrm>
          <a:custGeom>
            <a:avLst/>
            <a:gdLst/>
            <a:ahLst/>
            <a:cxnLst/>
            <a:rect l="l" t="t" r="r" b="b"/>
            <a:pathLst>
              <a:path w="3931920" h="2011680">
                <a:moveTo>
                  <a:pt x="0" y="0"/>
                </a:moveTo>
                <a:lnTo>
                  <a:pt x="3931920" y="0"/>
                </a:lnTo>
                <a:lnTo>
                  <a:pt x="3931920" y="2011680"/>
                </a:lnTo>
                <a:lnTo>
                  <a:pt x="0" y="2011680"/>
                </a:lnTo>
                <a:close/>
              </a:path>
            </a:pathLst>
          </a:custGeom>
          <a:solidFill>
            <a:srgbClr val="E8F0FE"/>
          </a:solidFill>
          <a:ln/>
        </p:spPr>
      </p:sp>
      <p:sp>
        <p:nvSpPr>
          <p:cNvPr id="6" name="Shape 3"/>
          <p:cNvSpPr/>
          <p:nvPr/>
        </p:nvSpPr>
        <p:spPr>
          <a:xfrm>
            <a:off x="4663440" y="1463040"/>
            <a:ext cx="3931920" cy="2011680"/>
          </a:xfrm>
          <a:custGeom>
            <a:avLst/>
            <a:gdLst/>
            <a:ahLst/>
            <a:cxnLst/>
            <a:rect l="l" t="t" r="r" b="b"/>
            <a:pathLst>
              <a:path w="3931920" h="2011680">
                <a:moveTo>
                  <a:pt x="0" y="0"/>
                </a:moveTo>
                <a:lnTo>
                  <a:pt x="3931920" y="0"/>
                </a:lnTo>
                <a:lnTo>
                  <a:pt x="3931920" y="2011680"/>
                </a:lnTo>
                <a:lnTo>
                  <a:pt x="0" y="2011680"/>
                </a:lnTo>
                <a:close/>
              </a:path>
            </a:pathLst>
          </a:custGeom>
          <a:solidFill>
            <a:srgbClr val="E6F4EA"/>
          </a:solidFill>
          <a:ln/>
        </p:spPr>
      </p:sp>
      <p:sp>
        <p:nvSpPr>
          <p:cNvPr id="7" name="Text 4"/>
          <p:cNvSpPr/>
          <p:nvPr/>
        </p:nvSpPr>
        <p:spPr>
          <a:xfrm>
            <a:off x="731520" y="1755648"/>
            <a:ext cx="356616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Repository Setup</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Name: hello-git</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Short description</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Visibility: Public / Private</a:t>
            </a:r>
            <a:endParaRPr lang="en-US" sz="1152" dirty="0"/>
          </a:p>
        </p:txBody>
      </p:sp>
      <p:sp>
        <p:nvSpPr>
          <p:cNvPr id="8" name="Text 5"/>
          <p:cNvSpPr/>
          <p:nvPr/>
        </p:nvSpPr>
        <p:spPr>
          <a:xfrm>
            <a:off x="4846320" y="1874520"/>
            <a:ext cx="35661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3864"/>
                </a:solidFill>
                <a:latin typeface="Microsoft YaHei" pitchFamily="34" charset="0"/>
                <a:ea typeface="Microsoft YaHei" pitchFamily="34" charset="-122"/>
                <a:cs typeface="Microsoft YaHei" pitchFamily="34" charset="-120"/>
              </a:rPr>
              <a:t>Optional Files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README</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.gitignore</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Licence</a:t>
            </a:r>
            <a:endParaRPr lang="en-US" sz="1152" dirty="0"/>
          </a:p>
        </p:txBody>
      </p:sp>
      <p:sp>
        <p:nvSpPr>
          <p:cNvPr id="9" name="Shape 6"/>
          <p:cNvSpPr/>
          <p:nvPr/>
        </p:nvSpPr>
        <p:spPr>
          <a:xfrm>
            <a:off x="548640" y="3840480"/>
            <a:ext cx="8046720" cy="822960"/>
          </a:xfrm>
          <a:custGeom>
            <a:avLst/>
            <a:gdLst/>
            <a:ahLst/>
            <a:cxnLst/>
            <a:rect l="l" t="t" r="r" b="b"/>
            <a:pathLst>
              <a:path w="8046720" h="822960">
                <a:moveTo>
                  <a:pt x="0" y="0"/>
                </a:moveTo>
                <a:lnTo>
                  <a:pt x="8046720" y="0"/>
                </a:lnTo>
                <a:lnTo>
                  <a:pt x="8046720" y="822960"/>
                </a:lnTo>
                <a:lnTo>
                  <a:pt x="0" y="822960"/>
                </a:lnTo>
                <a:close/>
              </a:path>
            </a:pathLst>
          </a:custGeom>
          <a:solidFill>
            <a:srgbClr val="FEF3C7"/>
          </a:solidFill>
          <a:ln/>
        </p:spPr>
      </p:sp>
      <p:sp>
        <p:nvSpPr>
          <p:cNvPr id="10" name="Text 7"/>
          <p:cNvSpPr/>
          <p:nvPr/>
        </p:nvSpPr>
        <p:spPr>
          <a:xfrm>
            <a:off x="731520" y="3904488"/>
            <a:ext cx="76809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7F4F21"/>
                </a:solidFill>
                <a:latin typeface="Microsoft YaHei" pitchFamily="34" charset="0"/>
                <a:ea typeface="Microsoft YaHei" pitchFamily="34" charset="-122"/>
                <a:cs typeface="Microsoft YaHei" pitchFamily="34" charset="-120"/>
              </a:rPr>
              <a:t>Assessed work:</a:t>
            </a:r>
            <a:pPr algn="ctr" indent="0" marL="0">
              <a:lnSpc>
                <a:spcPct val="120000"/>
              </a:lnSpc>
              <a:spcBef>
                <a:spcPts val="360"/>
              </a:spcBef>
              <a:buNone/>
            </a:pPr>
            <a:r>
              <a:rPr lang="en-US" sz="1296" dirty="0">
                <a:solidFill>
                  <a:srgbClr val="7F4F21"/>
                </a:solidFill>
                <a:latin typeface="Microsoft YaHei" pitchFamily="34" charset="0"/>
                <a:ea typeface="Microsoft YaHei" pitchFamily="34" charset="-122"/>
                <a:cs typeface="Microsoft YaHei" pitchFamily="34" charset="-120"/>
              </a:rPr>
              <a:t> follow your lecturer's public/private instructions</a:t>
            </a:r>
            <a:endParaRPr lang="en-US" sz="11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F2937"/>
                </a:solidFill>
                <a:latin typeface="Microsoft YaHei" pitchFamily="34" charset="0"/>
                <a:ea typeface="Microsoft YaHei" pitchFamily="34" charset="-122"/>
                <a:cs typeface="Microsoft YaHei" pitchFamily="34" charset="-120"/>
              </a:rPr>
              <a:t>Looking Around a GitHub Repository</a:t>
            </a:r>
            <a:endParaRPr lang="en-US" sz="1152" dirty="0"/>
          </a:p>
        </p:txBody>
      </p:sp>
      <p:sp>
        <p:nvSpPr>
          <p:cNvPr id="4" name="Text 1"/>
          <p:cNvSpPr/>
          <p:nvPr/>
        </p:nvSpPr>
        <p:spPr>
          <a:xfrm>
            <a:off x="548640" y="1078992"/>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555555"/>
                </a:solidFill>
                <a:latin typeface="Microsoft YaHei" pitchFamily="34" charset="0"/>
                <a:ea typeface="Microsoft YaHei" pitchFamily="34" charset="-122"/>
                <a:cs typeface="Microsoft YaHei" pitchFamily="34" charset="-120"/>
              </a:rPr>
              <a:t>Key parts of a repository page</a:t>
            </a:r>
            <a:endParaRPr lang="en-US" sz="1152" dirty="0"/>
          </a:p>
        </p:txBody>
      </p:sp>
      <p:sp>
        <p:nvSpPr>
          <p:cNvPr id="5" name="Shape 2"/>
          <p:cNvSpPr/>
          <p:nvPr/>
        </p:nvSpPr>
        <p:spPr>
          <a:xfrm>
            <a:off x="640080" y="1591056"/>
            <a:ext cx="7863840" cy="18288"/>
          </a:xfrm>
          <a:custGeom>
            <a:avLst/>
            <a:gdLst/>
            <a:ahLst/>
            <a:cxnLst/>
            <a:rect l="l" t="t" r="r" b="b"/>
            <a:pathLst>
              <a:path w="7863840" h="18288">
                <a:moveTo>
                  <a:pt x="0" y="0"/>
                </a:moveTo>
                <a:lnTo>
                  <a:pt x="7863840" y="0"/>
                </a:lnTo>
                <a:lnTo>
                  <a:pt x="7863840" y="18288"/>
                </a:lnTo>
                <a:lnTo>
                  <a:pt x="0" y="18288"/>
                </a:lnTo>
                <a:close/>
              </a:path>
            </a:pathLst>
          </a:custGeom>
          <a:solidFill>
            <a:srgbClr val="5B9BD5"/>
          </a:solidFill>
          <a:ln/>
        </p:spPr>
      </p:sp>
      <p:sp>
        <p:nvSpPr>
          <p:cNvPr id="6" name="Shape 3"/>
          <p:cNvSpPr/>
          <p:nvPr/>
        </p:nvSpPr>
        <p:spPr>
          <a:xfrm>
            <a:off x="822960" y="1828800"/>
            <a:ext cx="2377440" cy="914400"/>
          </a:xfrm>
          <a:custGeom>
            <a:avLst/>
            <a:gdLst/>
            <a:ahLst/>
            <a:cxnLst/>
            <a:rect l="l" t="t" r="r" b="b"/>
            <a:pathLst>
              <a:path w="2377440" h="914400">
                <a:moveTo>
                  <a:pt x="0" y="0"/>
                </a:moveTo>
                <a:lnTo>
                  <a:pt x="2377440" y="0"/>
                </a:lnTo>
                <a:lnTo>
                  <a:pt x="2377440" y="914400"/>
                </a:lnTo>
                <a:lnTo>
                  <a:pt x="0" y="914400"/>
                </a:lnTo>
                <a:close/>
              </a:path>
            </a:pathLst>
          </a:custGeom>
          <a:solidFill>
            <a:srgbClr val="F3F4F6"/>
          </a:solidFill>
          <a:ln/>
        </p:spPr>
      </p:sp>
      <p:sp>
        <p:nvSpPr>
          <p:cNvPr id="7" name="Shape 4"/>
          <p:cNvSpPr/>
          <p:nvPr/>
        </p:nvSpPr>
        <p:spPr>
          <a:xfrm>
            <a:off x="822960" y="1828800"/>
            <a:ext cx="54864" cy="914400"/>
          </a:xfrm>
          <a:custGeom>
            <a:avLst/>
            <a:gdLst/>
            <a:ahLst/>
            <a:cxnLst/>
            <a:rect l="l" t="t" r="r" b="b"/>
            <a:pathLst>
              <a:path w="54864" h="914400">
                <a:moveTo>
                  <a:pt x="0" y="0"/>
                </a:moveTo>
                <a:lnTo>
                  <a:pt x="54864" y="0"/>
                </a:lnTo>
                <a:lnTo>
                  <a:pt x="54864" y="914400"/>
                </a:lnTo>
                <a:lnTo>
                  <a:pt x="0" y="914400"/>
                </a:lnTo>
                <a:close/>
              </a:path>
            </a:pathLst>
          </a:custGeom>
          <a:solidFill>
            <a:srgbClr val="3B82F6"/>
          </a:solidFill>
          <a:ln/>
        </p:spPr>
      </p:sp>
      <p:sp>
        <p:nvSpPr>
          <p:cNvPr id="8" name="Text 5"/>
          <p:cNvSpPr/>
          <p:nvPr/>
        </p:nvSpPr>
        <p:spPr>
          <a:xfrm>
            <a:off x="1005840" y="1993392"/>
            <a:ext cx="20116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2937"/>
                </a:solidFill>
                <a:latin typeface="Microsoft YaHei" pitchFamily="34" charset="0"/>
                <a:ea typeface="Microsoft YaHei" pitchFamily="34" charset="-122"/>
                <a:cs typeface="Microsoft YaHei" pitchFamily="34" charset="-120"/>
              </a:rPr>
              <a:t>1. Files and README</a:t>
            </a:r>
            <a:endParaRPr lang="en-US" sz="1152" dirty="0"/>
          </a:p>
        </p:txBody>
      </p:sp>
      <p:sp>
        <p:nvSpPr>
          <p:cNvPr id="9" name="Shape 6"/>
          <p:cNvSpPr/>
          <p:nvPr/>
        </p:nvSpPr>
        <p:spPr>
          <a:xfrm>
            <a:off x="3383280" y="1828800"/>
            <a:ext cx="2377440" cy="914400"/>
          </a:xfrm>
          <a:custGeom>
            <a:avLst/>
            <a:gdLst/>
            <a:ahLst/>
            <a:cxnLst/>
            <a:rect l="l" t="t" r="r" b="b"/>
            <a:pathLst>
              <a:path w="2377440" h="914400">
                <a:moveTo>
                  <a:pt x="0" y="0"/>
                </a:moveTo>
                <a:lnTo>
                  <a:pt x="2377440" y="0"/>
                </a:lnTo>
                <a:lnTo>
                  <a:pt x="2377440" y="914400"/>
                </a:lnTo>
                <a:lnTo>
                  <a:pt x="0" y="914400"/>
                </a:lnTo>
                <a:close/>
              </a:path>
            </a:pathLst>
          </a:custGeom>
          <a:solidFill>
            <a:srgbClr val="F3F4F6"/>
          </a:solidFill>
          <a:ln/>
        </p:spPr>
      </p:sp>
      <p:sp>
        <p:nvSpPr>
          <p:cNvPr id="10" name="Shape 7"/>
          <p:cNvSpPr/>
          <p:nvPr/>
        </p:nvSpPr>
        <p:spPr>
          <a:xfrm>
            <a:off x="3383280" y="1828800"/>
            <a:ext cx="54864" cy="914400"/>
          </a:xfrm>
          <a:custGeom>
            <a:avLst/>
            <a:gdLst/>
            <a:ahLst/>
            <a:cxnLst/>
            <a:rect l="l" t="t" r="r" b="b"/>
            <a:pathLst>
              <a:path w="54864" h="914400">
                <a:moveTo>
                  <a:pt x="0" y="0"/>
                </a:moveTo>
                <a:lnTo>
                  <a:pt x="54864" y="0"/>
                </a:lnTo>
                <a:lnTo>
                  <a:pt x="54864" y="914400"/>
                </a:lnTo>
                <a:lnTo>
                  <a:pt x="0" y="914400"/>
                </a:lnTo>
                <a:close/>
              </a:path>
            </a:pathLst>
          </a:custGeom>
          <a:solidFill>
            <a:srgbClr val="10B981"/>
          </a:solidFill>
          <a:ln/>
        </p:spPr>
      </p:sp>
      <p:sp>
        <p:nvSpPr>
          <p:cNvPr id="11" name="Text 8"/>
          <p:cNvSpPr/>
          <p:nvPr/>
        </p:nvSpPr>
        <p:spPr>
          <a:xfrm>
            <a:off x="3566160" y="1993392"/>
            <a:ext cx="20116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2937"/>
                </a:solidFill>
                <a:latin typeface="Microsoft YaHei" pitchFamily="34" charset="0"/>
                <a:ea typeface="Microsoft YaHei" pitchFamily="34" charset="-122"/>
                <a:cs typeface="Microsoft YaHei" pitchFamily="34" charset="-120"/>
              </a:rPr>
              <a:t>2. Commit history</a:t>
            </a:r>
            <a:endParaRPr lang="en-US" sz="1152" dirty="0"/>
          </a:p>
        </p:txBody>
      </p:sp>
      <p:sp>
        <p:nvSpPr>
          <p:cNvPr id="12" name="Shape 9"/>
          <p:cNvSpPr/>
          <p:nvPr/>
        </p:nvSpPr>
        <p:spPr>
          <a:xfrm>
            <a:off x="5943600" y="1828800"/>
            <a:ext cx="2377440" cy="914400"/>
          </a:xfrm>
          <a:custGeom>
            <a:avLst/>
            <a:gdLst/>
            <a:ahLst/>
            <a:cxnLst/>
            <a:rect l="l" t="t" r="r" b="b"/>
            <a:pathLst>
              <a:path w="2377440" h="914400">
                <a:moveTo>
                  <a:pt x="0" y="0"/>
                </a:moveTo>
                <a:lnTo>
                  <a:pt x="2377440" y="0"/>
                </a:lnTo>
                <a:lnTo>
                  <a:pt x="2377440" y="914400"/>
                </a:lnTo>
                <a:lnTo>
                  <a:pt x="0" y="914400"/>
                </a:lnTo>
                <a:close/>
              </a:path>
            </a:pathLst>
          </a:custGeom>
          <a:solidFill>
            <a:srgbClr val="F3F4F6"/>
          </a:solidFill>
          <a:ln/>
        </p:spPr>
      </p:sp>
      <p:sp>
        <p:nvSpPr>
          <p:cNvPr id="13" name="Shape 10"/>
          <p:cNvSpPr/>
          <p:nvPr/>
        </p:nvSpPr>
        <p:spPr>
          <a:xfrm>
            <a:off x="5943600" y="1828800"/>
            <a:ext cx="54864" cy="914400"/>
          </a:xfrm>
          <a:custGeom>
            <a:avLst/>
            <a:gdLst/>
            <a:ahLst/>
            <a:cxnLst/>
            <a:rect l="l" t="t" r="r" b="b"/>
            <a:pathLst>
              <a:path w="54864" h="914400">
                <a:moveTo>
                  <a:pt x="0" y="0"/>
                </a:moveTo>
                <a:lnTo>
                  <a:pt x="54864" y="0"/>
                </a:lnTo>
                <a:lnTo>
                  <a:pt x="54864" y="914400"/>
                </a:lnTo>
                <a:lnTo>
                  <a:pt x="0" y="914400"/>
                </a:lnTo>
                <a:close/>
              </a:path>
            </a:pathLst>
          </a:custGeom>
          <a:solidFill>
            <a:srgbClr val="F59E0B"/>
          </a:solidFill>
          <a:ln/>
        </p:spPr>
      </p:sp>
      <p:sp>
        <p:nvSpPr>
          <p:cNvPr id="14" name="Text 11"/>
          <p:cNvSpPr/>
          <p:nvPr/>
        </p:nvSpPr>
        <p:spPr>
          <a:xfrm>
            <a:off x="6126480" y="1993392"/>
            <a:ext cx="20116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2937"/>
                </a:solidFill>
                <a:latin typeface="Microsoft YaHei" pitchFamily="34" charset="0"/>
                <a:ea typeface="Microsoft YaHei" pitchFamily="34" charset="-122"/>
                <a:cs typeface="Microsoft YaHei" pitchFamily="34" charset="-120"/>
              </a:rPr>
              <a:t>3. Branch selector</a:t>
            </a:r>
            <a:endParaRPr lang="en-US" sz="1152" dirty="0"/>
          </a:p>
        </p:txBody>
      </p:sp>
      <p:sp>
        <p:nvSpPr>
          <p:cNvPr id="15" name="Shape 12"/>
          <p:cNvSpPr/>
          <p:nvPr/>
        </p:nvSpPr>
        <p:spPr>
          <a:xfrm>
            <a:off x="2103120" y="2926080"/>
            <a:ext cx="2377440" cy="914400"/>
          </a:xfrm>
          <a:custGeom>
            <a:avLst/>
            <a:gdLst/>
            <a:ahLst/>
            <a:cxnLst/>
            <a:rect l="l" t="t" r="r" b="b"/>
            <a:pathLst>
              <a:path w="2377440" h="914400">
                <a:moveTo>
                  <a:pt x="0" y="0"/>
                </a:moveTo>
                <a:lnTo>
                  <a:pt x="2377440" y="0"/>
                </a:lnTo>
                <a:lnTo>
                  <a:pt x="2377440" y="914400"/>
                </a:lnTo>
                <a:lnTo>
                  <a:pt x="0" y="914400"/>
                </a:lnTo>
                <a:close/>
              </a:path>
            </a:pathLst>
          </a:custGeom>
          <a:solidFill>
            <a:srgbClr val="F3F4F6"/>
          </a:solidFill>
          <a:ln/>
        </p:spPr>
      </p:sp>
      <p:sp>
        <p:nvSpPr>
          <p:cNvPr id="16" name="Shape 13"/>
          <p:cNvSpPr/>
          <p:nvPr/>
        </p:nvSpPr>
        <p:spPr>
          <a:xfrm>
            <a:off x="2103120" y="2926080"/>
            <a:ext cx="54864" cy="914400"/>
          </a:xfrm>
          <a:custGeom>
            <a:avLst/>
            <a:gdLst/>
            <a:ahLst/>
            <a:cxnLst/>
            <a:rect l="l" t="t" r="r" b="b"/>
            <a:pathLst>
              <a:path w="54864" h="914400">
                <a:moveTo>
                  <a:pt x="0" y="0"/>
                </a:moveTo>
                <a:lnTo>
                  <a:pt x="54864" y="0"/>
                </a:lnTo>
                <a:lnTo>
                  <a:pt x="54864" y="914400"/>
                </a:lnTo>
                <a:lnTo>
                  <a:pt x="0" y="914400"/>
                </a:lnTo>
                <a:close/>
              </a:path>
            </a:pathLst>
          </a:custGeom>
          <a:solidFill>
            <a:srgbClr val="8B5CF6"/>
          </a:solidFill>
          <a:ln/>
        </p:spPr>
      </p:sp>
      <p:sp>
        <p:nvSpPr>
          <p:cNvPr id="17" name="Text 14"/>
          <p:cNvSpPr/>
          <p:nvPr/>
        </p:nvSpPr>
        <p:spPr>
          <a:xfrm>
            <a:off x="2286000" y="3090672"/>
            <a:ext cx="20116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2937"/>
                </a:solidFill>
                <a:latin typeface="Microsoft YaHei" pitchFamily="34" charset="0"/>
                <a:ea typeface="Microsoft YaHei" pitchFamily="34" charset="-122"/>
                <a:cs typeface="Microsoft YaHei" pitchFamily="34" charset="-120"/>
              </a:rPr>
              <a:t>4. Code / clone option</a:t>
            </a:r>
            <a:endParaRPr lang="en-US" sz="1152" dirty="0"/>
          </a:p>
        </p:txBody>
      </p:sp>
      <p:sp>
        <p:nvSpPr>
          <p:cNvPr id="18" name="Shape 15"/>
          <p:cNvSpPr/>
          <p:nvPr/>
        </p:nvSpPr>
        <p:spPr>
          <a:xfrm>
            <a:off x="4663440" y="2926080"/>
            <a:ext cx="2377440" cy="914400"/>
          </a:xfrm>
          <a:custGeom>
            <a:avLst/>
            <a:gdLst/>
            <a:ahLst/>
            <a:cxnLst/>
            <a:rect l="l" t="t" r="r" b="b"/>
            <a:pathLst>
              <a:path w="2377440" h="914400">
                <a:moveTo>
                  <a:pt x="0" y="0"/>
                </a:moveTo>
                <a:lnTo>
                  <a:pt x="2377440" y="0"/>
                </a:lnTo>
                <a:lnTo>
                  <a:pt x="2377440" y="914400"/>
                </a:lnTo>
                <a:lnTo>
                  <a:pt x="0" y="914400"/>
                </a:lnTo>
                <a:close/>
              </a:path>
            </a:pathLst>
          </a:custGeom>
          <a:solidFill>
            <a:srgbClr val="F3F4F6"/>
          </a:solidFill>
          <a:ln/>
        </p:spPr>
      </p:sp>
      <p:sp>
        <p:nvSpPr>
          <p:cNvPr id="19" name="Shape 16"/>
          <p:cNvSpPr/>
          <p:nvPr/>
        </p:nvSpPr>
        <p:spPr>
          <a:xfrm>
            <a:off x="4663440" y="2926080"/>
            <a:ext cx="54864" cy="914400"/>
          </a:xfrm>
          <a:custGeom>
            <a:avLst/>
            <a:gdLst/>
            <a:ahLst/>
            <a:cxnLst/>
            <a:rect l="l" t="t" r="r" b="b"/>
            <a:pathLst>
              <a:path w="54864" h="914400">
                <a:moveTo>
                  <a:pt x="0" y="0"/>
                </a:moveTo>
                <a:lnTo>
                  <a:pt x="54864" y="0"/>
                </a:lnTo>
                <a:lnTo>
                  <a:pt x="54864" y="914400"/>
                </a:lnTo>
                <a:lnTo>
                  <a:pt x="0" y="914400"/>
                </a:lnTo>
                <a:close/>
              </a:path>
            </a:pathLst>
          </a:custGeom>
          <a:solidFill>
            <a:srgbClr val="EF4444"/>
          </a:solidFill>
          <a:ln/>
        </p:spPr>
      </p:sp>
      <p:sp>
        <p:nvSpPr>
          <p:cNvPr id="20" name="Text 17"/>
          <p:cNvSpPr/>
          <p:nvPr/>
        </p:nvSpPr>
        <p:spPr>
          <a:xfrm>
            <a:off x="4846320" y="3090672"/>
            <a:ext cx="201168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F2937"/>
                </a:solidFill>
                <a:latin typeface="Microsoft YaHei" pitchFamily="34" charset="0"/>
                <a:ea typeface="Microsoft YaHei" pitchFamily="34" charset="-122"/>
                <a:cs typeface="Microsoft YaHei" pitchFamily="34" charset="-120"/>
              </a:rPr>
              <a:t>5. Issues and pull requests</a:t>
            </a:r>
            <a:endParaRPr lang="en-US" sz="1152"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3864"/>
                </a:solidFill>
                <a:latin typeface="Microsoft YaHei" pitchFamily="34" charset="0"/>
                <a:ea typeface="Microsoft YaHei" pitchFamily="34" charset="-122"/>
                <a:cs typeface="Microsoft YaHei" pitchFamily="34" charset="-120"/>
              </a:rPr>
              <a:t>Editing a File on GitHub</a:t>
            </a:r>
            <a:endParaRPr lang="en-US" sz="1152" dirty="0"/>
          </a:p>
        </p:txBody>
      </p:sp>
      <p:sp>
        <p:nvSpPr>
          <p:cNvPr id="4" name="Text 1"/>
          <p:cNvSpPr/>
          <p:nvPr/>
        </p:nvSpPr>
        <p:spPr>
          <a:xfrm>
            <a:off x="548640" y="118872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Edit and commit a file — all in the browser</a:t>
            </a:r>
            <a:endParaRPr lang="en-US" sz="1152" dirty="0"/>
          </a:p>
        </p:txBody>
      </p:sp>
      <p:sp>
        <p:nvSpPr>
          <p:cNvPr id="5" name="Text 2"/>
          <p:cNvSpPr/>
          <p:nvPr/>
        </p:nvSpPr>
        <p:spPr>
          <a:xfrm>
            <a:off x="548640" y="1828800"/>
            <a:ext cx="36576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Steps</a:t>
            </a:r>
            <a:endParaRPr lang="en-US" sz="1152" dirty="0"/>
          </a:p>
        </p:txBody>
      </p:sp>
      <p:sp>
        <p:nvSpPr>
          <p:cNvPr id="6" name="Text 3"/>
          <p:cNvSpPr/>
          <p:nvPr/>
        </p:nvSpPr>
        <p:spPr>
          <a:xfrm>
            <a:off x="548640" y="2377440"/>
            <a:ext cx="365760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1. Open README.md</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2. Change the heading</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3. Commit the change</a:t>
            </a:r>
            <a:endParaRPr lang="en-US" sz="1152" dirty="0"/>
          </a:p>
        </p:txBody>
      </p:sp>
      <p:sp>
        <p:nvSpPr>
          <p:cNvPr id="7" name="Shape 4"/>
          <p:cNvSpPr/>
          <p:nvPr/>
        </p:nvSpPr>
        <p:spPr>
          <a:xfrm>
            <a:off x="4480560" y="1828800"/>
            <a:ext cx="4114800" cy="1645920"/>
          </a:xfrm>
          <a:custGeom>
            <a:avLst/>
            <a:gdLst/>
            <a:ahLst/>
            <a:cxnLst/>
            <a:rect l="l" t="t" r="r" b="b"/>
            <a:pathLst>
              <a:path w="4114800" h="1645920">
                <a:moveTo>
                  <a:pt x="0" y="0"/>
                </a:moveTo>
                <a:lnTo>
                  <a:pt x="4114800" y="0"/>
                </a:lnTo>
                <a:lnTo>
                  <a:pt x="4114800" y="1645920"/>
                </a:lnTo>
                <a:lnTo>
                  <a:pt x="0" y="1645920"/>
                </a:lnTo>
                <a:close/>
              </a:path>
            </a:pathLst>
          </a:custGeom>
          <a:solidFill>
            <a:srgbClr val="F2F2F2"/>
          </a:solidFill>
          <a:ln/>
        </p:spPr>
      </p:sp>
      <p:sp>
        <p:nvSpPr>
          <p:cNvPr id="8" name="Text 5"/>
          <p:cNvSpPr/>
          <p:nvPr/>
        </p:nvSpPr>
        <p:spPr>
          <a:xfrm>
            <a:off x="4663440" y="2002536"/>
            <a:ext cx="374904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README.md</a:t>
            </a:r>
            <a:endParaRPr lang="en-US" sz="1152" dirty="0"/>
          </a:p>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Before</a:t>
            </a:r>
            <a:endParaRPr lang="en-US" sz="1152" dirty="0"/>
          </a:p>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My First Repository</a:t>
            </a:r>
            <a:endParaRPr lang="en-US" sz="1152" dirty="0"/>
          </a:p>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After</a:t>
            </a:r>
            <a:endParaRPr lang="en-US" sz="1152" dirty="0"/>
          </a:p>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My First Git Repository</a:t>
            </a:r>
            <a:endParaRPr lang="en-US" sz="1152" dirty="0"/>
          </a:p>
        </p:txBody>
      </p:sp>
      <p:sp>
        <p:nvSpPr>
          <p:cNvPr id="9" name="Text 6"/>
          <p:cNvSpPr/>
          <p:nvPr/>
        </p:nvSpPr>
        <p:spPr>
          <a:xfrm>
            <a:off x="548640" y="3749040"/>
            <a:ext cx="804672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Every simple browser edit creates a commit.</a:t>
            </a:r>
            <a:endParaRPr lang="en-US" sz="1152"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Commit History on GitHub</a:t>
            </a:r>
            <a:endParaRPr lang="en-US" sz="1152" dirty="0"/>
          </a:p>
        </p:txBody>
      </p:sp>
      <p:sp>
        <p:nvSpPr>
          <p:cNvPr id="4" name="Shape 1"/>
          <p:cNvSpPr/>
          <p:nvPr/>
        </p:nvSpPr>
        <p:spPr>
          <a:xfrm>
            <a:off x="640080" y="118872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2DA44E"/>
          </a:solidFill>
          <a:ln/>
        </p:spPr>
      </p:sp>
      <p:sp>
        <p:nvSpPr>
          <p:cNvPr id="5" name="Text 2"/>
          <p:cNvSpPr/>
          <p:nvPr/>
        </p:nvSpPr>
        <p:spPr>
          <a:xfrm>
            <a:off x="548640" y="1554480"/>
            <a:ext cx="475488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2DA44E"/>
                </a:solidFill>
                <a:latin typeface="Microsoft YaHei" pitchFamily="34" charset="0"/>
                <a:ea typeface="Microsoft YaHei" pitchFamily="34" charset="-122"/>
                <a:cs typeface="Microsoft YaHei" pitchFamily="34" charset="-120"/>
              </a:rPr>
              <a: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Commit message, author, date</a:t>
            </a:r>
            <a:endParaRPr lang="en-US" sz="1152" dirty="0"/>
          </a:p>
        </p:txBody>
      </p:sp>
      <p:sp>
        <p:nvSpPr>
          <p:cNvPr id="6" name="Text 3"/>
          <p:cNvSpPr/>
          <p:nvPr/>
        </p:nvSpPr>
        <p:spPr>
          <a:xfrm>
            <a:off x="548640" y="2176272"/>
            <a:ext cx="475488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2DA44E"/>
                </a:solidFill>
                <a:latin typeface="Microsoft YaHei" pitchFamily="34" charset="0"/>
                <a:ea typeface="Microsoft YaHei" pitchFamily="34" charset="-122"/>
                <a:cs typeface="Microsoft YaHei" pitchFamily="34" charset="-120"/>
              </a:rPr>
              <a: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Changed files and exact lines</a:t>
            </a:r>
            <a:endParaRPr lang="en-US" sz="1152" dirty="0"/>
          </a:p>
        </p:txBody>
      </p:sp>
      <p:sp>
        <p:nvSpPr>
          <p:cNvPr id="7" name="Text 4"/>
          <p:cNvSpPr/>
          <p:nvPr/>
        </p:nvSpPr>
        <p:spPr>
          <a:xfrm>
            <a:off x="548640" y="2798064"/>
            <a:ext cx="475488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2DA44E"/>
                </a:solidFill>
                <a:latin typeface="Microsoft YaHei" pitchFamily="34" charset="0"/>
                <a:ea typeface="Microsoft YaHei" pitchFamily="34" charset="-122"/>
                <a:cs typeface="Microsoft YaHei" pitchFamily="34" charset="-120"/>
              </a:rPr>
              <a: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Green = added, red = removed</a:t>
            </a:r>
            <a:endParaRPr lang="en-US" sz="1152" dirty="0"/>
          </a:p>
        </p:txBody>
      </p:sp>
      <p:sp>
        <p:nvSpPr>
          <p:cNvPr id="8" name="Text 5"/>
          <p:cNvSpPr/>
          <p:nvPr/>
        </p:nvSpPr>
        <p:spPr>
          <a:xfrm>
            <a:off x="548640" y="3419856"/>
            <a:ext cx="475488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2DA44E"/>
                </a:solidFill>
                <a:latin typeface="Microsoft YaHei" pitchFamily="34" charset="0"/>
                <a:ea typeface="Microsoft YaHei" pitchFamily="34" charset="-122"/>
                <a:cs typeface="Microsoft YaHei" pitchFamily="34" charset="-120"/>
              </a:rPr>
              <a: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Useful for debugging &amp; review</a:t>
            </a:r>
            <a:endParaRPr lang="en-US" sz="1152" dirty="0"/>
          </a:p>
        </p:txBody>
      </p:sp>
      <p:sp>
        <p:nvSpPr>
          <p:cNvPr id="9" name="Shape 6"/>
          <p:cNvSpPr/>
          <p:nvPr/>
        </p:nvSpPr>
        <p:spPr>
          <a:xfrm>
            <a:off x="5486400" y="1554480"/>
            <a:ext cx="3108960" cy="393192"/>
          </a:xfrm>
          <a:custGeom>
            <a:avLst/>
            <a:gdLst/>
            <a:ahLst/>
            <a:cxnLst/>
            <a:rect l="l" t="t" r="r" b="b"/>
            <a:pathLst>
              <a:path w="3108960" h="393192">
                <a:moveTo>
                  <a:pt x="0" y="0"/>
                </a:moveTo>
                <a:lnTo>
                  <a:pt x="3108960" y="0"/>
                </a:lnTo>
                <a:lnTo>
                  <a:pt x="3108960" y="393192"/>
                </a:lnTo>
                <a:lnTo>
                  <a:pt x="0" y="393192"/>
                </a:lnTo>
                <a:close/>
              </a:path>
            </a:pathLst>
          </a:custGeom>
          <a:solidFill>
            <a:srgbClr val="24292F"/>
          </a:solidFill>
          <a:ln/>
        </p:spPr>
      </p:sp>
      <p:sp>
        <p:nvSpPr>
          <p:cNvPr id="10" name="Text 7"/>
          <p:cNvSpPr/>
          <p:nvPr/>
        </p:nvSpPr>
        <p:spPr>
          <a:xfrm>
            <a:off x="5486400" y="1554480"/>
            <a:ext cx="31089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Changes in main.py</a:t>
            </a:r>
            <a:endParaRPr lang="en-US" sz="1152" dirty="0"/>
          </a:p>
        </p:txBody>
      </p:sp>
      <p:sp>
        <p:nvSpPr>
          <p:cNvPr id="11" name="Text 8"/>
          <p:cNvSpPr/>
          <p:nvPr/>
        </p:nvSpPr>
        <p:spPr>
          <a:xfrm>
            <a:off x="5486400" y="1947672"/>
            <a:ext cx="3108960" cy="393192"/>
          </a:xfrm>
          <a:prstGeom prst="rect">
            <a:avLst/>
          </a:prstGeom>
          <a:solidFill>
            <a:srgbClr val="E6FFEC"/>
          </a:solidFill>
          <a:ln/>
        </p:spPr>
        <p:txBody>
          <a:bodyPr wrap="square" lIns="91440" tIns="91440" rIns="91440" bIns="91440" rtlCol="0" anchor="t">
            <a:spAutoFit/>
          </a:bodyPr>
          <a:lstStyle/>
          <a:p>
            <a:pPr indent="0" marL="0">
              <a:lnSpc>
                <a:spcPct val="120000"/>
              </a:lnSpc>
              <a:spcBef>
                <a:spcPts val="360"/>
              </a:spcBef>
              <a:buNone/>
            </a:pPr>
            <a:r>
              <a:rPr lang="en-US" sz="1008" dirty="0">
                <a:solidFill>
                  <a:srgbClr val="1A7F37"/>
                </a:solidFill>
                <a:latin typeface="Microsoft YaHei" pitchFamily="34" charset="0"/>
                <a:ea typeface="Microsoft YaHei" pitchFamily="34" charset="-122"/>
                <a:cs typeface="Microsoft YaHei" pitchFamily="34" charset="-120"/>
              </a:rPr>
              <a:t>+ print("Hello")</a:t>
            </a:r>
            <a:endParaRPr lang="en-US" sz="1152" dirty="0"/>
          </a:p>
        </p:txBody>
      </p:sp>
      <p:sp>
        <p:nvSpPr>
          <p:cNvPr id="12" name="Text 9"/>
          <p:cNvSpPr/>
          <p:nvPr/>
        </p:nvSpPr>
        <p:spPr>
          <a:xfrm>
            <a:off x="5486400" y="2340864"/>
            <a:ext cx="3108960" cy="393192"/>
          </a:xfrm>
          <a:prstGeom prst="rect">
            <a:avLst/>
          </a:prstGeom>
          <a:solidFill>
            <a:srgbClr val="FFEBE9"/>
          </a:solid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F222E"/>
                </a:solidFill>
                <a:latin typeface="Microsoft YaHei" pitchFamily="34" charset="0"/>
                <a:ea typeface="Microsoft YaHei" pitchFamily="34" charset="-122"/>
                <a:cs typeface="Microsoft YaHei" pitchFamily="34" charset="-120"/>
              </a:rPr>
              <a:t>- print("World")</a:t>
            </a:r>
            <a:endParaRPr lang="en-US" sz="1152" dirty="0"/>
          </a:p>
        </p:txBody>
      </p:sp>
      <p:sp>
        <p:nvSpPr>
          <p:cNvPr id="13" name="Text 10"/>
          <p:cNvSpPr/>
          <p:nvPr/>
        </p:nvSpPr>
        <p:spPr>
          <a:xfrm>
            <a:off x="5486400" y="2734056"/>
            <a:ext cx="3108960" cy="393192"/>
          </a:xfrm>
          <a:prstGeom prst="rect">
            <a:avLst/>
          </a:prstGeom>
          <a:solidFill>
            <a:srgbClr val="FFFFFF"/>
          </a:solidFill>
          <a:ln/>
        </p:spPr>
        <p:txBody>
          <a:bodyPr wrap="square" lIns="91440" tIns="91440" rIns="91440" bIns="91440" rtlCol="0" anchor="t">
            <a:spAutoFit/>
          </a:bodyPr>
          <a:lstStyle/>
          <a:p>
            <a:pPr indent="0" marL="0">
              <a:lnSpc>
                <a:spcPct val="120000"/>
              </a:lnSpc>
              <a:spcBef>
                <a:spcPts val="360"/>
              </a:spcBef>
              <a:buNone/>
            </a:pPr>
            <a:r>
              <a:rPr lang="en-US" sz="1008" dirty="0">
                <a:solidFill>
                  <a:srgbClr val="57606A"/>
                </a:solidFill>
                <a:latin typeface="Microsoft YaHei" pitchFamily="34" charset="0"/>
                <a:ea typeface="Microsoft YaHei" pitchFamily="34" charset="-122"/>
                <a:cs typeface="Microsoft YaHei" pitchFamily="34" charset="-120"/>
              </a:rPr>
              <a:t>  x = 1</a:t>
            </a:r>
            <a:endParaRPr lang="en-US" sz="1152" dirty="0"/>
          </a:p>
        </p:txBody>
      </p:sp>
      <p:sp>
        <p:nvSpPr>
          <p:cNvPr id="14" name="Shape 11"/>
          <p:cNvSpPr/>
          <p:nvPr/>
        </p:nvSpPr>
        <p:spPr>
          <a:xfrm>
            <a:off x="5486400" y="3346704"/>
            <a:ext cx="109728" cy="109728"/>
          </a:xfrm>
          <a:custGeom>
            <a:avLst/>
            <a:gdLst/>
            <a:ahLst/>
            <a:cxnLst/>
            <a:rect l="l" t="t" r="r" b="b"/>
            <a:pathLst>
              <a:path w="109728" h="109728">
                <a:moveTo>
                  <a:pt x="0" y="0"/>
                </a:moveTo>
                <a:lnTo>
                  <a:pt x="109728" y="0"/>
                </a:lnTo>
                <a:lnTo>
                  <a:pt x="109728" y="109728"/>
                </a:lnTo>
                <a:lnTo>
                  <a:pt x="0" y="109728"/>
                </a:lnTo>
                <a:close/>
              </a:path>
            </a:pathLst>
          </a:custGeom>
          <a:solidFill>
            <a:srgbClr val="1A7F37"/>
          </a:solidFill>
          <a:ln/>
        </p:spPr>
      </p:sp>
      <p:sp>
        <p:nvSpPr>
          <p:cNvPr id="15" name="Text 12"/>
          <p:cNvSpPr/>
          <p:nvPr/>
        </p:nvSpPr>
        <p:spPr>
          <a:xfrm>
            <a:off x="5650992" y="3200400"/>
            <a:ext cx="64008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1A7F37"/>
                </a:solidFill>
                <a:latin typeface="Microsoft YaHei" pitchFamily="34" charset="0"/>
                <a:ea typeface="Microsoft YaHei" pitchFamily="34" charset="-122"/>
                <a:cs typeface="Microsoft YaHei" pitchFamily="34" charset="-120"/>
              </a:rPr>
              <a:t>Added</a:t>
            </a:r>
            <a:endParaRPr lang="en-US" sz="1152" dirty="0"/>
          </a:p>
        </p:txBody>
      </p:sp>
      <p:sp>
        <p:nvSpPr>
          <p:cNvPr id="16" name="Shape 13"/>
          <p:cNvSpPr/>
          <p:nvPr/>
        </p:nvSpPr>
        <p:spPr>
          <a:xfrm>
            <a:off x="6400800" y="3346704"/>
            <a:ext cx="109728" cy="109728"/>
          </a:xfrm>
          <a:custGeom>
            <a:avLst/>
            <a:gdLst/>
            <a:ahLst/>
            <a:cxnLst/>
            <a:rect l="l" t="t" r="r" b="b"/>
            <a:pathLst>
              <a:path w="109728" h="109728">
                <a:moveTo>
                  <a:pt x="0" y="0"/>
                </a:moveTo>
                <a:lnTo>
                  <a:pt x="109728" y="0"/>
                </a:lnTo>
                <a:lnTo>
                  <a:pt x="109728" y="109728"/>
                </a:lnTo>
                <a:lnTo>
                  <a:pt x="0" y="109728"/>
                </a:lnTo>
                <a:close/>
              </a:path>
            </a:pathLst>
          </a:custGeom>
          <a:solidFill>
            <a:srgbClr val="CF222E"/>
          </a:solidFill>
          <a:ln/>
        </p:spPr>
      </p:sp>
      <p:sp>
        <p:nvSpPr>
          <p:cNvPr id="17" name="Text 14"/>
          <p:cNvSpPr/>
          <p:nvPr/>
        </p:nvSpPr>
        <p:spPr>
          <a:xfrm>
            <a:off x="6565392" y="3200400"/>
            <a:ext cx="8229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F222E"/>
                </a:solidFill>
                <a:latin typeface="Microsoft YaHei" pitchFamily="34" charset="0"/>
                <a:ea typeface="Microsoft YaHei" pitchFamily="34" charset="-122"/>
                <a:cs typeface="Microsoft YaHei" pitchFamily="34" charset="-120"/>
              </a:rPr>
              <a:t>Removed</a:t>
            </a:r>
            <a:endParaRPr lang="en-US" sz="1152"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Git Inside VS Code</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463040"/>
            <a:ext cx="475488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Built-in Git support</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Source Control icon</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No need to leave VS Code</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Changes, staging, commits</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Push, pull, branch, sync</a:t>
            </a:r>
            <a:endParaRPr lang="en-US" sz="1152" dirty="0"/>
          </a:p>
        </p:txBody>
      </p:sp>
      <p:sp>
        <p:nvSpPr>
          <p:cNvPr id="6" name="Shape 3"/>
          <p:cNvSpPr/>
          <p:nvPr/>
        </p:nvSpPr>
        <p:spPr>
          <a:xfrm>
            <a:off x="5486400" y="1463040"/>
            <a:ext cx="3108960" cy="3200400"/>
          </a:xfrm>
          <a:custGeom>
            <a:avLst/>
            <a:gdLst/>
            <a:ahLst/>
            <a:cxnLst/>
            <a:rect l="l" t="t" r="r" b="b"/>
            <a:pathLst>
              <a:path w="3108960" h="3200400">
                <a:moveTo>
                  <a:pt x="0" y="0"/>
                </a:moveTo>
                <a:lnTo>
                  <a:pt x="3108960" y="0"/>
                </a:lnTo>
                <a:lnTo>
                  <a:pt x="3108960" y="3200400"/>
                </a:lnTo>
                <a:lnTo>
                  <a:pt x="0" y="3200400"/>
                </a:lnTo>
                <a:close/>
              </a:path>
            </a:pathLst>
          </a:custGeom>
          <a:solidFill>
            <a:srgbClr val="F3F3F3"/>
          </a:solidFill>
          <a:ln/>
        </p:spPr>
      </p:sp>
      <p:sp>
        <p:nvSpPr>
          <p:cNvPr id="7" name="Shape 4"/>
          <p:cNvSpPr/>
          <p:nvPr/>
        </p:nvSpPr>
        <p:spPr>
          <a:xfrm>
            <a:off x="5486400" y="1463040"/>
            <a:ext cx="3108960" cy="438912"/>
          </a:xfrm>
          <a:custGeom>
            <a:avLst/>
            <a:gdLst/>
            <a:ahLst/>
            <a:cxnLst/>
            <a:rect l="l" t="t" r="r" b="b"/>
            <a:pathLst>
              <a:path w="3108960" h="438912">
                <a:moveTo>
                  <a:pt x="0" y="0"/>
                </a:moveTo>
                <a:lnTo>
                  <a:pt x="3108960" y="0"/>
                </a:lnTo>
                <a:lnTo>
                  <a:pt x="3108960" y="438912"/>
                </a:lnTo>
                <a:lnTo>
                  <a:pt x="0" y="438912"/>
                </a:lnTo>
                <a:close/>
              </a:path>
            </a:pathLst>
          </a:custGeom>
          <a:solidFill>
            <a:srgbClr val="333333"/>
          </a:solidFill>
          <a:ln/>
        </p:spPr>
      </p:sp>
      <p:sp>
        <p:nvSpPr>
          <p:cNvPr id="8" name="Text 5"/>
          <p:cNvSpPr/>
          <p:nvPr/>
        </p:nvSpPr>
        <p:spPr>
          <a:xfrm>
            <a:off x="5577840" y="1481328"/>
            <a:ext cx="29260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SOURCE CONTROL</a:t>
            </a:r>
            <a:endParaRPr lang="en-US" sz="1152" dirty="0"/>
          </a:p>
        </p:txBody>
      </p:sp>
      <p:sp>
        <p:nvSpPr>
          <p:cNvPr id="9" name="Text 6"/>
          <p:cNvSpPr/>
          <p:nvPr/>
        </p:nvSpPr>
        <p:spPr>
          <a:xfrm>
            <a:off x="5623560" y="1956816"/>
            <a:ext cx="1280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666666"/>
                </a:solidFill>
                <a:latin typeface="Microsoft YaHei" pitchFamily="34" charset="0"/>
                <a:ea typeface="Microsoft YaHei" pitchFamily="34" charset="-122"/>
                <a:cs typeface="Microsoft YaHei" pitchFamily="34" charset="-120"/>
              </a:rPr>
              <a:t>Changes</a:t>
            </a:r>
            <a:endParaRPr lang="en-US" sz="1152" dirty="0"/>
          </a:p>
        </p:txBody>
      </p:sp>
      <p:sp>
        <p:nvSpPr>
          <p:cNvPr id="10" name="Shape 7"/>
          <p:cNvSpPr/>
          <p:nvPr/>
        </p:nvSpPr>
        <p:spPr>
          <a:xfrm>
            <a:off x="5577840" y="2377440"/>
            <a:ext cx="2926080" cy="402336"/>
          </a:xfrm>
          <a:custGeom>
            <a:avLst/>
            <a:gdLst/>
            <a:ahLst/>
            <a:cxnLst/>
            <a:rect l="l" t="t" r="r" b="b"/>
            <a:pathLst>
              <a:path w="2926080" h="402336">
                <a:moveTo>
                  <a:pt x="0" y="0"/>
                </a:moveTo>
                <a:lnTo>
                  <a:pt x="2926080" y="0"/>
                </a:lnTo>
                <a:lnTo>
                  <a:pt x="2926080" y="402336"/>
                </a:lnTo>
                <a:lnTo>
                  <a:pt x="0" y="402336"/>
                </a:lnTo>
                <a:close/>
              </a:path>
            </a:pathLst>
          </a:custGeom>
          <a:solidFill>
            <a:srgbClr val="FFFFFF"/>
          </a:solidFill>
          <a:ln/>
        </p:spPr>
      </p:sp>
      <p:sp>
        <p:nvSpPr>
          <p:cNvPr id="11" name="Text 8"/>
          <p:cNvSpPr/>
          <p:nvPr/>
        </p:nvSpPr>
        <p:spPr>
          <a:xfrm>
            <a:off x="5669280" y="2377440"/>
            <a:ext cx="21031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index.html</a:t>
            </a:r>
            <a:endParaRPr lang="en-US" sz="1152" dirty="0"/>
          </a:p>
        </p:txBody>
      </p:sp>
      <p:sp>
        <p:nvSpPr>
          <p:cNvPr id="12" name="Text 9"/>
          <p:cNvSpPr/>
          <p:nvPr/>
        </p:nvSpPr>
        <p:spPr>
          <a:xfrm>
            <a:off x="7772400" y="2377440"/>
            <a:ext cx="64008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C62828"/>
                </a:solidFill>
                <a:latin typeface="Microsoft YaHei" pitchFamily="34" charset="0"/>
                <a:ea typeface="Microsoft YaHei" pitchFamily="34" charset="-122"/>
                <a:cs typeface="Microsoft YaHei" pitchFamily="34" charset="-120"/>
              </a:rPr>
              <a:t>M</a:t>
            </a:r>
            <a:endParaRPr lang="en-US" sz="1152" dirty="0"/>
          </a:p>
        </p:txBody>
      </p:sp>
      <p:sp>
        <p:nvSpPr>
          <p:cNvPr id="13" name="Shape 10"/>
          <p:cNvSpPr/>
          <p:nvPr/>
        </p:nvSpPr>
        <p:spPr>
          <a:xfrm>
            <a:off x="5577840" y="2816352"/>
            <a:ext cx="2926080" cy="402336"/>
          </a:xfrm>
          <a:custGeom>
            <a:avLst/>
            <a:gdLst/>
            <a:ahLst/>
            <a:cxnLst/>
            <a:rect l="l" t="t" r="r" b="b"/>
            <a:pathLst>
              <a:path w="2926080" h="402336">
                <a:moveTo>
                  <a:pt x="0" y="0"/>
                </a:moveTo>
                <a:lnTo>
                  <a:pt x="2926080" y="0"/>
                </a:lnTo>
                <a:lnTo>
                  <a:pt x="2926080" y="402336"/>
                </a:lnTo>
                <a:lnTo>
                  <a:pt x="0" y="402336"/>
                </a:lnTo>
                <a:close/>
              </a:path>
            </a:pathLst>
          </a:custGeom>
          <a:solidFill>
            <a:srgbClr val="FFFFFF"/>
          </a:solidFill>
          <a:ln/>
        </p:spPr>
      </p:sp>
      <p:sp>
        <p:nvSpPr>
          <p:cNvPr id="14" name="Text 11"/>
          <p:cNvSpPr/>
          <p:nvPr/>
        </p:nvSpPr>
        <p:spPr>
          <a:xfrm>
            <a:off x="5669280" y="2816352"/>
            <a:ext cx="21031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app.js</a:t>
            </a:r>
            <a:endParaRPr lang="en-US" sz="1152" dirty="0"/>
          </a:p>
        </p:txBody>
      </p:sp>
      <p:sp>
        <p:nvSpPr>
          <p:cNvPr id="15" name="Text 12"/>
          <p:cNvSpPr/>
          <p:nvPr/>
        </p:nvSpPr>
        <p:spPr>
          <a:xfrm>
            <a:off x="7772400" y="2816352"/>
            <a:ext cx="64008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C62828"/>
                </a:solidFill>
                <a:latin typeface="Microsoft YaHei" pitchFamily="34" charset="0"/>
                <a:ea typeface="Microsoft YaHei" pitchFamily="34" charset="-122"/>
                <a:cs typeface="Microsoft YaHei" pitchFamily="34" charset="-120"/>
              </a:rPr>
              <a:t>M</a:t>
            </a:r>
            <a:endParaRPr lang="en-US" sz="1152" dirty="0"/>
          </a:p>
        </p:txBody>
      </p:sp>
      <p:sp>
        <p:nvSpPr>
          <p:cNvPr id="16" name="Shape 13"/>
          <p:cNvSpPr/>
          <p:nvPr/>
        </p:nvSpPr>
        <p:spPr>
          <a:xfrm>
            <a:off x="5577840" y="3255264"/>
            <a:ext cx="2926080" cy="402336"/>
          </a:xfrm>
          <a:custGeom>
            <a:avLst/>
            <a:gdLst/>
            <a:ahLst/>
            <a:cxnLst/>
            <a:rect l="l" t="t" r="r" b="b"/>
            <a:pathLst>
              <a:path w="2926080" h="402336">
                <a:moveTo>
                  <a:pt x="0" y="0"/>
                </a:moveTo>
                <a:lnTo>
                  <a:pt x="2926080" y="0"/>
                </a:lnTo>
                <a:lnTo>
                  <a:pt x="2926080" y="402336"/>
                </a:lnTo>
                <a:lnTo>
                  <a:pt x="0" y="402336"/>
                </a:lnTo>
                <a:close/>
              </a:path>
            </a:pathLst>
          </a:custGeom>
          <a:solidFill>
            <a:srgbClr val="FFFFFF"/>
          </a:solidFill>
          <a:ln/>
        </p:spPr>
      </p:sp>
      <p:sp>
        <p:nvSpPr>
          <p:cNvPr id="17" name="Text 14"/>
          <p:cNvSpPr/>
          <p:nvPr/>
        </p:nvSpPr>
        <p:spPr>
          <a:xfrm>
            <a:off x="5669280" y="3255264"/>
            <a:ext cx="21031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style.css</a:t>
            </a:r>
            <a:endParaRPr lang="en-US" sz="1152" dirty="0"/>
          </a:p>
        </p:txBody>
      </p:sp>
      <p:sp>
        <p:nvSpPr>
          <p:cNvPr id="18" name="Text 15"/>
          <p:cNvSpPr/>
          <p:nvPr/>
        </p:nvSpPr>
        <p:spPr>
          <a:xfrm>
            <a:off x="7772400" y="3255264"/>
            <a:ext cx="64008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EF6C00"/>
                </a:solidFill>
                <a:latin typeface="Microsoft YaHei" pitchFamily="34" charset="0"/>
                <a:ea typeface="Microsoft YaHei" pitchFamily="34" charset="-122"/>
                <a:cs typeface="Microsoft YaHei" pitchFamily="34" charset="-120"/>
              </a:rPr>
              <a:t>U</a:t>
            </a:r>
            <a:endParaRPr lang="en-US" sz="1152" dirty="0"/>
          </a:p>
        </p:txBody>
      </p:sp>
      <p:sp>
        <p:nvSpPr>
          <p:cNvPr id="19" name="Text 16"/>
          <p:cNvSpPr/>
          <p:nvPr/>
        </p:nvSpPr>
        <p:spPr>
          <a:xfrm>
            <a:off x="5623560" y="3730752"/>
            <a:ext cx="23774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666666"/>
                </a:solidFill>
                <a:latin typeface="Microsoft YaHei" pitchFamily="34" charset="0"/>
                <a:ea typeface="Microsoft YaHei" pitchFamily="34" charset="-122"/>
                <a:cs typeface="Microsoft YaHei" pitchFamily="34" charset="-120"/>
              </a:rPr>
              <a:t>Staged Changes</a:t>
            </a:r>
            <a:endParaRPr lang="en-US" sz="1152" dirty="0"/>
          </a:p>
        </p:txBody>
      </p:sp>
      <p:sp>
        <p:nvSpPr>
          <p:cNvPr id="20" name="Shape 17"/>
          <p:cNvSpPr/>
          <p:nvPr/>
        </p:nvSpPr>
        <p:spPr>
          <a:xfrm>
            <a:off x="5577840" y="4169664"/>
            <a:ext cx="2926080" cy="402336"/>
          </a:xfrm>
          <a:custGeom>
            <a:avLst/>
            <a:gdLst/>
            <a:ahLst/>
            <a:cxnLst/>
            <a:rect l="l" t="t" r="r" b="b"/>
            <a:pathLst>
              <a:path w="2926080" h="402336">
                <a:moveTo>
                  <a:pt x="0" y="0"/>
                </a:moveTo>
                <a:lnTo>
                  <a:pt x="2926080" y="0"/>
                </a:lnTo>
                <a:lnTo>
                  <a:pt x="2926080" y="402336"/>
                </a:lnTo>
                <a:lnTo>
                  <a:pt x="0" y="402336"/>
                </a:lnTo>
                <a:close/>
              </a:path>
            </a:pathLst>
          </a:custGeom>
          <a:solidFill>
            <a:srgbClr val="FFFFFF"/>
          </a:solidFill>
          <a:ln/>
        </p:spPr>
      </p:sp>
      <p:sp>
        <p:nvSpPr>
          <p:cNvPr id="21" name="Text 18"/>
          <p:cNvSpPr/>
          <p:nvPr/>
        </p:nvSpPr>
        <p:spPr>
          <a:xfrm>
            <a:off x="5669280" y="4169664"/>
            <a:ext cx="21031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README.md</a:t>
            </a:r>
            <a:endParaRPr lang="en-US" sz="1152" dirty="0"/>
          </a:p>
        </p:txBody>
      </p:sp>
      <p:sp>
        <p:nvSpPr>
          <p:cNvPr id="22" name="Text 19"/>
          <p:cNvSpPr/>
          <p:nvPr/>
        </p:nvSpPr>
        <p:spPr>
          <a:xfrm>
            <a:off x="7772400" y="4169664"/>
            <a:ext cx="64008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2E7D32"/>
                </a:solidFill>
                <a:latin typeface="Microsoft YaHei" pitchFamily="34" charset="0"/>
                <a:ea typeface="Microsoft YaHei" pitchFamily="34" charset="-122"/>
                <a:cs typeface="Microsoft YaHei" pitchFamily="34" charset="-120"/>
              </a:rPr>
              <a:t>A</a:t>
            </a:r>
            <a:endParaRPr lang="en-US" sz="1152"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Clone a Repository</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463040"/>
            <a:ext cx="2286000" cy="1097280"/>
          </a:xfrm>
          <a:custGeom>
            <a:avLst/>
            <a:gdLst/>
            <a:ahLst/>
            <a:cxnLst/>
            <a:rect l="l" t="t" r="r" b="b"/>
            <a:pathLst>
              <a:path w="2286000" h="1097280">
                <a:moveTo>
                  <a:pt x="0" y="0"/>
                </a:moveTo>
                <a:lnTo>
                  <a:pt x="2286000" y="0"/>
                </a:lnTo>
                <a:lnTo>
                  <a:pt x="2286000" y="1097280"/>
                </a:lnTo>
                <a:lnTo>
                  <a:pt x="0" y="1097280"/>
                </a:lnTo>
                <a:close/>
              </a:path>
            </a:pathLst>
          </a:custGeom>
          <a:solidFill>
            <a:srgbClr val="DBEAFE"/>
          </a:solidFill>
          <a:ln/>
        </p:spPr>
      </p:sp>
      <p:sp>
        <p:nvSpPr>
          <p:cNvPr id="6" name="Shape 3"/>
          <p:cNvSpPr/>
          <p:nvPr/>
        </p:nvSpPr>
        <p:spPr>
          <a:xfrm>
            <a:off x="3474720" y="1463040"/>
            <a:ext cx="2286000" cy="1097280"/>
          </a:xfrm>
          <a:custGeom>
            <a:avLst/>
            <a:gdLst/>
            <a:ahLst/>
            <a:cxnLst/>
            <a:rect l="l" t="t" r="r" b="b"/>
            <a:pathLst>
              <a:path w="2286000" h="1097280">
                <a:moveTo>
                  <a:pt x="0" y="0"/>
                </a:moveTo>
                <a:lnTo>
                  <a:pt x="2286000" y="0"/>
                </a:lnTo>
                <a:lnTo>
                  <a:pt x="2286000" y="1097280"/>
                </a:lnTo>
                <a:lnTo>
                  <a:pt x="0" y="1097280"/>
                </a:lnTo>
                <a:close/>
              </a:path>
            </a:pathLst>
          </a:custGeom>
          <a:solidFill>
            <a:srgbClr val="DCFCE7"/>
          </a:solidFill>
          <a:ln/>
        </p:spPr>
      </p:sp>
      <p:sp>
        <p:nvSpPr>
          <p:cNvPr id="7" name="Shape 4"/>
          <p:cNvSpPr/>
          <p:nvPr/>
        </p:nvSpPr>
        <p:spPr>
          <a:xfrm>
            <a:off x="6400800" y="1463040"/>
            <a:ext cx="2286000" cy="1097280"/>
          </a:xfrm>
          <a:custGeom>
            <a:avLst/>
            <a:gdLst/>
            <a:ahLst/>
            <a:cxnLst/>
            <a:rect l="l" t="t" r="r" b="b"/>
            <a:pathLst>
              <a:path w="2286000" h="1097280">
                <a:moveTo>
                  <a:pt x="0" y="0"/>
                </a:moveTo>
                <a:lnTo>
                  <a:pt x="2286000" y="0"/>
                </a:lnTo>
                <a:lnTo>
                  <a:pt x="2286000" y="1097280"/>
                </a:lnTo>
                <a:lnTo>
                  <a:pt x="0" y="1097280"/>
                </a:lnTo>
                <a:close/>
              </a:path>
            </a:pathLst>
          </a:custGeom>
          <a:solidFill>
            <a:srgbClr val="FEF3C7"/>
          </a:solidFill>
          <a:ln/>
        </p:spPr>
      </p:sp>
      <p:sp>
        <p:nvSpPr>
          <p:cNvPr id="8" name="Shape 5"/>
          <p:cNvSpPr/>
          <p:nvPr/>
        </p:nvSpPr>
        <p:spPr>
          <a:xfrm>
            <a:off x="2852928" y="2011680"/>
            <a:ext cx="530352" cy="0"/>
          </a:xfrm>
          <a:custGeom>
            <a:avLst/>
            <a:gdLst/>
            <a:ahLst/>
            <a:cxnLst/>
            <a:rect l="l" t="t" r="r" b="b"/>
            <a:pathLst>
              <a:path w="530352" h="0">
                <a:moveTo>
                  <a:pt x="0" y="0"/>
                </a:moveTo>
                <a:lnTo>
                  <a:pt x="530352" y="0"/>
                </a:lnTo>
              </a:path>
            </a:pathLst>
          </a:custGeom>
          <a:noFill/>
          <a:ln w="27432">
            <a:solidFill>
              <a:srgbClr val="5B9BD5"/>
            </a:solidFill>
            <a:prstDash val="solid"/>
            <a:headEnd type="none"/>
            <a:tailEnd type="arrow"/>
          </a:ln>
        </p:spPr>
      </p:sp>
      <p:sp>
        <p:nvSpPr>
          <p:cNvPr id="9" name="Shape 6"/>
          <p:cNvSpPr/>
          <p:nvPr/>
        </p:nvSpPr>
        <p:spPr>
          <a:xfrm>
            <a:off x="5779008" y="2011680"/>
            <a:ext cx="530352" cy="0"/>
          </a:xfrm>
          <a:custGeom>
            <a:avLst/>
            <a:gdLst/>
            <a:ahLst/>
            <a:cxnLst/>
            <a:rect l="l" t="t" r="r" b="b"/>
            <a:pathLst>
              <a:path w="530352" h="0">
                <a:moveTo>
                  <a:pt x="0" y="0"/>
                </a:moveTo>
                <a:lnTo>
                  <a:pt x="530352" y="0"/>
                </a:lnTo>
              </a:path>
            </a:pathLst>
          </a:custGeom>
          <a:noFill/>
          <a:ln w="27432">
            <a:solidFill>
              <a:srgbClr val="5B9BD5"/>
            </a:solidFill>
            <a:prstDash val="solid"/>
            <a:headEnd type="none"/>
            <a:tailEnd type="arrow"/>
          </a:ln>
        </p:spPr>
      </p:sp>
      <p:sp>
        <p:nvSpPr>
          <p:cNvPr id="10" name="Text 7"/>
          <p:cNvSpPr/>
          <p:nvPr/>
        </p:nvSpPr>
        <p:spPr>
          <a:xfrm>
            <a:off x="731520" y="1719072"/>
            <a:ext cx="19202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40AF"/>
                </a:solidFill>
                <a:latin typeface="Microsoft YaHei" pitchFamily="34" charset="0"/>
                <a:ea typeface="Microsoft YaHei" pitchFamily="34" charset="-122"/>
                <a:cs typeface="Microsoft YaHei" pitchFamily="34" charset="-120"/>
              </a:rPr>
              <a:t>1 · On GitHub</a:t>
            </a:r>
            <a:endParaRPr lang="en-US" sz="1152" dirty="0"/>
          </a:p>
          <a:p>
            <a:pPr algn="ctr" indent="0" marL="0">
              <a:lnSpc>
                <a:spcPct val="120000"/>
              </a:lnSpc>
              <a:spcBef>
                <a:spcPts val="360"/>
              </a:spcBef>
              <a:buNone/>
            </a:pPr>
            <a:r>
              <a:rPr lang="en-US" sz="1008" dirty="0">
                <a:solidFill>
                  <a:srgbClr val="1E40AF"/>
                </a:solidFill>
                <a:latin typeface="Microsoft YaHei" pitchFamily="34" charset="0"/>
                <a:ea typeface="Microsoft YaHei" pitchFamily="34" charset="-122"/>
                <a:cs typeface="Microsoft YaHei" pitchFamily="34" charset="-120"/>
              </a:rPr>
              <a:t>Copy the URL</a:t>
            </a:r>
            <a:endParaRPr lang="en-US" sz="1152" dirty="0"/>
          </a:p>
        </p:txBody>
      </p:sp>
      <p:sp>
        <p:nvSpPr>
          <p:cNvPr id="11" name="Text 8"/>
          <p:cNvSpPr/>
          <p:nvPr/>
        </p:nvSpPr>
        <p:spPr>
          <a:xfrm>
            <a:off x="3657600" y="1719072"/>
            <a:ext cx="19202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66534"/>
                </a:solidFill>
                <a:latin typeface="Microsoft YaHei" pitchFamily="34" charset="0"/>
                <a:ea typeface="Microsoft YaHei" pitchFamily="34" charset="-122"/>
                <a:cs typeface="Microsoft YaHei" pitchFamily="34" charset="-120"/>
              </a:rPr>
              <a:t>2 · VS Code</a:t>
            </a:r>
            <a:endParaRPr lang="en-US" sz="1152" dirty="0"/>
          </a:p>
          <a:p>
            <a:pPr algn="ctr" indent="0" marL="0">
              <a:lnSpc>
                <a:spcPct val="120000"/>
              </a:lnSpc>
              <a:spcBef>
                <a:spcPts val="360"/>
              </a:spcBef>
              <a:buNone/>
            </a:pPr>
            <a:r>
              <a:rPr lang="en-US" sz="1008" dirty="0">
                <a:solidFill>
                  <a:srgbClr val="166534"/>
                </a:solidFill>
                <a:latin typeface="Microsoft YaHei" pitchFamily="34" charset="0"/>
                <a:ea typeface="Microsoft YaHei" pitchFamily="34" charset="-122"/>
                <a:cs typeface="Microsoft YaHei" pitchFamily="34" charset="-120"/>
              </a:rPr>
              <a:t>Clone Repo</a:t>
            </a:r>
            <a:endParaRPr lang="en-US" sz="1152" dirty="0"/>
          </a:p>
        </p:txBody>
      </p:sp>
      <p:sp>
        <p:nvSpPr>
          <p:cNvPr id="12" name="Text 9"/>
          <p:cNvSpPr/>
          <p:nvPr/>
        </p:nvSpPr>
        <p:spPr>
          <a:xfrm>
            <a:off x="6583680" y="1719072"/>
            <a:ext cx="192024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92400E"/>
                </a:solidFill>
                <a:latin typeface="Microsoft YaHei" pitchFamily="34" charset="0"/>
                <a:ea typeface="Microsoft YaHei" pitchFamily="34" charset="-122"/>
                <a:cs typeface="Microsoft YaHei" pitchFamily="34" charset="-120"/>
              </a:rPr>
              <a:t>3 · Folder</a:t>
            </a:r>
            <a:endParaRPr lang="en-US" sz="1152" dirty="0"/>
          </a:p>
          <a:p>
            <a:pPr algn="ctr" indent="0" marL="0">
              <a:lnSpc>
                <a:spcPct val="120000"/>
              </a:lnSpc>
              <a:spcBef>
                <a:spcPts val="360"/>
              </a:spcBef>
              <a:buNone/>
            </a:pPr>
            <a:r>
              <a:rPr lang="en-US" sz="1008" dirty="0">
                <a:solidFill>
                  <a:srgbClr val="92400E"/>
                </a:solidFill>
                <a:latin typeface="Microsoft YaHei" pitchFamily="34" charset="0"/>
                <a:ea typeface="Microsoft YaHei" pitchFamily="34" charset="-122"/>
                <a:cs typeface="Microsoft YaHei" pitchFamily="34" charset="-120"/>
              </a:rPr>
              <a:t>Open the Repo</a:t>
            </a:r>
            <a:endParaRPr lang="en-US" sz="1152" dirty="0"/>
          </a:p>
        </p:txBody>
      </p:sp>
      <p:sp>
        <p:nvSpPr>
          <p:cNvPr id="13" name="Shape 10"/>
          <p:cNvSpPr/>
          <p:nvPr/>
        </p:nvSpPr>
        <p:spPr>
          <a:xfrm>
            <a:off x="548640" y="2788920"/>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E0F2FE"/>
          </a:solidFill>
          <a:ln/>
        </p:spPr>
      </p:sp>
      <p:sp>
        <p:nvSpPr>
          <p:cNvPr id="14" name="Text 11"/>
          <p:cNvSpPr/>
          <p:nvPr/>
        </p:nvSpPr>
        <p:spPr>
          <a:xfrm>
            <a:off x="731520" y="2852928"/>
            <a:ext cx="768096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0C4A6E"/>
                </a:solidFill>
                <a:latin typeface="Microsoft YaHei" pitchFamily="34" charset="0"/>
                <a:ea typeface="Microsoft YaHei" pitchFamily="34" charset="-122"/>
                <a:cs typeface="Microsoft YaHei" pitchFamily="34" charset="-120"/>
              </a:rPr>
              <a:t>CLONE = download the full repository + its history</a:t>
            </a:r>
            <a:endParaRPr lang="en-US" sz="1152" dirty="0"/>
          </a:p>
        </p:txBody>
      </p:sp>
      <p:sp>
        <p:nvSpPr>
          <p:cNvPr id="15" name="Shape 12"/>
          <p:cNvSpPr/>
          <p:nvPr/>
        </p:nvSpPr>
        <p:spPr>
          <a:xfrm>
            <a:off x="548640" y="3611880"/>
            <a:ext cx="3931920" cy="1005840"/>
          </a:xfrm>
          <a:custGeom>
            <a:avLst/>
            <a:gdLst/>
            <a:ahLst/>
            <a:cxnLst/>
            <a:rect l="l" t="t" r="r" b="b"/>
            <a:pathLst>
              <a:path w="3931920" h="1005840">
                <a:moveTo>
                  <a:pt x="0" y="0"/>
                </a:moveTo>
                <a:lnTo>
                  <a:pt x="3931920" y="0"/>
                </a:lnTo>
                <a:lnTo>
                  <a:pt x="3931920" y="1005840"/>
                </a:lnTo>
                <a:lnTo>
                  <a:pt x="0" y="1005840"/>
                </a:lnTo>
                <a:close/>
              </a:path>
            </a:pathLst>
          </a:custGeom>
          <a:solidFill>
            <a:srgbClr val="FEE2E2"/>
          </a:solidFill>
          <a:ln/>
        </p:spPr>
      </p:sp>
      <p:sp>
        <p:nvSpPr>
          <p:cNvPr id="16" name="Shape 13"/>
          <p:cNvSpPr/>
          <p:nvPr/>
        </p:nvSpPr>
        <p:spPr>
          <a:xfrm>
            <a:off x="4663440" y="3611880"/>
            <a:ext cx="3931920" cy="1005840"/>
          </a:xfrm>
          <a:custGeom>
            <a:avLst/>
            <a:gdLst/>
            <a:ahLst/>
            <a:cxnLst/>
            <a:rect l="l" t="t" r="r" b="b"/>
            <a:pathLst>
              <a:path w="3931920" h="1005840">
                <a:moveTo>
                  <a:pt x="0" y="0"/>
                </a:moveTo>
                <a:lnTo>
                  <a:pt x="3931920" y="0"/>
                </a:lnTo>
                <a:lnTo>
                  <a:pt x="3931920" y="1005840"/>
                </a:lnTo>
                <a:lnTo>
                  <a:pt x="0" y="1005840"/>
                </a:lnTo>
                <a:close/>
              </a:path>
            </a:pathLst>
          </a:custGeom>
          <a:solidFill>
            <a:srgbClr val="F1F5F9"/>
          </a:solidFill>
          <a:ln/>
        </p:spPr>
      </p:sp>
      <p:sp>
        <p:nvSpPr>
          <p:cNvPr id="17" name="Text 14"/>
          <p:cNvSpPr/>
          <p:nvPr/>
        </p:nvSpPr>
        <p:spPr>
          <a:xfrm>
            <a:off x="731520" y="3630168"/>
            <a:ext cx="3566160" cy="96926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991B1B"/>
                </a:solidFill>
                <a:latin typeface="Microsoft YaHei" pitchFamily="34" charset="0"/>
                <a:ea typeface="Microsoft YaHei" pitchFamily="34" charset="-122"/>
                <a:cs typeface="Microsoft YaHei" pitchFamily="34" charset="-120"/>
              </a:rPr>
              <a:t>CLONE</a:t>
            </a:r>
            <a:endParaRPr lang="en-US" sz="1152" dirty="0"/>
          </a:p>
          <a:p>
            <a:pPr algn="l" indent="0" marL="0">
              <a:lnSpc>
                <a:spcPct val="120000"/>
              </a:lnSpc>
              <a:spcBef>
                <a:spcPts val="360"/>
              </a:spcBef>
              <a:buNone/>
            </a:pPr>
            <a:r>
              <a:rPr lang="en-US" sz="1008" dirty="0">
                <a:solidFill>
                  <a:srgbClr val="991B1B"/>
                </a:solidFill>
                <a:latin typeface="Microsoft YaHei" pitchFamily="34" charset="0"/>
                <a:ea typeface="Microsoft YaHei" pitchFamily="34" charset="-122"/>
                <a:cs typeface="Microsoft YaHei" pitchFamily="34" charset="-120"/>
              </a:rPr>
              <a:t>• Full Git history</a:t>
            </a:r>
            <a:endParaRPr lang="en-US" sz="1152" dirty="0"/>
          </a:p>
          <a:p>
            <a:pPr algn="l" indent="0" marL="0">
              <a:lnSpc>
                <a:spcPct val="120000"/>
              </a:lnSpc>
              <a:spcBef>
                <a:spcPts val="360"/>
              </a:spcBef>
              <a:buNone/>
            </a:pPr>
            <a:r>
              <a:rPr lang="en-US" sz="1008" dirty="0">
                <a:solidFill>
                  <a:srgbClr val="991B1B"/>
                </a:solidFill>
                <a:latin typeface="Microsoft YaHei" pitchFamily="34" charset="0"/>
                <a:ea typeface="Microsoft YaHei" pitchFamily="34" charset="-122"/>
                <a:cs typeface="Microsoft YaHei" pitchFamily="34" charset="-120"/>
              </a:rPr>
              <a:t>• Can commit and push</a:t>
            </a:r>
            <a:endParaRPr lang="en-US" sz="1152" dirty="0"/>
          </a:p>
          <a:p>
            <a:pPr algn="l" indent="0" marL="0">
              <a:lnSpc>
                <a:spcPct val="120000"/>
              </a:lnSpc>
              <a:spcBef>
                <a:spcPts val="360"/>
              </a:spcBef>
              <a:buNone/>
            </a:pPr>
            <a:r>
              <a:rPr lang="en-US" sz="1008" dirty="0">
                <a:solidFill>
                  <a:srgbClr val="991B1B"/>
                </a:solidFill>
                <a:latin typeface="Microsoft YaHei" pitchFamily="34" charset="0"/>
                <a:ea typeface="Microsoft YaHei" pitchFamily="34" charset="-122"/>
                <a:cs typeface="Microsoft YaHei" pitchFamily="34" charset="-120"/>
              </a:rPr>
              <a:t>• Works with Git</a:t>
            </a:r>
            <a:endParaRPr lang="en-US" sz="1152" dirty="0"/>
          </a:p>
        </p:txBody>
      </p:sp>
      <p:sp>
        <p:nvSpPr>
          <p:cNvPr id="18" name="Text 15"/>
          <p:cNvSpPr/>
          <p:nvPr/>
        </p:nvSpPr>
        <p:spPr>
          <a:xfrm>
            <a:off x="4846320" y="3630168"/>
            <a:ext cx="3566160" cy="96926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DOWNLOAD ZIP</a:t>
            </a:r>
            <a:endParaRPr lang="en-US" sz="1152" dirty="0"/>
          </a:p>
          <a:p>
            <a:pPr algn="l"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Just one snapshot</a:t>
            </a:r>
            <a:endParaRPr lang="en-US" sz="1152" dirty="0"/>
          </a:p>
          <a:p>
            <a:pPr algn="l"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No history</a:t>
            </a:r>
            <a:endParaRPr lang="en-US" sz="1152" dirty="0"/>
          </a:p>
          <a:p>
            <a:pPr algn="l"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Not linked to Git</a:t>
            </a:r>
            <a:endParaRPr lang="en-US" sz="1152"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2937"/>
                </a:solidFill>
                <a:latin typeface="Microsoft YaHei" pitchFamily="34" charset="0"/>
                <a:ea typeface="Microsoft YaHei" pitchFamily="34" charset="-122"/>
                <a:cs typeface="Microsoft YaHei" pitchFamily="34" charset="-120"/>
              </a:rPr>
              <a:t>Make a Change</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B82F6"/>
          </a:solidFill>
          <a:ln/>
        </p:spPr>
      </p:sp>
      <p:sp>
        <p:nvSpPr>
          <p:cNvPr id="5" name="Text 2"/>
          <p:cNvSpPr/>
          <p:nvPr/>
        </p:nvSpPr>
        <p:spPr>
          <a:xfrm>
            <a:off x="548640" y="1307592"/>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Project: hello-git/main.c</a:t>
            </a:r>
            <a:endParaRPr lang="en-US" sz="1152" dirty="0"/>
          </a:p>
        </p:txBody>
      </p:sp>
      <p:sp>
        <p:nvSpPr>
          <p:cNvPr id="6" name="Text 3"/>
          <p:cNvSpPr/>
          <p:nvPr/>
        </p:nvSpPr>
        <p:spPr>
          <a:xfrm>
            <a:off x="548640" y="1865376"/>
            <a:ext cx="36576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Before: main.c</a:t>
            </a:r>
            <a:endParaRPr lang="en-US" sz="1152" dirty="0"/>
          </a:p>
        </p:txBody>
      </p:sp>
      <p:sp>
        <p:nvSpPr>
          <p:cNvPr id="7" name="Text 4"/>
          <p:cNvSpPr/>
          <p:nvPr/>
        </p:nvSpPr>
        <p:spPr>
          <a:xfrm>
            <a:off x="4937760" y="1865376"/>
            <a:ext cx="365760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After: main.c</a:t>
            </a:r>
            <a:endParaRPr lang="en-US" sz="1152" dirty="0"/>
          </a:p>
        </p:txBody>
      </p:sp>
      <p:sp>
        <p:nvSpPr>
          <p:cNvPr id="8" name="Shape 5"/>
          <p:cNvSpPr/>
          <p:nvPr/>
        </p:nvSpPr>
        <p:spPr>
          <a:xfrm>
            <a:off x="548640" y="2286000"/>
            <a:ext cx="3657600" cy="1161288"/>
          </a:xfrm>
          <a:custGeom>
            <a:avLst/>
            <a:gdLst/>
            <a:ahLst/>
            <a:cxnLst/>
            <a:rect l="l" t="t" r="r" b="b"/>
            <a:pathLst>
              <a:path w="3657600" h="1161288">
                <a:moveTo>
                  <a:pt x="0" y="0"/>
                </a:moveTo>
                <a:lnTo>
                  <a:pt x="3657600" y="0"/>
                </a:lnTo>
                <a:lnTo>
                  <a:pt x="3657600" y="1161288"/>
                </a:lnTo>
                <a:lnTo>
                  <a:pt x="0" y="1161288"/>
                </a:lnTo>
                <a:close/>
              </a:path>
            </a:pathLst>
          </a:custGeom>
          <a:solidFill>
            <a:srgbClr val="F1F5F9"/>
          </a:solidFill>
          <a:ln/>
        </p:spPr>
      </p:sp>
      <p:sp>
        <p:nvSpPr>
          <p:cNvPr id="9" name="Shape 6"/>
          <p:cNvSpPr/>
          <p:nvPr/>
        </p:nvSpPr>
        <p:spPr>
          <a:xfrm>
            <a:off x="4937760" y="2286000"/>
            <a:ext cx="3657600" cy="1161288"/>
          </a:xfrm>
          <a:custGeom>
            <a:avLst/>
            <a:gdLst/>
            <a:ahLst/>
            <a:cxnLst/>
            <a:rect l="l" t="t" r="r" b="b"/>
            <a:pathLst>
              <a:path w="3657600" h="1161288">
                <a:moveTo>
                  <a:pt x="0" y="0"/>
                </a:moveTo>
                <a:lnTo>
                  <a:pt x="3657600" y="0"/>
                </a:lnTo>
                <a:lnTo>
                  <a:pt x="3657600" y="1161288"/>
                </a:lnTo>
                <a:lnTo>
                  <a:pt x="0" y="1161288"/>
                </a:lnTo>
                <a:close/>
              </a:path>
            </a:pathLst>
          </a:custGeom>
          <a:solidFill>
            <a:srgbClr val="FFF5F5"/>
          </a:solidFill>
          <a:ln/>
        </p:spPr>
      </p:sp>
      <p:sp>
        <p:nvSpPr>
          <p:cNvPr id="10" name="Shape 7"/>
          <p:cNvSpPr/>
          <p:nvPr/>
        </p:nvSpPr>
        <p:spPr>
          <a:xfrm>
            <a:off x="4937760" y="2761488"/>
            <a:ext cx="3657600" cy="192024"/>
          </a:xfrm>
          <a:custGeom>
            <a:avLst/>
            <a:gdLst/>
            <a:ahLst/>
            <a:cxnLst/>
            <a:rect l="l" t="t" r="r" b="b"/>
            <a:pathLst>
              <a:path w="3657600" h="192024">
                <a:moveTo>
                  <a:pt x="0" y="0"/>
                </a:moveTo>
                <a:lnTo>
                  <a:pt x="3657600" y="0"/>
                </a:lnTo>
                <a:lnTo>
                  <a:pt x="3657600" y="192024"/>
                </a:lnTo>
                <a:lnTo>
                  <a:pt x="0" y="192024"/>
                </a:lnTo>
                <a:close/>
              </a:path>
            </a:pathLst>
          </a:custGeom>
          <a:solidFill>
            <a:srgbClr val="FEE2E2"/>
          </a:solidFill>
          <a:ln/>
        </p:spPr>
      </p:sp>
      <p:sp>
        <p:nvSpPr>
          <p:cNvPr id="11" name="Text 8"/>
          <p:cNvSpPr/>
          <p:nvPr/>
        </p:nvSpPr>
        <p:spPr>
          <a:xfrm>
            <a:off x="548640" y="2286000"/>
            <a:ext cx="3657600" cy="11612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#include &lt;stdio.h&gt;</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int main() {</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  printf("Hello World!\n");</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  return 0;</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a:t>
            </a:r>
            <a:endParaRPr lang="en-US" sz="1152" dirty="0"/>
          </a:p>
        </p:txBody>
      </p:sp>
      <p:sp>
        <p:nvSpPr>
          <p:cNvPr id="12" name="Text 9"/>
          <p:cNvSpPr/>
          <p:nvPr/>
        </p:nvSpPr>
        <p:spPr>
          <a:xfrm>
            <a:off x="4937760" y="2286000"/>
            <a:ext cx="3657600" cy="11612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#include &lt;stdio.h&gt;</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int main() {</a:t>
            </a:r>
            <a:endParaRPr lang="en-US" sz="1152" dirty="0"/>
          </a:p>
          <a:p>
            <a:pPr indent="0" marL="0">
              <a:lnSpc>
                <a:spcPct val="120000"/>
              </a:lnSpc>
              <a:spcBef>
                <a:spcPts val="360"/>
              </a:spcBef>
              <a:buNone/>
            </a:pPr>
            <a:r>
              <a:rPr lang="en-US" sz="1008" dirty="0">
                <a:solidFill>
                  <a:srgbClr val="DC2626"/>
                </a:solidFill>
                <a:latin typeface="Courier New, monospace" pitchFamily="34" charset="0"/>
                <a:ea typeface="Courier New, monospace" pitchFamily="34" charset="-122"/>
                <a:cs typeface="Courier New, monospace" pitchFamily="34" charset="-120"/>
              </a:rPr>
              <a:t>  printf("Hello Git!\n");</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  return 0;</a:t>
            </a:r>
            <a:endParaRPr lang="en-US" sz="1152" dirty="0"/>
          </a:p>
          <a:p>
            <a:pPr indent="0" marL="0">
              <a:lnSpc>
                <a:spcPct val="120000"/>
              </a:lnSpc>
              <a:spcBef>
                <a:spcPts val="360"/>
              </a:spcBef>
              <a:buNone/>
            </a:pPr>
            <a:r>
              <a:rPr lang="en-US" sz="1008" dirty="0">
                <a:solidFill>
                  <a:srgbClr val="1F2937"/>
                </a:solidFill>
                <a:latin typeface="Courier New, monospace" pitchFamily="34" charset="0"/>
                <a:ea typeface="Courier New, monospace" pitchFamily="34" charset="-122"/>
                <a:cs typeface="Courier New, monospace" pitchFamily="34" charset="-120"/>
              </a:rPr>
              <a:t>}</a:t>
            </a:r>
            <a:endParaRPr lang="en-US" sz="1152" dirty="0"/>
          </a:p>
        </p:txBody>
      </p:sp>
      <p:sp>
        <p:nvSpPr>
          <p:cNvPr id="13" name="Shape 10"/>
          <p:cNvSpPr/>
          <p:nvPr/>
        </p:nvSpPr>
        <p:spPr>
          <a:xfrm>
            <a:off x="4242816" y="2871216"/>
            <a:ext cx="676656" cy="0"/>
          </a:xfrm>
          <a:custGeom>
            <a:avLst/>
            <a:gdLst/>
            <a:ahLst/>
            <a:cxnLst/>
            <a:rect l="l" t="t" r="r" b="b"/>
            <a:pathLst>
              <a:path w="676656" h="0">
                <a:moveTo>
                  <a:pt x="0" y="0"/>
                </a:moveTo>
                <a:lnTo>
                  <a:pt x="676656" y="0"/>
                </a:lnTo>
              </a:path>
            </a:pathLst>
          </a:custGeom>
          <a:noFill/>
          <a:ln w="27432">
            <a:solidFill>
              <a:srgbClr val="3B82F6"/>
            </a:solidFill>
            <a:prstDash val="solid"/>
            <a:headEnd type="none"/>
            <a:tailEnd type="arrow"/>
          </a:ln>
        </p:spPr>
      </p:sp>
      <p:sp>
        <p:nvSpPr>
          <p:cNvPr id="14" name="Shape 11"/>
          <p:cNvSpPr/>
          <p:nvPr/>
        </p:nvSpPr>
        <p:spPr>
          <a:xfrm>
            <a:off x="548640" y="3840480"/>
            <a:ext cx="3749040" cy="731520"/>
          </a:xfrm>
          <a:custGeom>
            <a:avLst/>
            <a:gdLst/>
            <a:ahLst/>
            <a:cxnLst/>
            <a:rect l="l" t="t" r="r" b="b"/>
            <a:pathLst>
              <a:path w="3749040" h="731520">
                <a:moveTo>
                  <a:pt x="0" y="0"/>
                </a:moveTo>
                <a:lnTo>
                  <a:pt x="3749040" y="0"/>
                </a:lnTo>
                <a:lnTo>
                  <a:pt x="3749040" y="731520"/>
                </a:lnTo>
                <a:lnTo>
                  <a:pt x="0" y="731520"/>
                </a:lnTo>
                <a:close/>
              </a:path>
            </a:pathLst>
          </a:custGeom>
          <a:solidFill>
            <a:srgbClr val="DCFCE7"/>
          </a:solidFill>
          <a:ln/>
        </p:spPr>
      </p:sp>
      <p:sp>
        <p:nvSpPr>
          <p:cNvPr id="15" name="Shape 12"/>
          <p:cNvSpPr/>
          <p:nvPr/>
        </p:nvSpPr>
        <p:spPr>
          <a:xfrm>
            <a:off x="4846320" y="3840480"/>
            <a:ext cx="3749040" cy="731520"/>
          </a:xfrm>
          <a:custGeom>
            <a:avLst/>
            <a:gdLst/>
            <a:ahLst/>
            <a:cxnLst/>
            <a:rect l="l" t="t" r="r" b="b"/>
            <a:pathLst>
              <a:path w="3749040" h="731520">
                <a:moveTo>
                  <a:pt x="0" y="0"/>
                </a:moveTo>
                <a:lnTo>
                  <a:pt x="3749040" y="0"/>
                </a:lnTo>
                <a:lnTo>
                  <a:pt x="3749040" y="731520"/>
                </a:lnTo>
                <a:lnTo>
                  <a:pt x="0" y="731520"/>
                </a:lnTo>
                <a:close/>
              </a:path>
            </a:pathLst>
          </a:custGeom>
          <a:solidFill>
            <a:srgbClr val="FEF3C7"/>
          </a:solidFill>
          <a:ln/>
        </p:spPr>
      </p:sp>
      <p:sp>
        <p:nvSpPr>
          <p:cNvPr id="16" name="Text 13"/>
          <p:cNvSpPr/>
          <p:nvPr/>
        </p:nvSpPr>
        <p:spPr>
          <a:xfrm>
            <a:off x="731520" y="3995928"/>
            <a:ext cx="3383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66534"/>
                </a:solidFill>
                <a:latin typeface="Microsoft YaHei" pitchFamily="34" charset="0"/>
                <a:ea typeface="Microsoft YaHei" pitchFamily="34" charset="-122"/>
                <a:cs typeface="Microsoft YaHei" pitchFamily="34" charset="-120"/>
              </a:rPr>
              <a:t>VS Code: file modified</a:t>
            </a:r>
            <a:endParaRPr lang="en-US" sz="1152" dirty="0"/>
          </a:p>
        </p:txBody>
      </p:sp>
      <p:sp>
        <p:nvSpPr>
          <p:cNvPr id="17" name="Text 14"/>
          <p:cNvSpPr/>
          <p:nvPr/>
        </p:nvSpPr>
        <p:spPr>
          <a:xfrm>
            <a:off x="5029200" y="3995928"/>
            <a:ext cx="3383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92400E"/>
                </a:solidFill>
                <a:latin typeface="Microsoft YaHei" pitchFamily="34" charset="0"/>
                <a:ea typeface="Microsoft YaHei" pitchFamily="34" charset="-122"/>
                <a:cs typeface="Microsoft YaHei" pitchFamily="34" charset="-120"/>
              </a:rPr>
              <a:t>Not committed yet</a:t>
            </a:r>
            <a:endParaRPr lang="en-US" sz="1152"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Source Control in VS Code</a:t>
            </a:r>
            <a:endParaRPr lang="en-US" sz="1152" dirty="0"/>
          </a:p>
        </p:txBody>
      </p:sp>
      <p:sp>
        <p:nvSpPr>
          <p:cNvPr id="4" name="Text 1"/>
          <p:cNvSpPr/>
          <p:nvPr/>
        </p:nvSpPr>
        <p:spPr>
          <a:xfrm>
            <a:off x="548640" y="1207008"/>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555555"/>
                </a:solidFill>
                <a:latin typeface="Microsoft YaHei" pitchFamily="34" charset="0"/>
                <a:ea typeface="Microsoft YaHei" pitchFamily="34" charset="-122"/>
                <a:cs typeface="Microsoft YaHei" pitchFamily="34" charset="-120"/>
              </a:rPr>
              <a:t>Common file status indicators</a:t>
            </a:r>
            <a:endParaRPr lang="en-US" sz="1152" dirty="0"/>
          </a:p>
        </p:txBody>
      </p:sp>
      <p:sp>
        <p:nvSpPr>
          <p:cNvPr id="5" name="Shape 2"/>
          <p:cNvSpPr/>
          <p:nvPr/>
        </p:nvSpPr>
        <p:spPr>
          <a:xfrm>
            <a:off x="548640" y="1737360"/>
            <a:ext cx="2560320" cy="1645920"/>
          </a:xfrm>
          <a:custGeom>
            <a:avLst/>
            <a:gdLst/>
            <a:ahLst/>
            <a:cxnLst/>
            <a:rect l="l" t="t" r="r" b="b"/>
            <a:pathLst>
              <a:path w="2560320" h="1645920">
                <a:moveTo>
                  <a:pt x="0" y="0"/>
                </a:moveTo>
                <a:lnTo>
                  <a:pt x="2560320" y="0"/>
                </a:lnTo>
                <a:lnTo>
                  <a:pt x="2560320" y="1645920"/>
                </a:lnTo>
                <a:lnTo>
                  <a:pt x="0" y="1645920"/>
                </a:lnTo>
                <a:close/>
              </a:path>
            </a:pathLst>
          </a:custGeom>
          <a:solidFill>
            <a:srgbClr val="FEF3E2"/>
          </a:solidFill>
          <a:ln/>
        </p:spPr>
      </p:sp>
      <p:sp>
        <p:nvSpPr>
          <p:cNvPr id="6" name="Text 3"/>
          <p:cNvSpPr/>
          <p:nvPr/>
        </p:nvSpPr>
        <p:spPr>
          <a:xfrm>
            <a:off x="731520" y="1965960"/>
            <a:ext cx="2194560" cy="118872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592" b="1" dirty="0">
                <a:solidFill>
                  <a:srgbClr val="B45309"/>
                </a:solidFill>
                <a:latin typeface="Microsoft YaHei" pitchFamily="34" charset="0"/>
                <a:ea typeface="Microsoft YaHei" pitchFamily="34" charset="-122"/>
                <a:cs typeface="Microsoft YaHei" pitchFamily="34" charset="-120"/>
              </a:rPr>
              <a:t>M</a:t>
            </a:r>
            <a:endParaRPr lang="en-US" sz="1152" dirty="0"/>
          </a:p>
          <a:p>
            <a:pPr algn="ct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Modified</a:t>
            </a:r>
            <a:endParaRPr lang="en-US" sz="1152" dirty="0"/>
          </a:p>
        </p:txBody>
      </p:sp>
      <p:sp>
        <p:nvSpPr>
          <p:cNvPr id="7" name="Shape 4"/>
          <p:cNvSpPr/>
          <p:nvPr/>
        </p:nvSpPr>
        <p:spPr>
          <a:xfrm>
            <a:off x="3291840" y="1737360"/>
            <a:ext cx="2560320" cy="1645920"/>
          </a:xfrm>
          <a:custGeom>
            <a:avLst/>
            <a:gdLst/>
            <a:ahLst/>
            <a:cxnLst/>
            <a:rect l="l" t="t" r="r" b="b"/>
            <a:pathLst>
              <a:path w="2560320" h="1645920">
                <a:moveTo>
                  <a:pt x="0" y="0"/>
                </a:moveTo>
                <a:lnTo>
                  <a:pt x="2560320" y="0"/>
                </a:lnTo>
                <a:lnTo>
                  <a:pt x="2560320" y="1645920"/>
                </a:lnTo>
                <a:lnTo>
                  <a:pt x="0" y="1645920"/>
                </a:lnTo>
                <a:close/>
              </a:path>
            </a:pathLst>
          </a:custGeom>
          <a:solidFill>
            <a:srgbClr val="E0F2FE"/>
          </a:solidFill>
          <a:ln/>
        </p:spPr>
      </p:sp>
      <p:sp>
        <p:nvSpPr>
          <p:cNvPr id="8" name="Text 5"/>
          <p:cNvSpPr/>
          <p:nvPr/>
        </p:nvSpPr>
        <p:spPr>
          <a:xfrm>
            <a:off x="3474720" y="1965960"/>
            <a:ext cx="2194560" cy="118872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592" b="1" dirty="0">
                <a:solidFill>
                  <a:srgbClr val="0369A1"/>
                </a:solidFill>
                <a:latin typeface="Microsoft YaHei" pitchFamily="34" charset="0"/>
                <a:ea typeface="Microsoft YaHei" pitchFamily="34" charset="-122"/>
                <a:cs typeface="Microsoft YaHei" pitchFamily="34" charset="-120"/>
              </a:rPr>
              <a:t>U</a:t>
            </a:r>
            <a:endParaRPr lang="en-US" sz="1152" dirty="0"/>
          </a:p>
          <a:p>
            <a:pPr algn="ct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Untracked</a:t>
            </a:r>
            <a:endParaRPr lang="en-US" sz="1152" dirty="0"/>
          </a:p>
        </p:txBody>
      </p:sp>
      <p:sp>
        <p:nvSpPr>
          <p:cNvPr id="9" name="Shape 6"/>
          <p:cNvSpPr/>
          <p:nvPr/>
        </p:nvSpPr>
        <p:spPr>
          <a:xfrm>
            <a:off x="6035040" y="1737360"/>
            <a:ext cx="2560320" cy="1645920"/>
          </a:xfrm>
          <a:custGeom>
            <a:avLst/>
            <a:gdLst/>
            <a:ahLst/>
            <a:cxnLst/>
            <a:rect l="l" t="t" r="r" b="b"/>
            <a:pathLst>
              <a:path w="2560320" h="1645920">
                <a:moveTo>
                  <a:pt x="0" y="0"/>
                </a:moveTo>
                <a:lnTo>
                  <a:pt x="2560320" y="0"/>
                </a:lnTo>
                <a:lnTo>
                  <a:pt x="2560320" y="1645920"/>
                </a:lnTo>
                <a:lnTo>
                  <a:pt x="0" y="1645920"/>
                </a:lnTo>
                <a:close/>
              </a:path>
            </a:pathLst>
          </a:custGeom>
          <a:solidFill>
            <a:srgbClr val="DCFCE7"/>
          </a:solidFill>
          <a:ln/>
        </p:spPr>
      </p:sp>
      <p:sp>
        <p:nvSpPr>
          <p:cNvPr id="10" name="Text 7"/>
          <p:cNvSpPr/>
          <p:nvPr/>
        </p:nvSpPr>
        <p:spPr>
          <a:xfrm>
            <a:off x="6217920" y="1965960"/>
            <a:ext cx="2194560" cy="118872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592" b="1" dirty="0">
                <a:solidFill>
                  <a:srgbClr val="15803D"/>
                </a:solidFill>
                <a:latin typeface="Microsoft YaHei" pitchFamily="34" charset="0"/>
                <a:ea typeface="Microsoft YaHei" pitchFamily="34" charset="-122"/>
                <a:cs typeface="Microsoft YaHei" pitchFamily="34" charset="-120"/>
              </a:rPr>
              <a:t>A</a:t>
            </a:r>
            <a:endParaRPr lang="en-US" sz="1152" dirty="0"/>
          </a:p>
          <a:p>
            <a:pPr algn="ct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Added</a:t>
            </a:r>
            <a:endParaRPr lang="en-US" sz="1152" dirty="0"/>
          </a:p>
        </p:txBody>
      </p:sp>
      <p:sp>
        <p:nvSpPr>
          <p:cNvPr id="11" name="Shape 8"/>
          <p:cNvSpPr/>
          <p:nvPr/>
        </p:nvSpPr>
        <p:spPr>
          <a:xfrm>
            <a:off x="548640" y="3749040"/>
            <a:ext cx="8046720" cy="822960"/>
          </a:xfrm>
          <a:custGeom>
            <a:avLst/>
            <a:gdLst/>
            <a:ahLst/>
            <a:cxnLst/>
            <a:rect l="l" t="t" r="r" b="b"/>
            <a:pathLst>
              <a:path w="8046720" h="822960">
                <a:moveTo>
                  <a:pt x="0" y="0"/>
                </a:moveTo>
                <a:lnTo>
                  <a:pt x="8046720" y="0"/>
                </a:lnTo>
                <a:lnTo>
                  <a:pt x="8046720" y="822960"/>
                </a:lnTo>
                <a:lnTo>
                  <a:pt x="0" y="822960"/>
                </a:lnTo>
                <a:close/>
              </a:path>
            </a:pathLst>
          </a:custGeom>
          <a:solidFill>
            <a:srgbClr val="EEF2F7"/>
          </a:solidFill>
          <a:ln/>
        </p:spPr>
      </p:sp>
      <p:sp>
        <p:nvSpPr>
          <p:cNvPr id="12" name="Text 9"/>
          <p:cNvSpPr/>
          <p:nvPr/>
        </p:nvSpPr>
        <p:spPr>
          <a:xfrm>
            <a:off x="731520" y="3813048"/>
            <a:ext cx="76809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VS Code highlights changed files</a:t>
            </a:r>
            <a:endParaRPr lang="en-US" sz="1152" dirty="0"/>
          </a:p>
          <a:p>
            <a:pPr algn="ct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in the Source Control panel.</a:t>
            </a:r>
            <a:endParaRPr lang="en-US" sz="1152"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b="1" dirty="0">
                <a:solidFill>
                  <a:srgbClr val="333333"/>
                </a:solidFill>
                <a:latin typeface="Microsoft YaHei" pitchFamily="34" charset="0"/>
                <a:ea typeface="Microsoft YaHei" pitchFamily="34" charset="-122"/>
                <a:cs typeface="Microsoft YaHei" pitchFamily="34" charset="-120"/>
              </a:rPr>
              <a:t>Stage → Commit → Push in VS Code</a:t>
            </a:r>
            <a:endParaRPr lang="en-US" sz="1152" dirty="0"/>
          </a:p>
        </p:txBody>
      </p:sp>
      <p:sp>
        <p:nvSpPr>
          <p:cNvPr id="4" name="Shape 1"/>
          <p:cNvSpPr/>
          <p:nvPr/>
        </p:nvSpPr>
        <p:spPr>
          <a:xfrm>
            <a:off x="548640" y="100584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E8F4FD"/>
          </a:solidFill>
          <a:ln/>
        </p:spPr>
      </p:sp>
      <p:sp>
        <p:nvSpPr>
          <p:cNvPr id="5" name="Shape 2"/>
          <p:cNvSpPr/>
          <p:nvPr/>
        </p:nvSpPr>
        <p:spPr>
          <a:xfrm>
            <a:off x="4663440" y="100584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DCFCE7"/>
          </a:solidFill>
          <a:ln/>
        </p:spPr>
      </p:sp>
      <p:sp>
        <p:nvSpPr>
          <p:cNvPr id="6" name="Shape 3"/>
          <p:cNvSpPr/>
          <p:nvPr/>
        </p:nvSpPr>
        <p:spPr>
          <a:xfrm>
            <a:off x="548640" y="228600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FEF3C7"/>
          </a:solidFill>
          <a:ln/>
        </p:spPr>
      </p:sp>
      <p:sp>
        <p:nvSpPr>
          <p:cNvPr id="7" name="Shape 4"/>
          <p:cNvSpPr/>
          <p:nvPr/>
        </p:nvSpPr>
        <p:spPr>
          <a:xfrm>
            <a:off x="4663440" y="228600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FDE2E4"/>
          </a:solidFill>
          <a:ln/>
        </p:spPr>
      </p:sp>
      <p:sp>
        <p:nvSpPr>
          <p:cNvPr id="8" name="Shape 5"/>
          <p:cNvSpPr/>
          <p:nvPr/>
        </p:nvSpPr>
        <p:spPr>
          <a:xfrm>
            <a:off x="548640" y="356616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E0F2FE"/>
          </a:solidFill>
          <a:ln/>
        </p:spPr>
      </p:sp>
      <p:sp>
        <p:nvSpPr>
          <p:cNvPr id="9" name="Shape 6"/>
          <p:cNvSpPr/>
          <p:nvPr/>
        </p:nvSpPr>
        <p:spPr>
          <a:xfrm>
            <a:off x="4663440" y="356616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EDE9FE"/>
          </a:solidFill>
          <a:ln/>
        </p:spPr>
      </p:sp>
      <p:sp>
        <p:nvSpPr>
          <p:cNvPr id="10" name="Shape 7"/>
          <p:cNvSpPr/>
          <p:nvPr/>
        </p:nvSpPr>
        <p:spPr>
          <a:xfrm>
            <a:off x="2514600" y="2130552"/>
            <a:ext cx="0" cy="118872"/>
          </a:xfrm>
          <a:custGeom>
            <a:avLst/>
            <a:gdLst/>
            <a:ahLst/>
            <a:cxnLst/>
            <a:rect l="l" t="t" r="r" b="b"/>
            <a:pathLst>
              <a:path w="0" h="118872">
                <a:moveTo>
                  <a:pt x="0" y="0"/>
                </a:moveTo>
                <a:lnTo>
                  <a:pt x="0" y="118872"/>
                </a:lnTo>
              </a:path>
            </a:pathLst>
          </a:custGeom>
          <a:noFill/>
          <a:ln w="27432">
            <a:solidFill>
              <a:srgbClr val="5B9BD5"/>
            </a:solidFill>
            <a:prstDash val="solid"/>
            <a:headEnd type="none"/>
            <a:tailEnd type="arrow"/>
          </a:ln>
        </p:spPr>
      </p:sp>
      <p:sp>
        <p:nvSpPr>
          <p:cNvPr id="11" name="Shape 8"/>
          <p:cNvSpPr/>
          <p:nvPr/>
        </p:nvSpPr>
        <p:spPr>
          <a:xfrm>
            <a:off x="2514600" y="3410712"/>
            <a:ext cx="0" cy="118872"/>
          </a:xfrm>
          <a:custGeom>
            <a:avLst/>
            <a:gdLst/>
            <a:ahLst/>
            <a:cxnLst/>
            <a:rect l="l" t="t" r="r" b="b"/>
            <a:pathLst>
              <a:path w="0" h="118872">
                <a:moveTo>
                  <a:pt x="0" y="0"/>
                </a:moveTo>
                <a:lnTo>
                  <a:pt x="0" y="118872"/>
                </a:lnTo>
              </a:path>
            </a:pathLst>
          </a:custGeom>
          <a:noFill/>
          <a:ln w="27432">
            <a:solidFill>
              <a:srgbClr val="5B9BD5"/>
            </a:solidFill>
            <a:prstDash val="solid"/>
            <a:headEnd type="none"/>
            <a:tailEnd type="arrow"/>
          </a:ln>
        </p:spPr>
      </p:sp>
      <p:sp>
        <p:nvSpPr>
          <p:cNvPr id="12" name="Shape 9"/>
          <p:cNvSpPr/>
          <p:nvPr/>
        </p:nvSpPr>
        <p:spPr>
          <a:xfrm>
            <a:off x="6629400" y="2130552"/>
            <a:ext cx="0" cy="118872"/>
          </a:xfrm>
          <a:custGeom>
            <a:avLst/>
            <a:gdLst/>
            <a:ahLst/>
            <a:cxnLst/>
            <a:rect l="l" t="t" r="r" b="b"/>
            <a:pathLst>
              <a:path w="0" h="118872">
                <a:moveTo>
                  <a:pt x="0" y="0"/>
                </a:moveTo>
                <a:lnTo>
                  <a:pt x="0" y="118872"/>
                </a:lnTo>
              </a:path>
            </a:pathLst>
          </a:custGeom>
          <a:noFill/>
          <a:ln w="27432">
            <a:solidFill>
              <a:srgbClr val="5B9BD5"/>
            </a:solidFill>
            <a:prstDash val="solid"/>
            <a:headEnd type="none"/>
            <a:tailEnd type="arrow"/>
          </a:ln>
        </p:spPr>
      </p:sp>
      <p:sp>
        <p:nvSpPr>
          <p:cNvPr id="13" name="Shape 10"/>
          <p:cNvSpPr/>
          <p:nvPr/>
        </p:nvSpPr>
        <p:spPr>
          <a:xfrm>
            <a:off x="6629400" y="3410712"/>
            <a:ext cx="0" cy="118872"/>
          </a:xfrm>
          <a:custGeom>
            <a:avLst/>
            <a:gdLst/>
            <a:ahLst/>
            <a:cxnLst/>
            <a:rect l="l" t="t" r="r" b="b"/>
            <a:pathLst>
              <a:path w="0" h="118872">
                <a:moveTo>
                  <a:pt x="0" y="0"/>
                </a:moveTo>
                <a:lnTo>
                  <a:pt x="0" y="118872"/>
                </a:lnTo>
              </a:path>
            </a:pathLst>
          </a:custGeom>
          <a:noFill/>
          <a:ln w="27432">
            <a:solidFill>
              <a:srgbClr val="5B9BD5"/>
            </a:solidFill>
            <a:prstDash val="solid"/>
            <a:headEnd type="none"/>
            <a:tailEnd type="arrow"/>
          </a:ln>
        </p:spPr>
      </p:sp>
      <p:sp>
        <p:nvSpPr>
          <p:cNvPr id="14" name="Text 11"/>
          <p:cNvSpPr/>
          <p:nvPr/>
        </p:nvSpPr>
        <p:spPr>
          <a:xfrm>
            <a:off x="731520" y="123444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1. Edit main.c</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Change the greeting</a:t>
            </a:r>
            <a:endParaRPr lang="en-US" sz="1152" dirty="0"/>
          </a:p>
        </p:txBody>
      </p:sp>
      <p:sp>
        <p:nvSpPr>
          <p:cNvPr id="15" name="Text 12"/>
          <p:cNvSpPr/>
          <p:nvPr/>
        </p:nvSpPr>
        <p:spPr>
          <a:xfrm>
            <a:off x="4846320" y="123444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2. Open Source Control</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Find the Git panel</a:t>
            </a:r>
            <a:endParaRPr lang="en-US" sz="1152" dirty="0"/>
          </a:p>
        </p:txBody>
      </p:sp>
      <p:sp>
        <p:nvSpPr>
          <p:cNvPr id="16" name="Text 13"/>
          <p:cNvSpPr/>
          <p:nvPr/>
        </p:nvSpPr>
        <p:spPr>
          <a:xfrm>
            <a:off x="731520" y="251460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3. Stage the change</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Click the + button</a:t>
            </a:r>
            <a:endParaRPr lang="en-US" sz="1152" dirty="0"/>
          </a:p>
        </p:txBody>
      </p:sp>
      <p:sp>
        <p:nvSpPr>
          <p:cNvPr id="17" name="Text 14"/>
          <p:cNvSpPr/>
          <p:nvPr/>
        </p:nvSpPr>
        <p:spPr>
          <a:xfrm>
            <a:off x="4846320" y="251460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4. Commit message</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Greeting → Hello Git</a:t>
            </a:r>
            <a:endParaRPr lang="en-US" sz="1152" dirty="0"/>
          </a:p>
        </p:txBody>
      </p:sp>
      <p:sp>
        <p:nvSpPr>
          <p:cNvPr id="18" name="Text 15"/>
          <p:cNvSpPr/>
          <p:nvPr/>
        </p:nvSpPr>
        <p:spPr>
          <a:xfrm>
            <a:off x="731520" y="379476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5. Commit &amp; Push</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Sync changes</a:t>
            </a:r>
            <a:endParaRPr lang="en-US" sz="1152" dirty="0"/>
          </a:p>
        </p:txBody>
      </p:sp>
      <p:sp>
        <p:nvSpPr>
          <p:cNvPr id="19" name="Text 16"/>
          <p:cNvSpPr/>
          <p:nvPr/>
        </p:nvSpPr>
        <p:spPr>
          <a:xfrm>
            <a:off x="4846320" y="3794760"/>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6. Check GitHub</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Confirm it online</a:t>
            </a:r>
            <a:endParaRPr lang="en-US" sz="1152"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3864"/>
                </a:solidFill>
                <a:latin typeface="Microsoft YaHei" pitchFamily="34" charset="0"/>
                <a:ea typeface="Microsoft YaHei" pitchFamily="34" charset="-122"/>
                <a:cs typeface="Microsoft YaHei" pitchFamily="34" charset="-120"/>
              </a:rPr>
              <a:t>Pulling Changes</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2E74B5"/>
          </a:solidFill>
          <a:ln/>
        </p:spPr>
      </p:sp>
      <p:sp>
        <p:nvSpPr>
          <p:cNvPr id="5" name="Text 2"/>
          <p:cNvSpPr/>
          <p:nvPr/>
        </p:nvSpPr>
        <p:spPr>
          <a:xfrm>
            <a:off x="548640" y="1325880"/>
            <a:ext cx="80467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555555"/>
                </a:solidFill>
                <a:latin typeface="Microsoft YaHei" pitchFamily="34" charset="0"/>
                <a:ea typeface="Microsoft YaHei" pitchFamily="34" charset="-122"/>
                <a:cs typeface="Microsoft YaHei" pitchFamily="34" charset="-120"/>
              </a:rPr>
              <a:t>Bring remote commits into local VS Code</a:t>
            </a:r>
            <a:endParaRPr lang="en-US" sz="1152" dirty="0"/>
          </a:p>
        </p:txBody>
      </p:sp>
      <p:sp>
        <p:nvSpPr>
          <p:cNvPr id="6" name="Text 3"/>
          <p:cNvSpPr/>
          <p:nvPr/>
        </p:nvSpPr>
        <p:spPr>
          <a:xfrm>
            <a:off x="548640" y="2011680"/>
            <a:ext cx="402336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Before you pull</a:t>
            </a:r>
            <a:endParaRPr lang="en-US" sz="1152" dirty="0"/>
          </a:p>
        </p:txBody>
      </p:sp>
      <p:sp>
        <p:nvSpPr>
          <p:cNvPr id="7" name="Text 4"/>
          <p:cNvSpPr/>
          <p:nvPr/>
        </p:nvSpPr>
        <p:spPr>
          <a:xfrm>
            <a:off x="4800600" y="2011680"/>
            <a:ext cx="374904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PULL flow</a:t>
            </a:r>
            <a:endParaRPr lang="en-US" sz="1152" dirty="0"/>
          </a:p>
        </p:txBody>
      </p:sp>
      <p:sp>
        <p:nvSpPr>
          <p:cNvPr id="8" name="Shape 5"/>
          <p:cNvSpPr/>
          <p:nvPr/>
        </p:nvSpPr>
        <p:spPr>
          <a:xfrm>
            <a:off x="548640" y="2560320"/>
            <a:ext cx="4023360" cy="640080"/>
          </a:xfrm>
          <a:custGeom>
            <a:avLst/>
            <a:gdLst/>
            <a:ahLst/>
            <a:cxnLst/>
            <a:rect l="l" t="t" r="r" b="b"/>
            <a:pathLst>
              <a:path w="4023360" h="640080">
                <a:moveTo>
                  <a:pt x="0" y="0"/>
                </a:moveTo>
                <a:lnTo>
                  <a:pt x="4023360" y="0"/>
                </a:lnTo>
                <a:lnTo>
                  <a:pt x="4023360" y="640080"/>
                </a:lnTo>
                <a:lnTo>
                  <a:pt x="0" y="640080"/>
                </a:lnTo>
                <a:close/>
              </a:path>
            </a:pathLst>
          </a:custGeom>
          <a:solidFill>
            <a:srgbClr val="EAF1FB"/>
          </a:solidFill>
          <a:ln/>
        </p:spPr>
      </p:sp>
      <p:sp>
        <p:nvSpPr>
          <p:cNvPr id="9" name="Text 6"/>
          <p:cNvSpPr/>
          <p:nvPr/>
        </p:nvSpPr>
        <p:spPr>
          <a:xfrm>
            <a:off x="731520" y="265176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1F3864"/>
                </a:solidFill>
                <a:latin typeface="Microsoft YaHei" pitchFamily="34" charset="0"/>
                <a:ea typeface="Microsoft YaHei" pitchFamily="34" charset="-122"/>
                <a:cs typeface="Microsoft YaHei" pitchFamily="34" charset="-120"/>
              </a:rPr>
              <a:t>Edit README on GitHub</a:t>
            </a:r>
            <a:endParaRPr lang="en-US" sz="1152" dirty="0"/>
          </a:p>
        </p:txBody>
      </p:sp>
      <p:sp>
        <p:nvSpPr>
          <p:cNvPr id="10" name="Shape 7"/>
          <p:cNvSpPr/>
          <p:nvPr/>
        </p:nvSpPr>
        <p:spPr>
          <a:xfrm>
            <a:off x="548640" y="3291840"/>
            <a:ext cx="4023360" cy="640080"/>
          </a:xfrm>
          <a:custGeom>
            <a:avLst/>
            <a:gdLst/>
            <a:ahLst/>
            <a:cxnLst/>
            <a:rect l="l" t="t" r="r" b="b"/>
            <a:pathLst>
              <a:path w="4023360" h="640080">
                <a:moveTo>
                  <a:pt x="0" y="0"/>
                </a:moveTo>
                <a:lnTo>
                  <a:pt x="4023360" y="0"/>
                </a:lnTo>
                <a:lnTo>
                  <a:pt x="4023360" y="640080"/>
                </a:lnTo>
                <a:lnTo>
                  <a:pt x="0" y="640080"/>
                </a:lnTo>
                <a:close/>
              </a:path>
            </a:pathLst>
          </a:custGeom>
          <a:solidFill>
            <a:srgbClr val="FFF2E6"/>
          </a:solidFill>
          <a:ln/>
        </p:spPr>
      </p:sp>
      <p:sp>
        <p:nvSpPr>
          <p:cNvPr id="11" name="Text 8"/>
          <p:cNvSpPr/>
          <p:nvPr/>
        </p:nvSpPr>
        <p:spPr>
          <a:xfrm>
            <a:off x="731520" y="338328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C55A11"/>
                </a:solidFill>
                <a:latin typeface="Microsoft YaHei" pitchFamily="34" charset="0"/>
                <a:ea typeface="Microsoft YaHei" pitchFamily="34" charset="-122"/>
                <a:cs typeface="Microsoft YaHei" pitchFamily="34" charset="-120"/>
              </a:rPr>
              <a:t>VS Code lacks it yet</a:t>
            </a:r>
            <a:endParaRPr lang="en-US" sz="1152" dirty="0"/>
          </a:p>
        </p:txBody>
      </p:sp>
      <p:sp>
        <p:nvSpPr>
          <p:cNvPr id="12" name="Shape 9"/>
          <p:cNvSpPr/>
          <p:nvPr/>
        </p:nvSpPr>
        <p:spPr>
          <a:xfrm>
            <a:off x="548640" y="4023360"/>
            <a:ext cx="4023360" cy="640080"/>
          </a:xfrm>
          <a:custGeom>
            <a:avLst/>
            <a:gdLst/>
            <a:ahLst/>
            <a:cxnLst/>
            <a:rect l="l" t="t" r="r" b="b"/>
            <a:pathLst>
              <a:path w="4023360" h="640080">
                <a:moveTo>
                  <a:pt x="0" y="0"/>
                </a:moveTo>
                <a:lnTo>
                  <a:pt x="4023360" y="0"/>
                </a:lnTo>
                <a:lnTo>
                  <a:pt x="4023360" y="640080"/>
                </a:lnTo>
                <a:lnTo>
                  <a:pt x="0" y="640080"/>
                </a:lnTo>
                <a:close/>
              </a:path>
            </a:pathLst>
          </a:custGeom>
          <a:solidFill>
            <a:srgbClr val="E8F5E9"/>
          </a:solidFill>
          <a:ln/>
        </p:spPr>
      </p:sp>
      <p:sp>
        <p:nvSpPr>
          <p:cNvPr id="13" name="Text 10"/>
          <p:cNvSpPr/>
          <p:nvPr/>
        </p:nvSpPr>
        <p:spPr>
          <a:xfrm>
            <a:off x="731520" y="411480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1E7145"/>
                </a:solidFill>
                <a:latin typeface="Microsoft YaHei" pitchFamily="34" charset="0"/>
                <a:ea typeface="Microsoft YaHei" pitchFamily="34" charset="-122"/>
                <a:cs typeface="Microsoft YaHei" pitchFamily="34" charset="-120"/>
              </a:rPr>
              <a:t>Pull before you start</a:t>
            </a:r>
            <a:endParaRPr lang="en-US" sz="1152" dirty="0"/>
          </a:p>
        </p:txBody>
      </p:sp>
      <p:sp>
        <p:nvSpPr>
          <p:cNvPr id="14" name="Shape 11"/>
          <p:cNvSpPr/>
          <p:nvPr/>
        </p:nvSpPr>
        <p:spPr>
          <a:xfrm>
            <a:off x="4800600" y="2651760"/>
            <a:ext cx="1097280" cy="914400"/>
          </a:xfrm>
          <a:custGeom>
            <a:avLst/>
            <a:gdLst/>
            <a:ahLst/>
            <a:cxnLst/>
            <a:rect l="l" t="t" r="r" b="b"/>
            <a:pathLst>
              <a:path w="1097280" h="914400">
                <a:moveTo>
                  <a:pt x="0" y="0"/>
                </a:moveTo>
                <a:lnTo>
                  <a:pt x="1097280" y="0"/>
                </a:lnTo>
                <a:lnTo>
                  <a:pt x="1097280" y="914400"/>
                </a:lnTo>
                <a:lnTo>
                  <a:pt x="0" y="914400"/>
                </a:lnTo>
                <a:close/>
              </a:path>
            </a:pathLst>
          </a:custGeom>
          <a:solidFill>
            <a:srgbClr val="EAF1FB"/>
          </a:solidFill>
          <a:ln/>
        </p:spPr>
      </p:sp>
      <p:sp>
        <p:nvSpPr>
          <p:cNvPr id="15" name="Text 12"/>
          <p:cNvSpPr/>
          <p:nvPr/>
        </p:nvSpPr>
        <p:spPr>
          <a:xfrm>
            <a:off x="4983480" y="2788920"/>
            <a:ext cx="7315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F3864"/>
                </a:solidFill>
                <a:latin typeface="Microsoft YaHei" pitchFamily="34" charset="0"/>
                <a:ea typeface="Microsoft YaHei" pitchFamily="34" charset="-122"/>
                <a:cs typeface="Microsoft YaHei" pitchFamily="34" charset="-120"/>
              </a:rPr>
              <a:t>GitHub</a:t>
            </a:r>
            <a:endParaRPr lang="en-US" sz="1152" dirty="0"/>
          </a:p>
          <a:p>
            <a:pPr algn="ct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Remote</a:t>
            </a:r>
            <a:endParaRPr lang="en-US" sz="1152" dirty="0"/>
          </a:p>
        </p:txBody>
      </p:sp>
      <p:sp>
        <p:nvSpPr>
          <p:cNvPr id="16" name="Shape 13"/>
          <p:cNvSpPr/>
          <p:nvPr/>
        </p:nvSpPr>
        <p:spPr>
          <a:xfrm>
            <a:off x="6080760" y="2651760"/>
            <a:ext cx="1097280" cy="914400"/>
          </a:xfrm>
          <a:custGeom>
            <a:avLst/>
            <a:gdLst/>
            <a:ahLst/>
            <a:cxnLst/>
            <a:rect l="l" t="t" r="r" b="b"/>
            <a:pathLst>
              <a:path w="1097280" h="914400">
                <a:moveTo>
                  <a:pt x="0" y="0"/>
                </a:moveTo>
                <a:lnTo>
                  <a:pt x="1097280" y="0"/>
                </a:lnTo>
                <a:lnTo>
                  <a:pt x="1097280" y="914400"/>
                </a:lnTo>
                <a:lnTo>
                  <a:pt x="0" y="914400"/>
                </a:lnTo>
                <a:close/>
              </a:path>
            </a:pathLst>
          </a:custGeom>
          <a:solidFill>
            <a:srgbClr val="FFF2E6"/>
          </a:solidFill>
          <a:ln/>
        </p:spPr>
      </p:sp>
      <p:sp>
        <p:nvSpPr>
          <p:cNvPr id="17" name="Text 14"/>
          <p:cNvSpPr/>
          <p:nvPr/>
        </p:nvSpPr>
        <p:spPr>
          <a:xfrm>
            <a:off x="6263640" y="2788920"/>
            <a:ext cx="7315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C55A11"/>
                </a:solidFill>
                <a:latin typeface="Microsoft YaHei" pitchFamily="34" charset="0"/>
                <a:ea typeface="Microsoft YaHei" pitchFamily="34" charset="-122"/>
                <a:cs typeface="Microsoft YaHei" pitchFamily="34" charset="-120"/>
              </a:rPr>
              <a:t>PULL</a:t>
            </a:r>
            <a:endParaRPr lang="en-US" sz="1152" dirty="0"/>
          </a:p>
          <a:p>
            <a:pPr algn="ct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git pull</a:t>
            </a:r>
            <a:endParaRPr lang="en-US" sz="1152" dirty="0"/>
          </a:p>
        </p:txBody>
      </p:sp>
      <p:sp>
        <p:nvSpPr>
          <p:cNvPr id="18" name="Shape 15"/>
          <p:cNvSpPr/>
          <p:nvPr/>
        </p:nvSpPr>
        <p:spPr>
          <a:xfrm>
            <a:off x="7360920" y="2651760"/>
            <a:ext cx="1097280" cy="914400"/>
          </a:xfrm>
          <a:custGeom>
            <a:avLst/>
            <a:gdLst/>
            <a:ahLst/>
            <a:cxnLst/>
            <a:rect l="l" t="t" r="r" b="b"/>
            <a:pathLst>
              <a:path w="1097280" h="914400">
                <a:moveTo>
                  <a:pt x="0" y="0"/>
                </a:moveTo>
                <a:lnTo>
                  <a:pt x="1097280" y="0"/>
                </a:lnTo>
                <a:lnTo>
                  <a:pt x="1097280" y="914400"/>
                </a:lnTo>
                <a:lnTo>
                  <a:pt x="0" y="914400"/>
                </a:lnTo>
                <a:close/>
              </a:path>
            </a:pathLst>
          </a:custGeom>
          <a:solidFill>
            <a:srgbClr val="E8F5E9"/>
          </a:solidFill>
          <a:ln/>
        </p:spPr>
      </p:sp>
      <p:sp>
        <p:nvSpPr>
          <p:cNvPr id="19" name="Text 16"/>
          <p:cNvSpPr/>
          <p:nvPr/>
        </p:nvSpPr>
        <p:spPr>
          <a:xfrm>
            <a:off x="7543800" y="2788920"/>
            <a:ext cx="7315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E7145"/>
                </a:solidFill>
                <a:latin typeface="Microsoft YaHei" pitchFamily="34" charset="0"/>
                <a:ea typeface="Microsoft YaHei" pitchFamily="34" charset="-122"/>
                <a:cs typeface="Microsoft YaHei" pitchFamily="34" charset="-120"/>
              </a:rPr>
              <a:t>VS Code</a:t>
            </a:r>
            <a:endParaRPr lang="en-US" sz="1152" dirty="0"/>
          </a:p>
          <a:p>
            <a:pPr algn="ct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Local</a:t>
            </a:r>
            <a:endParaRPr lang="en-US" sz="1152" dirty="0"/>
          </a:p>
        </p:txBody>
      </p:sp>
      <p:sp>
        <p:nvSpPr>
          <p:cNvPr id="20" name="Shape 17"/>
          <p:cNvSpPr/>
          <p:nvPr/>
        </p:nvSpPr>
        <p:spPr>
          <a:xfrm>
            <a:off x="5897880" y="3108960"/>
            <a:ext cx="182880" cy="0"/>
          </a:xfrm>
          <a:custGeom>
            <a:avLst/>
            <a:gdLst/>
            <a:ahLst/>
            <a:cxnLst/>
            <a:rect l="l" t="t" r="r" b="b"/>
            <a:pathLst>
              <a:path w="182880" h="0">
                <a:moveTo>
                  <a:pt x="0" y="0"/>
                </a:moveTo>
                <a:lnTo>
                  <a:pt x="182880" y="0"/>
                </a:lnTo>
              </a:path>
            </a:pathLst>
          </a:custGeom>
          <a:noFill/>
          <a:ln w="27432">
            <a:solidFill>
              <a:srgbClr val="2E74B5"/>
            </a:solidFill>
            <a:prstDash val="solid"/>
            <a:headEnd type="none"/>
            <a:tailEnd type="arrow"/>
          </a:ln>
        </p:spPr>
      </p:sp>
      <p:sp>
        <p:nvSpPr>
          <p:cNvPr id="21" name="Shape 18"/>
          <p:cNvSpPr/>
          <p:nvPr/>
        </p:nvSpPr>
        <p:spPr>
          <a:xfrm>
            <a:off x="7178040" y="3108960"/>
            <a:ext cx="182880" cy="0"/>
          </a:xfrm>
          <a:custGeom>
            <a:avLst/>
            <a:gdLst/>
            <a:ahLst/>
            <a:cxnLst/>
            <a:rect l="l" t="t" r="r" b="b"/>
            <a:pathLst>
              <a:path w="182880" h="0">
                <a:moveTo>
                  <a:pt x="0" y="0"/>
                </a:moveTo>
                <a:lnTo>
                  <a:pt x="182880" y="0"/>
                </a:lnTo>
              </a:path>
            </a:pathLst>
          </a:custGeom>
          <a:noFill/>
          <a:ln w="27432">
            <a:solidFill>
              <a:srgbClr val="2E74B5"/>
            </a:solidFill>
            <a:prstDash val="solid"/>
            <a:headEnd type="none"/>
            <a:tailEnd type="arrow"/>
          </a:ln>
        </p:spPr>
      </p:sp>
      <p:sp>
        <p:nvSpPr>
          <p:cNvPr id="22" name="Shape 19"/>
          <p:cNvSpPr/>
          <p:nvPr/>
        </p:nvSpPr>
        <p:spPr>
          <a:xfrm>
            <a:off x="4800600" y="3749040"/>
            <a:ext cx="3749040" cy="822960"/>
          </a:xfrm>
          <a:custGeom>
            <a:avLst/>
            <a:gdLst/>
            <a:ahLst/>
            <a:cxnLst/>
            <a:rect l="l" t="t" r="r" b="b"/>
            <a:pathLst>
              <a:path w="3749040" h="822960">
                <a:moveTo>
                  <a:pt x="0" y="0"/>
                </a:moveTo>
                <a:lnTo>
                  <a:pt x="3749040" y="0"/>
                </a:lnTo>
                <a:lnTo>
                  <a:pt x="3749040" y="822960"/>
                </a:lnTo>
                <a:lnTo>
                  <a:pt x="0" y="822960"/>
                </a:lnTo>
                <a:close/>
              </a:path>
            </a:pathLst>
          </a:custGeom>
          <a:solidFill>
            <a:srgbClr val="F5F5F5"/>
          </a:solidFill>
          <a:ln/>
        </p:spPr>
      </p:sp>
      <p:sp>
        <p:nvSpPr>
          <p:cNvPr id="23" name="Text 20"/>
          <p:cNvSpPr/>
          <p:nvPr/>
        </p:nvSpPr>
        <p:spPr>
          <a:xfrm>
            <a:off x="4983480" y="3840480"/>
            <a:ext cx="338328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PULL = bring commits</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from remote to local</a:t>
            </a:r>
            <a:endParaRPr lang="en-US" sz="1152"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What Is a Branch?</a:t>
            </a:r>
            <a:endParaRPr lang="en-US" sz="1152" dirty="0"/>
          </a:p>
        </p:txBody>
      </p:sp>
      <p:sp>
        <p:nvSpPr>
          <p:cNvPr id="4" name="Shape 1"/>
          <p:cNvSpPr/>
          <p:nvPr/>
        </p:nvSpPr>
        <p:spPr>
          <a:xfrm>
            <a:off x="640080" y="118872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463040"/>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E8F1FB"/>
          </a:solidFill>
          <a:ln/>
        </p:spPr>
      </p:sp>
      <p:sp>
        <p:nvSpPr>
          <p:cNvPr id="6" name="Text 3"/>
          <p:cNvSpPr/>
          <p:nvPr/>
        </p:nvSpPr>
        <p:spPr>
          <a:xfrm>
            <a:off x="731520" y="1572768"/>
            <a:ext cx="35661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A branch is a separate line of work.</a:t>
            </a:r>
            <a:endParaRPr lang="en-US" sz="1152" dirty="0"/>
          </a:p>
        </p:txBody>
      </p:sp>
      <p:sp>
        <p:nvSpPr>
          <p:cNvPr id="7" name="Shape 4"/>
          <p:cNvSpPr/>
          <p:nvPr/>
        </p:nvSpPr>
        <p:spPr>
          <a:xfrm>
            <a:off x="548640" y="2514600"/>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E8F1FB"/>
          </a:solidFill>
          <a:ln/>
        </p:spPr>
      </p:sp>
      <p:sp>
        <p:nvSpPr>
          <p:cNvPr id="8" name="Text 5"/>
          <p:cNvSpPr/>
          <p:nvPr/>
        </p:nvSpPr>
        <p:spPr>
          <a:xfrm>
            <a:off x="731520" y="2624328"/>
            <a:ext cx="35661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You can merge it back into main.</a:t>
            </a:r>
            <a:endParaRPr lang="en-US" sz="1152" dirty="0"/>
          </a:p>
        </p:txBody>
      </p:sp>
      <p:sp>
        <p:nvSpPr>
          <p:cNvPr id="9" name="Shape 6"/>
          <p:cNvSpPr/>
          <p:nvPr/>
        </p:nvSpPr>
        <p:spPr>
          <a:xfrm>
            <a:off x="548640" y="3566160"/>
            <a:ext cx="3931920" cy="1097280"/>
          </a:xfrm>
          <a:custGeom>
            <a:avLst/>
            <a:gdLst/>
            <a:ahLst/>
            <a:cxnLst/>
            <a:rect l="l" t="t" r="r" b="b"/>
            <a:pathLst>
              <a:path w="3931920" h="1097280">
                <a:moveTo>
                  <a:pt x="0" y="0"/>
                </a:moveTo>
                <a:lnTo>
                  <a:pt x="3931920" y="0"/>
                </a:lnTo>
                <a:lnTo>
                  <a:pt x="3931920" y="1097280"/>
                </a:lnTo>
                <a:lnTo>
                  <a:pt x="0" y="1097280"/>
                </a:lnTo>
                <a:close/>
              </a:path>
            </a:pathLst>
          </a:custGeom>
          <a:solidFill>
            <a:srgbClr val="FEF3E2"/>
          </a:solidFill>
          <a:ln/>
        </p:spPr>
      </p:sp>
      <p:sp>
        <p:nvSpPr>
          <p:cNvPr id="10" name="Text 7"/>
          <p:cNvSpPr/>
          <p:nvPr/>
        </p:nvSpPr>
        <p:spPr>
          <a:xfrm>
            <a:off x="731520" y="3685032"/>
            <a:ext cx="356616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7C4A03"/>
                </a:solidFill>
                <a:latin typeface="Microsoft YaHei" pitchFamily="34" charset="0"/>
                <a:ea typeface="Microsoft YaHei" pitchFamily="34" charset="-122"/>
                <a:cs typeface="Microsoft YaHei" pitchFamily="34" charset="-120"/>
              </a:rPr>
              <a:t>Example</a:t>
            </a:r>
            <a:endParaRPr lang="en-US" sz="1152" dirty="0"/>
          </a:p>
          <a:p>
            <a:pPr indent="0" marL="0">
              <a:lnSpc>
                <a:spcPct val="120000"/>
              </a:lnSpc>
              <a:spcBef>
                <a:spcPts val="360"/>
              </a:spcBef>
              <a:buNone/>
            </a:pPr>
            <a:r>
              <a:rPr lang="en-US" sz="1152" dirty="0">
                <a:solidFill>
                  <a:srgbClr val="7C4A03"/>
                </a:solidFill>
                <a:latin typeface="Microsoft YaHei" pitchFamily="34" charset="0"/>
                <a:ea typeface="Microsoft YaHei" pitchFamily="34" charset="-122"/>
                <a:cs typeface="Microsoft YaHei" pitchFamily="34" charset="-120"/>
              </a:rPr>
              <a:t>main = working program</a:t>
            </a:r>
            <a:endParaRPr lang="en-US" sz="1152" dirty="0"/>
          </a:p>
          <a:p>
            <a:pPr indent="0" marL="0">
              <a:lnSpc>
                <a:spcPct val="120000"/>
              </a:lnSpc>
              <a:spcBef>
                <a:spcPts val="360"/>
              </a:spcBef>
              <a:buNone/>
            </a:pPr>
            <a:r>
              <a:rPr lang="en-US" sz="1152" dirty="0">
                <a:solidFill>
                  <a:srgbClr val="7C4A03"/>
                </a:solidFill>
                <a:latin typeface="Microsoft YaHei" pitchFamily="34" charset="0"/>
                <a:ea typeface="Microsoft YaHei" pitchFamily="34" charset="-122"/>
                <a:cs typeface="Microsoft YaHei" pitchFamily="34" charset="-120"/>
              </a:rPr>
              <a:t>feature/menu = new menu</a:t>
            </a:r>
            <a:endParaRPr lang="en-US" sz="1152" dirty="0"/>
          </a:p>
        </p:txBody>
      </p:sp>
      <p:sp>
        <p:nvSpPr>
          <p:cNvPr id="11" name="Text 8"/>
          <p:cNvSpPr/>
          <p:nvPr/>
        </p:nvSpPr>
        <p:spPr>
          <a:xfrm>
            <a:off x="4754880" y="1417320"/>
            <a:ext cx="7315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5B9BD5"/>
                </a:solidFill>
                <a:latin typeface="Microsoft YaHei" pitchFamily="34" charset="0"/>
                <a:ea typeface="Microsoft YaHei" pitchFamily="34" charset="-122"/>
                <a:cs typeface="Microsoft YaHei" pitchFamily="34" charset="-120"/>
              </a:rPr>
              <a:t>main</a:t>
            </a:r>
            <a:endParaRPr lang="en-US" sz="1152" dirty="0"/>
          </a:p>
        </p:txBody>
      </p:sp>
      <p:sp>
        <p:nvSpPr>
          <p:cNvPr id="12" name="Text 9"/>
          <p:cNvSpPr/>
          <p:nvPr/>
        </p:nvSpPr>
        <p:spPr>
          <a:xfrm>
            <a:off x="6766560" y="3712464"/>
            <a:ext cx="91440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70AD47"/>
                </a:solidFill>
                <a:latin typeface="Microsoft YaHei" pitchFamily="34" charset="0"/>
                <a:ea typeface="Microsoft YaHei" pitchFamily="34" charset="-122"/>
                <a:cs typeface="Microsoft YaHei" pitchFamily="34" charset="-120"/>
              </a:rPr>
              <a:t>feature</a:t>
            </a:r>
            <a:endParaRPr lang="en-US" sz="1152" dirty="0"/>
          </a:p>
        </p:txBody>
      </p:sp>
      <p:sp>
        <p:nvSpPr>
          <p:cNvPr id="13" name="Shape 10"/>
          <p:cNvSpPr/>
          <p:nvPr/>
        </p:nvSpPr>
        <p:spPr>
          <a:xfrm>
            <a:off x="4937760" y="18288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5B9BD5"/>
          </a:solidFill>
          <a:ln/>
        </p:spPr>
      </p:sp>
      <p:sp>
        <p:nvSpPr>
          <p:cNvPr id="14" name="Shape 11"/>
          <p:cNvSpPr/>
          <p:nvPr/>
        </p:nvSpPr>
        <p:spPr>
          <a:xfrm>
            <a:off x="5852160" y="18288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5B9BD5"/>
          </a:solidFill>
          <a:ln/>
        </p:spPr>
      </p:sp>
      <p:sp>
        <p:nvSpPr>
          <p:cNvPr id="15" name="Shape 12"/>
          <p:cNvSpPr/>
          <p:nvPr/>
        </p:nvSpPr>
        <p:spPr>
          <a:xfrm>
            <a:off x="6766560" y="18288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5B9BD5"/>
          </a:solidFill>
          <a:ln/>
        </p:spPr>
      </p:sp>
      <p:sp>
        <p:nvSpPr>
          <p:cNvPr id="16" name="Shape 13"/>
          <p:cNvSpPr/>
          <p:nvPr/>
        </p:nvSpPr>
        <p:spPr>
          <a:xfrm>
            <a:off x="8229600" y="18288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5B9BD5"/>
          </a:solidFill>
          <a:ln/>
        </p:spPr>
      </p:sp>
      <p:sp>
        <p:nvSpPr>
          <p:cNvPr id="17" name="Shape 14"/>
          <p:cNvSpPr/>
          <p:nvPr/>
        </p:nvSpPr>
        <p:spPr>
          <a:xfrm>
            <a:off x="6949440" y="32004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70AD47"/>
          </a:solidFill>
          <a:ln/>
        </p:spPr>
      </p:sp>
      <p:sp>
        <p:nvSpPr>
          <p:cNvPr id="18" name="Shape 15"/>
          <p:cNvSpPr/>
          <p:nvPr/>
        </p:nvSpPr>
        <p:spPr>
          <a:xfrm>
            <a:off x="7680960" y="3200400"/>
            <a:ext cx="438912" cy="438912"/>
          </a:xfrm>
          <a:custGeom>
            <a:avLst/>
            <a:gdLst/>
            <a:ahLst/>
            <a:cxnLst/>
            <a:rect l="l" t="t" r="r" b="b"/>
            <a:pathLst>
              <a:path w="438912" h="438912">
                <a:moveTo>
                  <a:pt x="438912" y="219456"/>
                </a:moveTo>
                <a:cubicBezTo>
                  <a:pt x="438912" y="340577"/>
                  <a:pt x="340577" y="438912"/>
                  <a:pt x="219456" y="438912"/>
                </a:cubicBezTo>
                <a:cubicBezTo>
                  <a:pt x="98335" y="438912"/>
                  <a:pt x="0" y="340577"/>
                  <a:pt x="0" y="219456"/>
                </a:cubicBezTo>
                <a:cubicBezTo>
                  <a:pt x="0" y="98335"/>
                  <a:pt x="98335" y="0"/>
                  <a:pt x="219456" y="0"/>
                </a:cubicBezTo>
                <a:cubicBezTo>
                  <a:pt x="340577" y="0"/>
                  <a:pt x="438912" y="98335"/>
                  <a:pt x="438912" y="219456"/>
                </a:cubicBezTo>
                <a:close/>
              </a:path>
            </a:pathLst>
          </a:custGeom>
          <a:solidFill>
            <a:srgbClr val="70AD47"/>
          </a:solidFill>
          <a:ln/>
        </p:spPr>
      </p:sp>
      <p:sp>
        <p:nvSpPr>
          <p:cNvPr id="19" name="Text 16"/>
          <p:cNvSpPr/>
          <p:nvPr/>
        </p:nvSpPr>
        <p:spPr>
          <a:xfrm>
            <a:off x="4937760" y="18470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A</a:t>
            </a:r>
            <a:endParaRPr lang="en-US" sz="1152" dirty="0"/>
          </a:p>
        </p:txBody>
      </p:sp>
      <p:sp>
        <p:nvSpPr>
          <p:cNvPr id="20" name="Text 17"/>
          <p:cNvSpPr/>
          <p:nvPr/>
        </p:nvSpPr>
        <p:spPr>
          <a:xfrm>
            <a:off x="5852160" y="18470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B</a:t>
            </a:r>
            <a:endParaRPr lang="en-US" sz="1152" dirty="0"/>
          </a:p>
        </p:txBody>
      </p:sp>
      <p:sp>
        <p:nvSpPr>
          <p:cNvPr id="21" name="Text 18"/>
          <p:cNvSpPr/>
          <p:nvPr/>
        </p:nvSpPr>
        <p:spPr>
          <a:xfrm>
            <a:off x="6766560" y="18470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C</a:t>
            </a:r>
            <a:endParaRPr lang="en-US" sz="1152" dirty="0"/>
          </a:p>
        </p:txBody>
      </p:sp>
      <p:sp>
        <p:nvSpPr>
          <p:cNvPr id="22" name="Text 19"/>
          <p:cNvSpPr/>
          <p:nvPr/>
        </p:nvSpPr>
        <p:spPr>
          <a:xfrm>
            <a:off x="8229600" y="18470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F</a:t>
            </a:r>
            <a:endParaRPr lang="en-US" sz="1152" dirty="0"/>
          </a:p>
        </p:txBody>
      </p:sp>
      <p:sp>
        <p:nvSpPr>
          <p:cNvPr id="23" name="Text 20"/>
          <p:cNvSpPr/>
          <p:nvPr/>
        </p:nvSpPr>
        <p:spPr>
          <a:xfrm>
            <a:off x="6949440" y="32186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D</a:t>
            </a:r>
            <a:endParaRPr lang="en-US" sz="1152" dirty="0"/>
          </a:p>
        </p:txBody>
      </p:sp>
      <p:sp>
        <p:nvSpPr>
          <p:cNvPr id="24" name="Text 21"/>
          <p:cNvSpPr/>
          <p:nvPr/>
        </p:nvSpPr>
        <p:spPr>
          <a:xfrm>
            <a:off x="7680960" y="3218688"/>
            <a:ext cx="438912"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E</a:t>
            </a:r>
            <a:endParaRPr lang="en-US" sz="1152" dirty="0"/>
          </a:p>
        </p:txBody>
      </p:sp>
      <p:sp>
        <p:nvSpPr>
          <p:cNvPr id="25" name="Shape 22"/>
          <p:cNvSpPr/>
          <p:nvPr/>
        </p:nvSpPr>
        <p:spPr>
          <a:xfrm>
            <a:off x="5376672" y="2048256"/>
            <a:ext cx="475488" cy="0"/>
          </a:xfrm>
          <a:custGeom>
            <a:avLst/>
            <a:gdLst/>
            <a:ahLst/>
            <a:cxnLst/>
            <a:rect l="l" t="t" r="r" b="b"/>
            <a:pathLst>
              <a:path w="475488" h="0">
                <a:moveTo>
                  <a:pt x="0" y="0"/>
                </a:moveTo>
                <a:lnTo>
                  <a:pt x="475488" y="0"/>
                </a:lnTo>
              </a:path>
            </a:pathLst>
          </a:custGeom>
          <a:noFill/>
          <a:ln w="27432">
            <a:solidFill>
              <a:srgbClr val="5B9BD5"/>
            </a:solidFill>
            <a:prstDash val="solid"/>
            <a:headEnd type="none"/>
            <a:tailEnd type="none"/>
          </a:ln>
        </p:spPr>
      </p:sp>
      <p:sp>
        <p:nvSpPr>
          <p:cNvPr id="26" name="Shape 23"/>
          <p:cNvSpPr/>
          <p:nvPr/>
        </p:nvSpPr>
        <p:spPr>
          <a:xfrm>
            <a:off x="6291072" y="2048256"/>
            <a:ext cx="475488" cy="0"/>
          </a:xfrm>
          <a:custGeom>
            <a:avLst/>
            <a:gdLst/>
            <a:ahLst/>
            <a:cxnLst/>
            <a:rect l="l" t="t" r="r" b="b"/>
            <a:pathLst>
              <a:path w="475488" h="0">
                <a:moveTo>
                  <a:pt x="0" y="0"/>
                </a:moveTo>
                <a:lnTo>
                  <a:pt x="475488" y="0"/>
                </a:lnTo>
              </a:path>
            </a:pathLst>
          </a:custGeom>
          <a:noFill/>
          <a:ln w="27432">
            <a:solidFill>
              <a:srgbClr val="5B9BD5"/>
            </a:solidFill>
            <a:prstDash val="solid"/>
            <a:headEnd type="none"/>
            <a:tailEnd type="none"/>
          </a:ln>
        </p:spPr>
      </p:sp>
      <p:sp>
        <p:nvSpPr>
          <p:cNvPr id="27" name="Shape 24"/>
          <p:cNvSpPr/>
          <p:nvPr/>
        </p:nvSpPr>
        <p:spPr>
          <a:xfrm>
            <a:off x="7205472" y="2048256"/>
            <a:ext cx="1024128" cy="0"/>
          </a:xfrm>
          <a:custGeom>
            <a:avLst/>
            <a:gdLst/>
            <a:ahLst/>
            <a:cxnLst/>
            <a:rect l="l" t="t" r="r" b="b"/>
            <a:pathLst>
              <a:path w="1024128" h="0">
                <a:moveTo>
                  <a:pt x="0" y="0"/>
                </a:moveTo>
                <a:lnTo>
                  <a:pt x="1024128" y="0"/>
                </a:lnTo>
              </a:path>
            </a:pathLst>
          </a:custGeom>
          <a:noFill/>
          <a:ln w="27432">
            <a:solidFill>
              <a:srgbClr val="5B9BD5"/>
            </a:solidFill>
            <a:prstDash val="solid"/>
            <a:headEnd type="none"/>
            <a:tailEnd type="none"/>
          </a:ln>
        </p:spPr>
      </p:sp>
      <p:sp>
        <p:nvSpPr>
          <p:cNvPr id="28" name="Shape 25"/>
          <p:cNvSpPr/>
          <p:nvPr/>
        </p:nvSpPr>
        <p:spPr>
          <a:xfrm>
            <a:off x="6986016" y="2267712"/>
            <a:ext cx="182880" cy="932688"/>
          </a:xfrm>
          <a:custGeom>
            <a:avLst/>
            <a:gdLst/>
            <a:ahLst/>
            <a:cxnLst/>
            <a:rect l="l" t="t" r="r" b="b"/>
            <a:pathLst>
              <a:path w="182880" h="932688">
                <a:moveTo>
                  <a:pt x="0" y="0"/>
                </a:moveTo>
                <a:lnTo>
                  <a:pt x="182880" y="932688"/>
                </a:lnTo>
              </a:path>
            </a:pathLst>
          </a:custGeom>
          <a:noFill/>
          <a:ln w="27432">
            <a:solidFill>
              <a:srgbClr val="70AD47"/>
            </a:solidFill>
            <a:prstDash val="solid"/>
            <a:headEnd type="none"/>
            <a:tailEnd type="none"/>
          </a:ln>
        </p:spPr>
      </p:sp>
      <p:sp>
        <p:nvSpPr>
          <p:cNvPr id="29" name="Shape 26"/>
          <p:cNvSpPr/>
          <p:nvPr/>
        </p:nvSpPr>
        <p:spPr>
          <a:xfrm>
            <a:off x="7388352" y="3419856"/>
            <a:ext cx="292608" cy="0"/>
          </a:xfrm>
          <a:custGeom>
            <a:avLst/>
            <a:gdLst/>
            <a:ahLst/>
            <a:cxnLst/>
            <a:rect l="l" t="t" r="r" b="b"/>
            <a:pathLst>
              <a:path w="292608" h="0">
                <a:moveTo>
                  <a:pt x="0" y="0"/>
                </a:moveTo>
                <a:lnTo>
                  <a:pt x="292608" y="0"/>
                </a:lnTo>
              </a:path>
            </a:pathLst>
          </a:custGeom>
          <a:noFill/>
          <a:ln w="27432">
            <a:solidFill>
              <a:srgbClr val="70AD47"/>
            </a:solidFill>
            <a:prstDash val="solid"/>
            <a:headEnd type="none"/>
            <a:tailEnd type="none"/>
          </a:ln>
        </p:spPr>
      </p:sp>
      <p:sp>
        <p:nvSpPr>
          <p:cNvPr id="30" name="Shape 27"/>
          <p:cNvSpPr/>
          <p:nvPr/>
        </p:nvSpPr>
        <p:spPr>
          <a:xfrm>
            <a:off x="7900416" y="3200400"/>
            <a:ext cx="548640" cy="0"/>
          </a:xfrm>
          <a:custGeom>
            <a:avLst/>
            <a:gdLst/>
            <a:ahLst/>
            <a:cxnLst/>
            <a:rect l="l" t="t" r="r" b="b"/>
            <a:pathLst>
              <a:path w="548640" h="0">
                <a:moveTo>
                  <a:pt x="0" y="0"/>
                </a:moveTo>
                <a:lnTo>
                  <a:pt x="548640" y="-932688"/>
                </a:lnTo>
              </a:path>
            </a:pathLst>
          </a:custGeom>
          <a:noFill/>
          <a:ln w="27432">
            <a:solidFill>
              <a:srgbClr val="70AD47"/>
            </a:solidFill>
            <a:prstDash val="solid"/>
            <a:headEnd type="none"/>
            <a:tailEnd type="arrow"/>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Why Use Branches?</a:t>
            </a:r>
            <a:endParaRPr lang="en-US" sz="1152" dirty="0"/>
          </a:p>
        </p:txBody>
      </p:sp>
      <p:sp>
        <p:nvSpPr>
          <p:cNvPr id="4" name="Shape 1"/>
          <p:cNvSpPr/>
          <p:nvPr/>
        </p:nvSpPr>
        <p:spPr>
          <a:xfrm>
            <a:off x="640080" y="1225296"/>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645920"/>
            <a:ext cx="1874520" cy="1371600"/>
          </a:xfrm>
          <a:custGeom>
            <a:avLst/>
            <a:gdLst/>
            <a:ahLst/>
            <a:cxnLst/>
            <a:rect l="l" t="t" r="r" b="b"/>
            <a:pathLst>
              <a:path w="1874520" h="1371600">
                <a:moveTo>
                  <a:pt x="0" y="0"/>
                </a:moveTo>
                <a:lnTo>
                  <a:pt x="1874520" y="0"/>
                </a:lnTo>
                <a:lnTo>
                  <a:pt x="1874520" y="1371600"/>
                </a:lnTo>
                <a:lnTo>
                  <a:pt x="0" y="1371600"/>
                </a:lnTo>
                <a:close/>
              </a:path>
            </a:pathLst>
          </a:custGeom>
          <a:solidFill>
            <a:srgbClr val="DBEAFE"/>
          </a:solidFill>
          <a:ln/>
        </p:spPr>
      </p:sp>
      <p:sp>
        <p:nvSpPr>
          <p:cNvPr id="6" name="Shape 3"/>
          <p:cNvSpPr/>
          <p:nvPr/>
        </p:nvSpPr>
        <p:spPr>
          <a:xfrm>
            <a:off x="2606040" y="1645920"/>
            <a:ext cx="1874520" cy="1371600"/>
          </a:xfrm>
          <a:custGeom>
            <a:avLst/>
            <a:gdLst/>
            <a:ahLst/>
            <a:cxnLst/>
            <a:rect l="l" t="t" r="r" b="b"/>
            <a:pathLst>
              <a:path w="1874520" h="1371600">
                <a:moveTo>
                  <a:pt x="0" y="0"/>
                </a:moveTo>
                <a:lnTo>
                  <a:pt x="1874520" y="0"/>
                </a:lnTo>
                <a:lnTo>
                  <a:pt x="1874520" y="1371600"/>
                </a:lnTo>
                <a:lnTo>
                  <a:pt x="0" y="1371600"/>
                </a:lnTo>
                <a:close/>
              </a:path>
            </a:pathLst>
          </a:custGeom>
          <a:solidFill>
            <a:srgbClr val="DCFCE7"/>
          </a:solidFill>
          <a:ln/>
        </p:spPr>
      </p:sp>
      <p:sp>
        <p:nvSpPr>
          <p:cNvPr id="7" name="Shape 4"/>
          <p:cNvSpPr/>
          <p:nvPr/>
        </p:nvSpPr>
        <p:spPr>
          <a:xfrm>
            <a:off x="4663440" y="1645920"/>
            <a:ext cx="1874520" cy="1371600"/>
          </a:xfrm>
          <a:custGeom>
            <a:avLst/>
            <a:gdLst/>
            <a:ahLst/>
            <a:cxnLst/>
            <a:rect l="l" t="t" r="r" b="b"/>
            <a:pathLst>
              <a:path w="1874520" h="1371600">
                <a:moveTo>
                  <a:pt x="0" y="0"/>
                </a:moveTo>
                <a:lnTo>
                  <a:pt x="1874520" y="0"/>
                </a:lnTo>
                <a:lnTo>
                  <a:pt x="1874520" y="1371600"/>
                </a:lnTo>
                <a:lnTo>
                  <a:pt x="0" y="1371600"/>
                </a:lnTo>
                <a:close/>
              </a:path>
            </a:pathLst>
          </a:custGeom>
          <a:solidFill>
            <a:srgbClr val="FEF3C7"/>
          </a:solidFill>
          <a:ln/>
        </p:spPr>
      </p:sp>
      <p:sp>
        <p:nvSpPr>
          <p:cNvPr id="8" name="Shape 5"/>
          <p:cNvSpPr/>
          <p:nvPr/>
        </p:nvSpPr>
        <p:spPr>
          <a:xfrm>
            <a:off x="6720840" y="1645920"/>
            <a:ext cx="1874520" cy="1371600"/>
          </a:xfrm>
          <a:custGeom>
            <a:avLst/>
            <a:gdLst/>
            <a:ahLst/>
            <a:cxnLst/>
            <a:rect l="l" t="t" r="r" b="b"/>
            <a:pathLst>
              <a:path w="1874520" h="1371600">
                <a:moveTo>
                  <a:pt x="0" y="0"/>
                </a:moveTo>
                <a:lnTo>
                  <a:pt x="1874520" y="0"/>
                </a:lnTo>
                <a:lnTo>
                  <a:pt x="1874520" y="1371600"/>
                </a:lnTo>
                <a:lnTo>
                  <a:pt x="0" y="1371600"/>
                </a:lnTo>
                <a:close/>
              </a:path>
            </a:pathLst>
          </a:custGeom>
          <a:solidFill>
            <a:srgbClr val="FCE7F3"/>
          </a:solidFill>
          <a:ln/>
        </p:spPr>
      </p:sp>
      <p:sp>
        <p:nvSpPr>
          <p:cNvPr id="9" name="Text 6"/>
          <p:cNvSpPr/>
          <p:nvPr/>
        </p:nvSpPr>
        <p:spPr>
          <a:xfrm>
            <a:off x="731520" y="2011680"/>
            <a:ext cx="15087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E40AF"/>
                </a:solidFill>
                <a:latin typeface="Microsoft YaHei" pitchFamily="34" charset="0"/>
                <a:ea typeface="Microsoft YaHei" pitchFamily="34" charset="-122"/>
                <a:cs typeface="Microsoft YaHei" pitchFamily="34" charset="-120"/>
              </a:rPr>
              <a:t>Test an idea</a:t>
            </a:r>
            <a:endParaRPr lang="en-US" sz="1152" dirty="0"/>
          </a:p>
        </p:txBody>
      </p:sp>
      <p:sp>
        <p:nvSpPr>
          <p:cNvPr id="10" name="Text 7"/>
          <p:cNvSpPr/>
          <p:nvPr/>
        </p:nvSpPr>
        <p:spPr>
          <a:xfrm>
            <a:off x="2788920" y="2011680"/>
            <a:ext cx="15087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66534"/>
                </a:solidFill>
                <a:latin typeface="Microsoft YaHei" pitchFamily="34" charset="0"/>
                <a:ea typeface="Microsoft YaHei" pitchFamily="34" charset="-122"/>
                <a:cs typeface="Microsoft YaHei" pitchFamily="34" charset="-120"/>
              </a:rPr>
              <a:t>Build a new feature</a:t>
            </a:r>
            <a:endParaRPr lang="en-US" sz="1152" dirty="0"/>
          </a:p>
        </p:txBody>
      </p:sp>
      <p:sp>
        <p:nvSpPr>
          <p:cNvPr id="11" name="Text 8"/>
          <p:cNvSpPr/>
          <p:nvPr/>
        </p:nvSpPr>
        <p:spPr>
          <a:xfrm>
            <a:off x="4846320" y="2011680"/>
            <a:ext cx="15087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92400E"/>
                </a:solidFill>
                <a:latin typeface="Microsoft YaHei" pitchFamily="34" charset="0"/>
                <a:ea typeface="Microsoft YaHei" pitchFamily="34" charset="-122"/>
                <a:cs typeface="Microsoft YaHei" pitchFamily="34" charset="-120"/>
              </a:rPr>
              <a:t>Fix a bug safely</a:t>
            </a:r>
            <a:endParaRPr lang="en-US" sz="1152" dirty="0"/>
          </a:p>
        </p:txBody>
      </p:sp>
      <p:sp>
        <p:nvSpPr>
          <p:cNvPr id="12" name="Text 9"/>
          <p:cNvSpPr/>
          <p:nvPr/>
        </p:nvSpPr>
        <p:spPr>
          <a:xfrm>
            <a:off x="6903720" y="2011680"/>
            <a:ext cx="15087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831843"/>
                </a:solidFill>
                <a:latin typeface="Microsoft YaHei" pitchFamily="34" charset="0"/>
                <a:ea typeface="Microsoft YaHei" pitchFamily="34" charset="-122"/>
                <a:cs typeface="Microsoft YaHei" pitchFamily="34" charset="-120"/>
              </a:rPr>
              <a:t>Work with teammates</a:t>
            </a:r>
            <a:endParaRPr lang="en-US" sz="1152" dirty="0"/>
          </a:p>
        </p:txBody>
      </p:sp>
      <p:sp>
        <p:nvSpPr>
          <p:cNvPr id="13" name="Shape 10"/>
          <p:cNvSpPr/>
          <p:nvPr/>
        </p:nvSpPr>
        <p:spPr>
          <a:xfrm>
            <a:off x="548640" y="3474720"/>
            <a:ext cx="8046720" cy="1005840"/>
          </a:xfrm>
          <a:custGeom>
            <a:avLst/>
            <a:gdLst/>
            <a:ahLst/>
            <a:cxnLst/>
            <a:rect l="l" t="t" r="r" b="b"/>
            <a:pathLst>
              <a:path w="8046720" h="1005840">
                <a:moveTo>
                  <a:pt x="0" y="0"/>
                </a:moveTo>
                <a:lnTo>
                  <a:pt x="8046720" y="0"/>
                </a:lnTo>
                <a:lnTo>
                  <a:pt x="8046720" y="1005840"/>
                </a:lnTo>
                <a:lnTo>
                  <a:pt x="0" y="1005840"/>
                </a:lnTo>
                <a:close/>
              </a:path>
            </a:pathLst>
          </a:custGeom>
          <a:solidFill>
            <a:srgbClr val="ECFDF5"/>
          </a:solidFill>
          <a:ln/>
        </p:spPr>
      </p:sp>
      <p:sp>
        <p:nvSpPr>
          <p:cNvPr id="14" name="Text 11"/>
          <p:cNvSpPr/>
          <p:nvPr/>
        </p:nvSpPr>
        <p:spPr>
          <a:xfrm>
            <a:off x="914400" y="3630168"/>
            <a:ext cx="731520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065F46"/>
                </a:solidFill>
                <a:latin typeface="Microsoft YaHei" pitchFamily="34" charset="0"/>
                <a:ea typeface="Microsoft YaHei" pitchFamily="34" charset="-122"/>
                <a:cs typeface="Microsoft YaHei" pitchFamily="34" charset="-120"/>
              </a:rPr>
              <a:t>Safety net:</a:t>
            </a:r>
            <a:pPr algn="ctr" indent="0" marL="0">
              <a:lnSpc>
                <a:spcPct val="120000"/>
              </a:lnSpc>
              <a:spcBef>
                <a:spcPts val="360"/>
              </a:spcBef>
              <a:buNone/>
            </a:pPr>
            <a:r>
              <a:rPr lang="en-US" sz="1296" dirty="0">
                <a:solidFill>
                  <a:srgbClr val="065F46"/>
                </a:solidFill>
                <a:latin typeface="Microsoft YaHei" pitchFamily="34" charset="0"/>
                <a:ea typeface="Microsoft YaHei" pitchFamily="34" charset="-122"/>
                <a:cs typeface="Microsoft YaHei" pitchFamily="34" charset="-120"/>
              </a:rPr>
              <a:t> If an experiment goes wrong, the main branch keeps the working version.</a:t>
            </a:r>
            <a:endParaRPr lang="en-US" sz="1152"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F3864"/>
                </a:solidFill>
                <a:latin typeface="Microsoft YaHei" pitchFamily="34" charset="0"/>
                <a:ea typeface="Microsoft YaHei" pitchFamily="34" charset="-122"/>
                <a:cs typeface="Microsoft YaHei" pitchFamily="34" charset="-120"/>
              </a:rPr>
              <a:t>Merge</a:t>
            </a:r>
            <a:endParaRPr lang="en-US" sz="1152" dirty="0"/>
          </a:p>
        </p:txBody>
      </p:sp>
      <p:sp>
        <p:nvSpPr>
          <p:cNvPr id="4" name="Shape 1"/>
          <p:cNvSpPr/>
          <p:nvPr/>
        </p:nvSpPr>
        <p:spPr>
          <a:xfrm>
            <a:off x="640080" y="1152144"/>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298448"/>
            <a:ext cx="80467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555555"/>
                </a:solidFill>
                <a:latin typeface="Microsoft YaHei" pitchFamily="34" charset="0"/>
                <a:ea typeface="Microsoft YaHei" pitchFamily="34" charset="-122"/>
                <a:cs typeface="Microsoft YaHei" pitchFamily="34" charset="-120"/>
              </a:rPr>
              <a:t>Combining Work Across Branches</a:t>
            </a:r>
            <a:endParaRPr lang="en-US" sz="1152" dirty="0"/>
          </a:p>
        </p:txBody>
      </p:sp>
      <p:sp>
        <p:nvSpPr>
          <p:cNvPr id="6" name="Shape 3"/>
          <p:cNvSpPr/>
          <p:nvPr/>
        </p:nvSpPr>
        <p:spPr>
          <a:xfrm>
            <a:off x="731520" y="2011680"/>
            <a:ext cx="2194560" cy="731520"/>
          </a:xfrm>
          <a:custGeom>
            <a:avLst/>
            <a:gdLst/>
            <a:ahLst/>
            <a:cxnLst/>
            <a:rect l="l" t="t" r="r" b="b"/>
            <a:pathLst>
              <a:path w="2194560" h="731520">
                <a:moveTo>
                  <a:pt x="0" y="0"/>
                </a:moveTo>
                <a:lnTo>
                  <a:pt x="2194560" y="0"/>
                </a:lnTo>
                <a:lnTo>
                  <a:pt x="2194560" y="731520"/>
                </a:lnTo>
                <a:lnTo>
                  <a:pt x="0" y="731520"/>
                </a:lnTo>
                <a:close/>
              </a:path>
            </a:pathLst>
          </a:custGeom>
          <a:solidFill>
            <a:srgbClr val="DBEAFE"/>
          </a:solidFill>
          <a:ln/>
        </p:spPr>
      </p:sp>
      <p:sp>
        <p:nvSpPr>
          <p:cNvPr id="7" name="Shape 4"/>
          <p:cNvSpPr/>
          <p:nvPr/>
        </p:nvSpPr>
        <p:spPr>
          <a:xfrm>
            <a:off x="3474720" y="2011680"/>
            <a:ext cx="2194560" cy="731520"/>
          </a:xfrm>
          <a:custGeom>
            <a:avLst/>
            <a:gdLst/>
            <a:ahLst/>
            <a:cxnLst/>
            <a:rect l="l" t="t" r="r" b="b"/>
            <a:pathLst>
              <a:path w="2194560" h="731520">
                <a:moveTo>
                  <a:pt x="0" y="0"/>
                </a:moveTo>
                <a:lnTo>
                  <a:pt x="2194560" y="0"/>
                </a:lnTo>
                <a:lnTo>
                  <a:pt x="2194560" y="731520"/>
                </a:lnTo>
                <a:lnTo>
                  <a:pt x="0" y="731520"/>
                </a:lnTo>
                <a:close/>
              </a:path>
            </a:pathLst>
          </a:custGeom>
          <a:solidFill>
            <a:srgbClr val="FEF3C7"/>
          </a:solidFill>
          <a:ln/>
        </p:spPr>
      </p:sp>
      <p:sp>
        <p:nvSpPr>
          <p:cNvPr id="8" name="Shape 5"/>
          <p:cNvSpPr/>
          <p:nvPr/>
        </p:nvSpPr>
        <p:spPr>
          <a:xfrm>
            <a:off x="6217920" y="2011680"/>
            <a:ext cx="2194560" cy="731520"/>
          </a:xfrm>
          <a:custGeom>
            <a:avLst/>
            <a:gdLst/>
            <a:ahLst/>
            <a:cxnLst/>
            <a:rect l="l" t="t" r="r" b="b"/>
            <a:pathLst>
              <a:path w="2194560" h="731520">
                <a:moveTo>
                  <a:pt x="0" y="0"/>
                </a:moveTo>
                <a:lnTo>
                  <a:pt x="2194560" y="0"/>
                </a:lnTo>
                <a:lnTo>
                  <a:pt x="2194560" y="731520"/>
                </a:lnTo>
                <a:lnTo>
                  <a:pt x="0" y="731520"/>
                </a:lnTo>
                <a:close/>
              </a:path>
            </a:pathLst>
          </a:custGeom>
          <a:solidFill>
            <a:srgbClr val="DCFCE7"/>
          </a:solidFill>
          <a:ln/>
        </p:spPr>
      </p:sp>
      <p:sp>
        <p:nvSpPr>
          <p:cNvPr id="9" name="Text 6"/>
          <p:cNvSpPr/>
          <p:nvPr/>
        </p:nvSpPr>
        <p:spPr>
          <a:xfrm>
            <a:off x="914400" y="2176272"/>
            <a:ext cx="18288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40AF"/>
                </a:solidFill>
                <a:latin typeface="Microsoft YaHei" pitchFamily="34" charset="0"/>
                <a:ea typeface="Microsoft YaHei" pitchFamily="34" charset="-122"/>
                <a:cs typeface="Microsoft YaHei" pitchFamily="34" charset="-120"/>
              </a:rPr>
              <a:t>feature/menu</a:t>
            </a:r>
            <a:endParaRPr lang="en-US" sz="1152" dirty="0"/>
          </a:p>
        </p:txBody>
      </p:sp>
      <p:sp>
        <p:nvSpPr>
          <p:cNvPr id="10" name="Text 7"/>
          <p:cNvSpPr/>
          <p:nvPr/>
        </p:nvSpPr>
        <p:spPr>
          <a:xfrm>
            <a:off x="3657600" y="2176272"/>
            <a:ext cx="18288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92400E"/>
                </a:solidFill>
                <a:latin typeface="Microsoft YaHei" pitchFamily="34" charset="0"/>
                <a:ea typeface="Microsoft YaHei" pitchFamily="34" charset="-122"/>
                <a:cs typeface="Microsoft YaHei" pitchFamily="34" charset="-120"/>
              </a:rPr>
              <a:t>merge</a:t>
            </a:r>
            <a:endParaRPr lang="en-US" sz="1152" dirty="0"/>
          </a:p>
        </p:txBody>
      </p:sp>
      <p:sp>
        <p:nvSpPr>
          <p:cNvPr id="11" name="Text 8"/>
          <p:cNvSpPr/>
          <p:nvPr/>
        </p:nvSpPr>
        <p:spPr>
          <a:xfrm>
            <a:off x="6400800" y="2176272"/>
            <a:ext cx="18288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66534"/>
                </a:solidFill>
                <a:latin typeface="Microsoft YaHei" pitchFamily="34" charset="0"/>
                <a:ea typeface="Microsoft YaHei" pitchFamily="34" charset="-122"/>
                <a:cs typeface="Microsoft YaHei" pitchFamily="34" charset="-120"/>
              </a:rPr>
              <a:t>main</a:t>
            </a:r>
            <a:endParaRPr lang="en-US" sz="1152" dirty="0"/>
          </a:p>
        </p:txBody>
      </p:sp>
      <p:sp>
        <p:nvSpPr>
          <p:cNvPr id="12" name="Shape 9"/>
          <p:cNvSpPr/>
          <p:nvPr/>
        </p:nvSpPr>
        <p:spPr>
          <a:xfrm>
            <a:off x="2971800" y="2377440"/>
            <a:ext cx="457200" cy="0"/>
          </a:xfrm>
          <a:custGeom>
            <a:avLst/>
            <a:gdLst/>
            <a:ahLst/>
            <a:cxnLst/>
            <a:rect l="l" t="t" r="r" b="b"/>
            <a:pathLst>
              <a:path w="457200" h="0">
                <a:moveTo>
                  <a:pt x="0" y="0"/>
                </a:moveTo>
                <a:lnTo>
                  <a:pt x="457200" y="0"/>
                </a:lnTo>
              </a:path>
            </a:pathLst>
          </a:custGeom>
          <a:noFill/>
          <a:ln w="27432">
            <a:solidFill>
              <a:srgbClr val="5B9BD5"/>
            </a:solidFill>
            <a:prstDash val="solid"/>
            <a:headEnd type="none"/>
            <a:tailEnd type="arrow"/>
          </a:ln>
        </p:spPr>
      </p:sp>
      <p:sp>
        <p:nvSpPr>
          <p:cNvPr id="13" name="Shape 10"/>
          <p:cNvSpPr/>
          <p:nvPr/>
        </p:nvSpPr>
        <p:spPr>
          <a:xfrm>
            <a:off x="5715000" y="2377440"/>
            <a:ext cx="457200" cy="0"/>
          </a:xfrm>
          <a:custGeom>
            <a:avLst/>
            <a:gdLst/>
            <a:ahLst/>
            <a:cxnLst/>
            <a:rect l="l" t="t" r="r" b="b"/>
            <a:pathLst>
              <a:path w="457200" h="0">
                <a:moveTo>
                  <a:pt x="0" y="0"/>
                </a:moveTo>
                <a:lnTo>
                  <a:pt x="457200" y="0"/>
                </a:lnTo>
              </a:path>
            </a:pathLst>
          </a:custGeom>
          <a:noFill/>
          <a:ln w="27432">
            <a:solidFill>
              <a:srgbClr val="5B9BD5"/>
            </a:solidFill>
            <a:prstDash val="solid"/>
            <a:headEnd type="none"/>
            <a:tailEnd type="arrow"/>
          </a:ln>
        </p:spPr>
      </p:sp>
      <p:sp>
        <p:nvSpPr>
          <p:cNvPr id="14" name="Shape 11"/>
          <p:cNvSpPr/>
          <p:nvPr/>
        </p:nvSpPr>
        <p:spPr>
          <a:xfrm>
            <a:off x="731520" y="3108960"/>
            <a:ext cx="7680960" cy="1097280"/>
          </a:xfrm>
          <a:custGeom>
            <a:avLst/>
            <a:gdLst/>
            <a:ahLst/>
            <a:cxnLst/>
            <a:rect l="l" t="t" r="r" b="b"/>
            <a:pathLst>
              <a:path w="7680960" h="1097280">
                <a:moveTo>
                  <a:pt x="0" y="0"/>
                </a:moveTo>
                <a:lnTo>
                  <a:pt x="7680960" y="0"/>
                </a:lnTo>
                <a:lnTo>
                  <a:pt x="7680960" y="1097280"/>
                </a:lnTo>
                <a:lnTo>
                  <a:pt x="0" y="1097280"/>
                </a:lnTo>
                <a:close/>
              </a:path>
            </a:pathLst>
          </a:custGeom>
          <a:solidFill>
            <a:srgbClr val="FDEAEA"/>
          </a:solidFill>
          <a:ln/>
        </p:spPr>
      </p:sp>
      <p:sp>
        <p:nvSpPr>
          <p:cNvPr id="15" name="Text 12"/>
          <p:cNvSpPr/>
          <p:nvPr/>
        </p:nvSpPr>
        <p:spPr>
          <a:xfrm>
            <a:off x="914400" y="3182112"/>
            <a:ext cx="73152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B91C1C"/>
                </a:solidFill>
                <a:latin typeface="Microsoft YaHei" pitchFamily="34" charset="0"/>
                <a:ea typeface="Microsoft YaHei" pitchFamily="34" charset="-122"/>
                <a:cs typeface="Microsoft YaHei" pitchFamily="34" charset="-120"/>
              </a:rPr>
              <a:t>Merge Conflict</a:t>
            </a:r>
            <a:endParaRPr lang="en-US" sz="1152" dirty="0"/>
          </a:p>
          <a:p>
            <a:pPr indent="0" marL="0">
              <a:lnSpc>
                <a:spcPct val="120000"/>
              </a:lnSpc>
              <a:spcBef>
                <a:spcPts val="360"/>
              </a:spcBef>
              <a:buNone/>
            </a:pPr>
            <a:r>
              <a:rPr lang="en-US" sz="1296" dirty="0">
                <a:solidFill>
                  <a:srgbClr val="7F1D1D"/>
                </a:solidFill>
                <a:latin typeface="Microsoft YaHei" pitchFamily="34" charset="0"/>
                <a:ea typeface="Microsoft YaHei" pitchFamily="34" charset="-122"/>
                <a:cs typeface="Microsoft YaHei" pitchFamily="34" charset="-120"/>
              </a:rPr>
              <a:t>• Two people change the same section</a:t>
            </a:r>
            <a:endParaRPr lang="en-US" sz="1152" dirty="0"/>
          </a:p>
          <a:p>
            <a:pPr indent="0" marL="0">
              <a:lnSpc>
                <a:spcPct val="120000"/>
              </a:lnSpc>
              <a:spcBef>
                <a:spcPts val="360"/>
              </a:spcBef>
              <a:buNone/>
            </a:pPr>
            <a:r>
              <a:rPr lang="en-US" sz="1296" dirty="0">
                <a:solidFill>
                  <a:srgbClr val="7F1D1D"/>
                </a:solidFill>
                <a:latin typeface="Microsoft YaHei" pitchFamily="34" charset="0"/>
                <a:ea typeface="Microsoft YaHei" pitchFamily="34" charset="-122"/>
                <a:cs typeface="Microsoft YaHei" pitchFamily="34" charset="-120"/>
              </a:rPr>
              <a:t>• Git cannot decide which version to keep</a:t>
            </a:r>
            <a:endParaRPr lang="en-US" sz="1152"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Common Git Mistakes</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37160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DBEAFE"/>
          </a:solidFill>
          <a:ln/>
        </p:spPr>
      </p:sp>
      <p:sp>
        <p:nvSpPr>
          <p:cNvPr id="6" name="Shape 3"/>
          <p:cNvSpPr/>
          <p:nvPr/>
        </p:nvSpPr>
        <p:spPr>
          <a:xfrm>
            <a:off x="3291840" y="137160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DCFCE7"/>
          </a:solidFill>
          <a:ln/>
        </p:spPr>
      </p:sp>
      <p:sp>
        <p:nvSpPr>
          <p:cNvPr id="7" name="Shape 4"/>
          <p:cNvSpPr/>
          <p:nvPr/>
        </p:nvSpPr>
        <p:spPr>
          <a:xfrm>
            <a:off x="6035040" y="137160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FEF3C7"/>
          </a:solidFill>
          <a:ln/>
        </p:spPr>
      </p:sp>
      <p:sp>
        <p:nvSpPr>
          <p:cNvPr id="8" name="Shape 5"/>
          <p:cNvSpPr/>
          <p:nvPr/>
        </p:nvSpPr>
        <p:spPr>
          <a:xfrm>
            <a:off x="548640" y="246888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DBEAFE"/>
          </a:solidFill>
          <a:ln/>
        </p:spPr>
      </p:sp>
      <p:sp>
        <p:nvSpPr>
          <p:cNvPr id="9" name="Shape 6"/>
          <p:cNvSpPr/>
          <p:nvPr/>
        </p:nvSpPr>
        <p:spPr>
          <a:xfrm>
            <a:off x="3291840" y="246888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DCFCE7"/>
          </a:solidFill>
          <a:ln/>
        </p:spPr>
      </p:sp>
      <p:sp>
        <p:nvSpPr>
          <p:cNvPr id="10" name="Shape 7"/>
          <p:cNvSpPr/>
          <p:nvPr/>
        </p:nvSpPr>
        <p:spPr>
          <a:xfrm>
            <a:off x="6035040" y="2468880"/>
            <a:ext cx="2560320" cy="914400"/>
          </a:xfrm>
          <a:custGeom>
            <a:avLst/>
            <a:gdLst/>
            <a:ahLst/>
            <a:cxnLst/>
            <a:rect l="l" t="t" r="r" b="b"/>
            <a:pathLst>
              <a:path w="2560320" h="914400">
                <a:moveTo>
                  <a:pt x="0" y="0"/>
                </a:moveTo>
                <a:lnTo>
                  <a:pt x="2560320" y="0"/>
                </a:lnTo>
                <a:lnTo>
                  <a:pt x="2560320" y="914400"/>
                </a:lnTo>
                <a:lnTo>
                  <a:pt x="0" y="914400"/>
                </a:lnTo>
                <a:close/>
              </a:path>
            </a:pathLst>
          </a:custGeom>
          <a:solidFill>
            <a:srgbClr val="FEE2E2"/>
          </a:solidFill>
          <a:ln/>
        </p:spPr>
      </p:sp>
      <p:sp>
        <p:nvSpPr>
          <p:cNvPr id="11" name="Text 8"/>
          <p:cNvSpPr/>
          <p:nvPr/>
        </p:nvSpPr>
        <p:spPr>
          <a:xfrm>
            <a:off x="731520" y="153619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293B"/>
                </a:solidFill>
                <a:latin typeface="Microsoft YaHei" pitchFamily="34" charset="0"/>
                <a:ea typeface="Microsoft YaHei" pitchFamily="34" charset="-122"/>
                <a:cs typeface="Microsoft YaHei" pitchFamily="34" charset="-120"/>
              </a:rPr>
              <a:t>Commit often</a:t>
            </a:r>
            <a:endParaRPr lang="en-US" sz="1152" dirty="0"/>
          </a:p>
          <a:p>
            <a:pPr algn="ctr" indent="0" marL="0">
              <a:lnSpc>
                <a:spcPct val="120000"/>
              </a:lnSpc>
              <a:spcBef>
                <a:spcPts val="360"/>
              </a:spcBef>
              <a:buNone/>
            </a:pPr>
            <a:r>
              <a:rPr lang="en-US" sz="1008" dirty="0">
                <a:solidFill>
                  <a:srgbClr val="1E293B"/>
                </a:solidFill>
                <a:latin typeface="Microsoft YaHei" pitchFamily="34" charset="0"/>
                <a:ea typeface="Microsoft YaHei" pitchFamily="34" charset="-122"/>
                <a:cs typeface="Microsoft YaHei" pitchFamily="34" charset="-120"/>
              </a:rPr>
              <a:t>Small steps</a:t>
            </a:r>
            <a:endParaRPr lang="en-US" sz="1152" dirty="0"/>
          </a:p>
        </p:txBody>
      </p:sp>
      <p:sp>
        <p:nvSpPr>
          <p:cNvPr id="12" name="Text 9"/>
          <p:cNvSpPr/>
          <p:nvPr/>
        </p:nvSpPr>
        <p:spPr>
          <a:xfrm>
            <a:off x="3474720" y="153619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293B"/>
                </a:solidFill>
                <a:latin typeface="Microsoft YaHei" pitchFamily="34" charset="0"/>
                <a:ea typeface="Microsoft YaHei" pitchFamily="34" charset="-122"/>
                <a:cs typeface="Microsoft YaHei" pitchFamily="34" charset="-120"/>
              </a:rPr>
              <a:t>Clear messages</a:t>
            </a:r>
            <a:endParaRPr lang="en-US" sz="1152" dirty="0"/>
          </a:p>
          <a:p>
            <a:pPr algn="ctr" indent="0" marL="0">
              <a:lnSpc>
                <a:spcPct val="120000"/>
              </a:lnSpc>
              <a:spcBef>
                <a:spcPts val="360"/>
              </a:spcBef>
              <a:buNone/>
            </a:pPr>
            <a:r>
              <a:rPr lang="en-US" sz="1008" dirty="0">
                <a:solidFill>
                  <a:srgbClr val="1E293B"/>
                </a:solidFill>
                <a:latin typeface="Microsoft YaHei" pitchFamily="34" charset="0"/>
                <a:ea typeface="Microsoft YaHei" pitchFamily="34" charset="-122"/>
                <a:cs typeface="Microsoft YaHei" pitchFamily="34" charset="-120"/>
              </a:rPr>
              <a:t>Explain changes</a:t>
            </a:r>
            <a:endParaRPr lang="en-US" sz="1152" dirty="0"/>
          </a:p>
        </p:txBody>
      </p:sp>
      <p:sp>
        <p:nvSpPr>
          <p:cNvPr id="13" name="Text 10"/>
          <p:cNvSpPr/>
          <p:nvPr/>
        </p:nvSpPr>
        <p:spPr>
          <a:xfrm>
            <a:off x="6217920" y="153619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293B"/>
                </a:solidFill>
                <a:latin typeface="Microsoft YaHei" pitchFamily="34" charset="0"/>
                <a:ea typeface="Microsoft YaHei" pitchFamily="34" charset="-122"/>
                <a:cs typeface="Microsoft YaHei" pitchFamily="34" charset="-120"/>
              </a:rPr>
              <a:t>Push your work</a:t>
            </a:r>
            <a:endParaRPr lang="en-US" sz="1152" dirty="0"/>
          </a:p>
          <a:p>
            <a:pPr algn="ctr" indent="0" marL="0">
              <a:lnSpc>
                <a:spcPct val="120000"/>
              </a:lnSpc>
              <a:spcBef>
                <a:spcPts val="360"/>
              </a:spcBef>
              <a:buNone/>
            </a:pPr>
            <a:r>
              <a:rPr lang="en-US" sz="1008" dirty="0">
                <a:solidFill>
                  <a:srgbClr val="1E293B"/>
                </a:solidFill>
                <a:latin typeface="Microsoft YaHei" pitchFamily="34" charset="0"/>
                <a:ea typeface="Microsoft YaHei" pitchFamily="34" charset="-122"/>
                <a:cs typeface="Microsoft YaHei" pitchFamily="34" charset="-120"/>
              </a:rPr>
              <a:t>Update remote</a:t>
            </a:r>
            <a:endParaRPr lang="en-US" sz="1152" dirty="0"/>
          </a:p>
        </p:txBody>
      </p:sp>
      <p:sp>
        <p:nvSpPr>
          <p:cNvPr id="14" name="Text 11"/>
          <p:cNvSpPr/>
          <p:nvPr/>
        </p:nvSpPr>
        <p:spPr>
          <a:xfrm>
            <a:off x="731520" y="263347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293B"/>
                </a:solidFill>
                <a:latin typeface="Microsoft YaHei" pitchFamily="34" charset="0"/>
                <a:ea typeface="Microsoft YaHei" pitchFamily="34" charset="-122"/>
                <a:cs typeface="Microsoft YaHei" pitchFamily="34" charset="-120"/>
              </a:rPr>
              <a:t>Pull first</a:t>
            </a:r>
            <a:endParaRPr lang="en-US" sz="1152" dirty="0"/>
          </a:p>
          <a:p>
            <a:pPr algn="ctr" indent="0" marL="0">
              <a:lnSpc>
                <a:spcPct val="120000"/>
              </a:lnSpc>
              <a:spcBef>
                <a:spcPts val="360"/>
              </a:spcBef>
              <a:buNone/>
            </a:pPr>
            <a:r>
              <a:rPr lang="en-US" sz="1008" dirty="0">
                <a:solidFill>
                  <a:srgbClr val="1E293B"/>
                </a:solidFill>
                <a:latin typeface="Microsoft YaHei" pitchFamily="34" charset="0"/>
                <a:ea typeface="Microsoft YaHei" pitchFamily="34" charset="-122"/>
                <a:cs typeface="Microsoft YaHei" pitchFamily="34" charset="-120"/>
              </a:rPr>
              <a:t>Sync local repo</a:t>
            </a:r>
            <a:endParaRPr lang="en-US" sz="1152" dirty="0"/>
          </a:p>
        </p:txBody>
      </p:sp>
      <p:sp>
        <p:nvSpPr>
          <p:cNvPr id="15" name="Text 12"/>
          <p:cNvSpPr/>
          <p:nvPr/>
        </p:nvSpPr>
        <p:spPr>
          <a:xfrm>
            <a:off x="3474720" y="263347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E293B"/>
                </a:solidFill>
                <a:latin typeface="Microsoft YaHei" pitchFamily="34" charset="0"/>
                <a:ea typeface="Microsoft YaHei" pitchFamily="34" charset="-122"/>
                <a:cs typeface="Microsoft YaHei" pitchFamily="34" charset="-120"/>
              </a:rPr>
              <a:t>Ignore junk</a:t>
            </a:r>
            <a:endParaRPr lang="en-US" sz="1152" dirty="0"/>
          </a:p>
          <a:p>
            <a:pPr algn="ctr" indent="0" marL="0">
              <a:lnSpc>
                <a:spcPct val="120000"/>
              </a:lnSpc>
              <a:spcBef>
                <a:spcPts val="360"/>
              </a:spcBef>
              <a:buNone/>
            </a:pPr>
            <a:r>
              <a:rPr lang="en-US" sz="1008" dirty="0">
                <a:solidFill>
                  <a:srgbClr val="1E293B"/>
                </a:solidFill>
                <a:latin typeface="Microsoft YaHei" pitchFamily="34" charset="0"/>
                <a:ea typeface="Microsoft YaHei" pitchFamily="34" charset="-122"/>
                <a:cs typeface="Microsoft YaHei" pitchFamily="34" charset="-120"/>
              </a:rPr>
              <a:t>Use .gitignore</a:t>
            </a:r>
            <a:endParaRPr lang="en-US" sz="1152" dirty="0"/>
          </a:p>
        </p:txBody>
      </p:sp>
      <p:sp>
        <p:nvSpPr>
          <p:cNvPr id="16" name="Text 13"/>
          <p:cNvSpPr/>
          <p:nvPr/>
        </p:nvSpPr>
        <p:spPr>
          <a:xfrm>
            <a:off x="6217920" y="2633472"/>
            <a:ext cx="2194560" cy="58521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991B1B"/>
                </a:solidFill>
                <a:latin typeface="Microsoft YaHei" pitchFamily="34" charset="0"/>
                <a:ea typeface="Microsoft YaHei" pitchFamily="34" charset="-122"/>
                <a:cs typeface="Microsoft YaHei" pitchFamily="34" charset="-120"/>
              </a:rPr>
              <a:t>No secrets</a:t>
            </a:r>
            <a:endParaRPr lang="en-US" sz="1152" dirty="0"/>
          </a:p>
          <a:p>
            <a:pPr algn="ctr" indent="0" marL="0">
              <a:lnSpc>
                <a:spcPct val="120000"/>
              </a:lnSpc>
              <a:spcBef>
                <a:spcPts val="360"/>
              </a:spcBef>
              <a:buNone/>
            </a:pPr>
            <a:r>
              <a:rPr lang="en-US" sz="1008" dirty="0">
                <a:solidFill>
                  <a:srgbClr val="991B1B"/>
                </a:solidFill>
                <a:latin typeface="Microsoft YaHei" pitchFamily="34" charset="0"/>
                <a:ea typeface="Microsoft YaHei" pitchFamily="34" charset="-122"/>
                <a:cs typeface="Microsoft YaHei" pitchFamily="34" charset="-120"/>
              </a:rPr>
              <a:t>Hide API keys</a:t>
            </a:r>
            <a:endParaRPr lang="en-US" sz="1152" dirty="0"/>
          </a:p>
        </p:txBody>
      </p:sp>
      <p:sp>
        <p:nvSpPr>
          <p:cNvPr id="17" name="Shape 14"/>
          <p:cNvSpPr/>
          <p:nvPr/>
        </p:nvSpPr>
        <p:spPr>
          <a:xfrm>
            <a:off x="548640" y="3566160"/>
            <a:ext cx="8046720" cy="585216"/>
          </a:xfrm>
          <a:custGeom>
            <a:avLst/>
            <a:gdLst/>
            <a:ahLst/>
            <a:cxnLst/>
            <a:rect l="l" t="t" r="r" b="b"/>
            <a:pathLst>
              <a:path w="8046720" h="585216">
                <a:moveTo>
                  <a:pt x="0" y="0"/>
                </a:moveTo>
                <a:lnTo>
                  <a:pt x="8046720" y="0"/>
                </a:lnTo>
                <a:lnTo>
                  <a:pt x="8046720" y="585216"/>
                </a:lnTo>
                <a:lnTo>
                  <a:pt x="0" y="585216"/>
                </a:lnTo>
                <a:close/>
              </a:path>
            </a:pathLst>
          </a:custGeom>
          <a:solidFill>
            <a:srgbClr val="DC2626"/>
          </a:solidFill>
          <a:ln/>
        </p:spPr>
      </p:sp>
      <p:sp>
        <p:nvSpPr>
          <p:cNvPr id="18" name="Text 15"/>
          <p:cNvSpPr/>
          <p:nvPr/>
        </p:nvSpPr>
        <p:spPr>
          <a:xfrm>
            <a:off x="731520" y="3621024"/>
            <a:ext cx="768096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FFFFFF"/>
                </a:solidFill>
                <a:latin typeface="Microsoft YaHei" pitchFamily="34" charset="0"/>
                <a:ea typeface="Microsoft YaHei" pitchFamily="34" charset="-122"/>
                <a:cs typeface="Microsoft YaHei" pitchFamily="34" charset="-120"/>
              </a:rPr>
              <a:t>⚠ Never commit passwords or API keys</a:t>
            </a:r>
            <a:endParaRPr lang="en-US" sz="1152"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2C3E50"/>
                </a:solidFill>
                <a:latin typeface="Microsoft YaHei" pitchFamily="34" charset="0"/>
                <a:ea typeface="Microsoft YaHei" pitchFamily="34" charset="-122"/>
                <a:cs typeface="Microsoft YaHei" pitchFamily="34" charset="-120"/>
              </a:rPr>
              <a:t>.gitignore</a:t>
            </a:r>
            <a:endParaRPr lang="en-US" sz="1152" dirty="0"/>
          </a:p>
        </p:txBody>
      </p:sp>
      <p:sp>
        <p:nvSpPr>
          <p:cNvPr id="4" name="Shape 1"/>
          <p:cNvSpPr/>
          <p:nvPr/>
        </p:nvSpPr>
        <p:spPr>
          <a:xfrm>
            <a:off x="640080" y="1225296"/>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389888"/>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555555"/>
                </a:solidFill>
                <a:latin typeface="Microsoft YaHei" pitchFamily="34" charset="0"/>
                <a:ea typeface="Microsoft YaHei" pitchFamily="34" charset="-122"/>
                <a:cs typeface="Microsoft YaHei" pitchFamily="34" charset="-120"/>
              </a:rPr>
              <a:t>Keep secrets and generated files out of Git</a:t>
            </a:r>
            <a:endParaRPr lang="en-US" sz="1152" dirty="0"/>
          </a:p>
        </p:txBody>
      </p:sp>
      <p:sp>
        <p:nvSpPr>
          <p:cNvPr id="6" name="Shape 3"/>
          <p:cNvSpPr/>
          <p:nvPr/>
        </p:nvSpPr>
        <p:spPr>
          <a:xfrm>
            <a:off x="548640" y="2194560"/>
            <a:ext cx="2560320" cy="1828800"/>
          </a:xfrm>
          <a:custGeom>
            <a:avLst/>
            <a:gdLst/>
            <a:ahLst/>
            <a:cxnLst/>
            <a:rect l="l" t="t" r="r" b="b"/>
            <a:pathLst>
              <a:path w="2560320" h="1828800">
                <a:moveTo>
                  <a:pt x="0" y="0"/>
                </a:moveTo>
                <a:lnTo>
                  <a:pt x="2560320" y="0"/>
                </a:lnTo>
                <a:lnTo>
                  <a:pt x="2560320" y="1828800"/>
                </a:lnTo>
                <a:lnTo>
                  <a:pt x="0" y="1828800"/>
                </a:lnTo>
                <a:close/>
              </a:path>
            </a:pathLst>
          </a:custGeom>
          <a:solidFill>
            <a:srgbClr val="E3F2FD"/>
          </a:solidFill>
          <a:ln/>
        </p:spPr>
      </p:sp>
      <p:sp>
        <p:nvSpPr>
          <p:cNvPr id="7" name="Shape 4"/>
          <p:cNvSpPr/>
          <p:nvPr/>
        </p:nvSpPr>
        <p:spPr>
          <a:xfrm>
            <a:off x="3291840" y="2194560"/>
            <a:ext cx="2560320" cy="1828800"/>
          </a:xfrm>
          <a:custGeom>
            <a:avLst/>
            <a:gdLst/>
            <a:ahLst/>
            <a:cxnLst/>
            <a:rect l="l" t="t" r="r" b="b"/>
            <a:pathLst>
              <a:path w="2560320" h="1828800">
                <a:moveTo>
                  <a:pt x="0" y="0"/>
                </a:moveTo>
                <a:lnTo>
                  <a:pt x="2560320" y="0"/>
                </a:lnTo>
                <a:lnTo>
                  <a:pt x="2560320" y="1828800"/>
                </a:lnTo>
                <a:lnTo>
                  <a:pt x="0" y="1828800"/>
                </a:lnTo>
                <a:close/>
              </a:path>
            </a:pathLst>
          </a:custGeom>
          <a:solidFill>
            <a:srgbClr val="E8F5E9"/>
          </a:solidFill>
          <a:ln/>
        </p:spPr>
      </p:sp>
      <p:sp>
        <p:nvSpPr>
          <p:cNvPr id="8" name="Shape 5"/>
          <p:cNvSpPr/>
          <p:nvPr/>
        </p:nvSpPr>
        <p:spPr>
          <a:xfrm>
            <a:off x="6035040" y="2194560"/>
            <a:ext cx="2560320" cy="1828800"/>
          </a:xfrm>
          <a:custGeom>
            <a:avLst/>
            <a:gdLst/>
            <a:ahLst/>
            <a:cxnLst/>
            <a:rect l="l" t="t" r="r" b="b"/>
            <a:pathLst>
              <a:path w="2560320" h="1828800">
                <a:moveTo>
                  <a:pt x="0" y="0"/>
                </a:moveTo>
                <a:lnTo>
                  <a:pt x="2560320" y="0"/>
                </a:lnTo>
                <a:lnTo>
                  <a:pt x="2560320" y="1828800"/>
                </a:lnTo>
                <a:lnTo>
                  <a:pt x="0" y="1828800"/>
                </a:lnTo>
                <a:close/>
              </a:path>
            </a:pathLst>
          </a:custGeom>
          <a:solidFill>
            <a:srgbClr val="FFF3E0"/>
          </a:solidFill>
          <a:ln/>
        </p:spPr>
      </p:sp>
      <p:sp>
        <p:nvSpPr>
          <p:cNvPr id="9" name="Text 6"/>
          <p:cNvSpPr/>
          <p:nvPr/>
        </p:nvSpPr>
        <p:spPr>
          <a:xfrm>
            <a:off x="731520" y="2624328"/>
            <a:ext cx="2194560" cy="96926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3333"/>
                </a:solidFill>
                <a:latin typeface="Microsoft YaHei" pitchFamily="34" charset="0"/>
                <a:ea typeface="Microsoft YaHei" pitchFamily="34" charset="-122"/>
                <a:cs typeface="Microsoft YaHei" pitchFamily="34" charset="-120"/>
              </a:rPr>
              <a:t>What it does</a:t>
            </a:r>
            <a:endParaRPr lang="en-US" sz="1152" dirty="0"/>
          </a:p>
          <a:p>
            <a:pPr algn="ct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Tells Git which files and folders to skip</a:t>
            </a:r>
            <a:endParaRPr lang="en-US" sz="1152" dirty="0"/>
          </a:p>
        </p:txBody>
      </p:sp>
      <p:sp>
        <p:nvSpPr>
          <p:cNvPr id="10" name="Text 7"/>
          <p:cNvSpPr/>
          <p:nvPr/>
        </p:nvSpPr>
        <p:spPr>
          <a:xfrm>
            <a:off x="3474720" y="2624328"/>
            <a:ext cx="2194560" cy="96926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3333"/>
                </a:solidFill>
                <a:latin typeface="Microsoft YaHei" pitchFamily="34" charset="0"/>
                <a:ea typeface="Microsoft YaHei" pitchFamily="34" charset="-122"/>
                <a:cs typeface="Microsoft YaHei" pitchFamily="34" charset="-120"/>
              </a:rPr>
              <a:t>Common entries</a:t>
            </a:r>
            <a:endParaRPr lang="en-US" sz="1152" dirty="0"/>
          </a:p>
          <a:p>
            <a:pPr algn="ctr" indent="0" marL="0">
              <a:lnSpc>
                <a:spcPct val="120000"/>
              </a:lnSpc>
              <a:spcBef>
                <a:spcPts val="360"/>
              </a:spcBef>
              <a:buNone/>
            </a:pPr>
            <a:r>
              <a:rPr lang="en-US" sz="1008" dirty="0">
                <a:solidFill>
                  <a:srgbClr val="333333"/>
                </a:solidFill>
                <a:latin typeface="'Courier New', monospace" pitchFamily="34" charset="0"/>
                <a:ea typeface="'Courier New', monospace" pitchFamily="34" charset="-122"/>
                <a:cs typeface="'Courier New', monospace" pitchFamily="34" charset="-120"/>
              </a:rPr>
              <a:t>build/</a:t>
            </a:r>
            <a:endParaRPr lang="en-US" sz="1152" dirty="0"/>
          </a:p>
          <a:p>
            <a:pPr algn="ctr" indent="0" marL="0">
              <a:lnSpc>
                <a:spcPct val="120000"/>
              </a:lnSpc>
              <a:spcBef>
                <a:spcPts val="360"/>
              </a:spcBef>
              <a:buNone/>
            </a:pPr>
            <a:r>
              <a:rPr lang="en-US" sz="1008" dirty="0">
                <a:solidFill>
                  <a:srgbClr val="333333"/>
                </a:solidFill>
                <a:latin typeface="'Courier New', monospace" pitchFamily="34" charset="0"/>
                <a:ea typeface="'Courier New', monospace" pitchFamily="34" charset="-122"/>
                <a:cs typeface="'Courier New', monospace" pitchFamily="34" charset="-120"/>
              </a:rPr>
              <a:t>*.exe</a:t>
            </a:r>
            <a:endParaRPr lang="en-US" sz="1152" dirty="0"/>
          </a:p>
          <a:p>
            <a:pPr algn="ctr" indent="0" marL="0">
              <a:lnSpc>
                <a:spcPct val="120000"/>
              </a:lnSpc>
              <a:spcBef>
                <a:spcPts val="360"/>
              </a:spcBef>
              <a:buNone/>
            </a:pPr>
            <a:r>
              <a:rPr lang="en-US" sz="1008" dirty="0">
                <a:solidFill>
                  <a:srgbClr val="333333"/>
                </a:solidFill>
                <a:latin typeface="'Courier New', monospace" pitchFamily="34" charset="0"/>
                <a:ea typeface="'Courier New', monospace" pitchFamily="34" charset="-122"/>
                <a:cs typeface="'Courier New', monospace" pitchFamily="34" charset="-120"/>
              </a:rPr>
              <a:t>.env</a:t>
            </a:r>
            <a:endParaRPr lang="en-US" sz="1152" dirty="0"/>
          </a:p>
        </p:txBody>
      </p:sp>
      <p:sp>
        <p:nvSpPr>
          <p:cNvPr id="11" name="Text 8"/>
          <p:cNvSpPr/>
          <p:nvPr/>
        </p:nvSpPr>
        <p:spPr>
          <a:xfrm>
            <a:off x="6217920" y="2624328"/>
            <a:ext cx="2194560" cy="96926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33333"/>
                </a:solidFill>
                <a:latin typeface="Microsoft YaHei" pitchFamily="34" charset="0"/>
                <a:ea typeface="Microsoft YaHei" pitchFamily="34" charset="-122"/>
                <a:cs typeface="Microsoft YaHei" pitchFamily="34" charset="-120"/>
              </a:rPr>
              <a:t>Why it matters</a:t>
            </a:r>
            <a:endParaRPr lang="en-US" sz="1152" dirty="0"/>
          </a:p>
          <a:p>
            <a:pPr algn="ct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.env often holds secrets like API keys</a:t>
            </a:r>
            <a:endParaRPr lang="en-US" sz="1152" dirty="0"/>
          </a:p>
        </p:txBody>
      </p:sp>
      <p:sp>
        <p:nvSpPr>
          <p:cNvPr id="12" name="Text 9"/>
          <p:cNvSpPr/>
          <p:nvPr/>
        </p:nvSpPr>
        <p:spPr>
          <a:xfrm>
            <a:off x="548640" y="4261104"/>
            <a:ext cx="80467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Focus: basic examples, not full syntax.</a:t>
            </a:r>
            <a:endParaRPr lang="en-US" sz="1152"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10789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What's Happening Behind the Buttons?</a:t>
            </a:r>
            <a:endParaRPr lang="en-US" sz="1152" dirty="0"/>
          </a:p>
        </p:txBody>
      </p:sp>
      <p:sp>
        <p:nvSpPr>
          <p:cNvPr id="4" name="Shape 1"/>
          <p:cNvSpPr/>
          <p:nvPr/>
        </p:nvSpPr>
        <p:spPr>
          <a:xfrm>
            <a:off x="640080" y="1609344"/>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8046720" cy="2194560"/>
        </p:xfrm>
        <a:graphic>
          <a:graphicData uri="http://schemas.openxmlformats.org/drawingml/2006/table">
            <a:tbl>
              <a:tblPr/>
              <a:tblGrid>
                <a:gridCol w="3218688"/>
                <a:gridCol w="4828032"/>
              </a:tblGrid>
              <a:tr h="274320">
                <a:tc>
                  <a:txBody>
                    <a:bodyPr/>
                    <a:lstStyle/>
                    <a:p>
                      <a:pPr algn="l" indent="0" marL="0">
                        <a:buNone/>
                      </a:pPr>
                      <a:r>
                        <a:rPr lang="en-US" sz="1008" b="1" u="none" dirty="0">
                          <a:solidFill>
                            <a:srgbClr val="1F3864"/>
                          </a:solidFill>
                          <a:latin typeface="Microsoft YaHei" pitchFamily="34" charset="0"/>
                          <a:ea typeface="Microsoft YaHei" pitchFamily="34" charset="-122"/>
                          <a:cs typeface="Microsoft YaHei" pitchFamily="34" charset="-120"/>
                        </a:rPr>
                        <a:t>Action in VS Code / GitHub</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solidFill>
                      <a:srgbClr val="EEF4FB"/>
                    </a:solidFill>
                  </a:tcPr>
                </a:tc>
                <a:tc>
                  <a:txBody>
                    <a:bodyPr/>
                    <a:lstStyle/>
                    <a:p>
                      <a:pPr algn="l" indent="0" marL="0">
                        <a:buNone/>
                      </a:pPr>
                      <a:r>
                        <a:rPr lang="en-US" sz="1008" b="1" u="none" dirty="0">
                          <a:solidFill>
                            <a:srgbClr val="1F3864"/>
                          </a:solidFill>
                          <a:latin typeface="Microsoft YaHei" pitchFamily="34" charset="0"/>
                          <a:ea typeface="Microsoft YaHei" pitchFamily="34" charset="-122"/>
                          <a:cs typeface="Microsoft YaHei" pitchFamily="34" charset="-120"/>
                        </a:rPr>
                        <a:t>Git command behind it</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solidFill>
                      <a:srgbClr val="EEF4FB"/>
                    </a:solidFill>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Clone a repository</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clone &lt;repository-url&gt;</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Check current state</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status</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Stage all changes</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add .</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Save a snapshot (commit)</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commit -m "Add Hello World program"</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Pull latest changes</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pull</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Push your changes</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push</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r h="274320">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Create or switch branch</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c>
                  <a:txBody>
                    <a:bodyPr/>
                    <a:lstStyle/>
                    <a:p>
                      <a:pPr algn="l" indent="0" marL="0">
                        <a:buNone/>
                      </a:pPr>
                      <a:r>
                        <a:rPr lang="en-US" sz="936" u="none" dirty="0">
                          <a:solidFill>
                            <a:srgbClr val="333333"/>
                          </a:solidFill>
                          <a:latin typeface="Microsoft YaHei" pitchFamily="34" charset="0"/>
                          <a:ea typeface="Microsoft YaHei" pitchFamily="34" charset="-122"/>
                          <a:cs typeface="Microsoft YaHei" pitchFamily="34" charset="-120"/>
                        </a:rPr>
                        <a:t>git branch</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D0D7DE"/>
                      </a:solidFill>
                      <a:prstDash val="solid"/>
                      <a:round/>
                      <a:headEnd type="none" w="med" len="med"/>
                      <a:tailEnd type="none" w="med" len="med"/>
                    </a:lnL>
                    <a:lnR w="9144" cap="flat" cmpd="sng" algn="ctr">
                      <a:solidFill>
                        <a:srgbClr val="D0D7DE"/>
                      </a:solidFill>
                      <a:prstDash val="solid"/>
                      <a:round/>
                      <a:headEnd type="none" w="med" len="med"/>
                      <a:tailEnd type="none" w="med" len="med"/>
                    </a:lnR>
                    <a:lnT w="9144" cap="flat" cmpd="sng" algn="ctr">
                      <a:solidFill>
                        <a:srgbClr val="D0D7DE"/>
                      </a:solidFill>
                      <a:prstDash val="solid"/>
                      <a:round/>
                      <a:headEnd type="none" w="med" len="med"/>
                      <a:tailEnd type="none" w="med" len="med"/>
                    </a:lnT>
                    <a:lnB w="9144" cap="flat" cmpd="sng" algn="ctr">
                      <a:solidFill>
                        <a:srgbClr val="D0D7DE"/>
                      </a:solidFill>
                      <a:prstDash val="solid"/>
                      <a:round/>
                      <a:headEnd type="none" w="med" len="med"/>
                      <a:tailEnd type="none" w="med" len="med"/>
                    </a:lnB>
                  </a:tcPr>
                </a:tc>
              </a:tr>
            </a:tbl>
          </a:graphicData>
        </a:graphic>
      </p:graphicFrame>
      <p:sp>
        <p:nvSpPr>
          <p:cNvPr id="6" name="Shape 2"/>
          <p:cNvSpPr/>
          <p:nvPr/>
        </p:nvSpPr>
        <p:spPr>
          <a:xfrm>
            <a:off x="548640" y="4023360"/>
            <a:ext cx="8046720" cy="585216"/>
          </a:xfrm>
          <a:custGeom>
            <a:avLst/>
            <a:gdLst/>
            <a:ahLst/>
            <a:cxnLst/>
            <a:rect l="l" t="t" r="r" b="b"/>
            <a:pathLst>
              <a:path w="8046720" h="585216">
                <a:moveTo>
                  <a:pt x="0" y="0"/>
                </a:moveTo>
                <a:lnTo>
                  <a:pt x="8046720" y="0"/>
                </a:lnTo>
                <a:lnTo>
                  <a:pt x="8046720" y="585216"/>
                </a:lnTo>
                <a:lnTo>
                  <a:pt x="0" y="585216"/>
                </a:lnTo>
                <a:close/>
              </a:path>
            </a:pathLst>
          </a:custGeom>
          <a:solidFill>
            <a:srgbClr val="F5F8FA"/>
          </a:solidFill>
          <a:ln/>
        </p:spPr>
      </p:sp>
      <p:sp>
        <p:nvSpPr>
          <p:cNvPr id="7" name="Text 3"/>
          <p:cNvSpPr/>
          <p:nvPr/>
        </p:nvSpPr>
        <p:spPr>
          <a:xfrm>
            <a:off x="731520" y="4023360"/>
            <a:ext cx="768096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VS Code gives a visual way to do many Git operations.</a:t>
            </a:r>
            <a:endParaRPr lang="en-US" sz="1152" dirty="0"/>
          </a:p>
          <a:p>
            <a:pPr indent="0" marL="0">
              <a:lnSpc>
                <a:spcPct val="120000"/>
              </a:lnSpc>
              <a:spcBef>
                <a:spcPts val="360"/>
              </a:spcBef>
              <a:buNone/>
            </a:pPr>
            <a:r>
              <a:rPr lang="en-US" sz="1008" b="1" dirty="0">
                <a:solidFill>
                  <a:srgbClr val="333333"/>
                </a:solidFill>
                <a:latin typeface="Microsoft YaHei" pitchFamily="34" charset="0"/>
                <a:ea typeface="Microsoft YaHei" pitchFamily="34" charset="-122"/>
                <a:cs typeface="Microsoft YaHei" pitchFamily="34" charset="-120"/>
              </a:rPr>
              <a:t>You do not need to memorize these commands now.</a:t>
            </a:r>
            <a:endParaRPr lang="en-US" sz="1152"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Final Summary and Key Takeaways</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325880"/>
            <a:ext cx="8046720" cy="585216"/>
          </a:xfrm>
          <a:custGeom>
            <a:avLst/>
            <a:gdLst/>
            <a:ahLst/>
            <a:cxnLst/>
            <a:rect l="l" t="t" r="r" b="b"/>
            <a:pathLst>
              <a:path w="8046720" h="585216">
                <a:moveTo>
                  <a:pt x="0" y="0"/>
                </a:moveTo>
                <a:lnTo>
                  <a:pt x="8046720" y="0"/>
                </a:lnTo>
                <a:lnTo>
                  <a:pt x="8046720" y="585216"/>
                </a:lnTo>
                <a:lnTo>
                  <a:pt x="0" y="585216"/>
                </a:lnTo>
                <a:close/>
              </a:path>
            </a:pathLst>
          </a:custGeom>
          <a:solidFill>
            <a:srgbClr val="1F4E79"/>
          </a:solidFill>
          <a:ln/>
        </p:spPr>
      </p:sp>
      <p:sp>
        <p:nvSpPr>
          <p:cNvPr id="6" name="Text 3"/>
          <p:cNvSpPr/>
          <p:nvPr/>
        </p:nvSpPr>
        <p:spPr>
          <a:xfrm>
            <a:off x="731520" y="1380744"/>
            <a:ext cx="768096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FFFFFF"/>
                </a:solidFill>
                <a:latin typeface="Microsoft YaHei" pitchFamily="34" charset="0"/>
                <a:ea typeface="Microsoft YaHei" pitchFamily="34" charset="-122"/>
                <a:cs typeface="Microsoft YaHei" pitchFamily="34" charset="-120"/>
              </a:rPr>
              <a:t>PULL → EDIT → STAGE → COMMIT → PUSH</a:t>
            </a:r>
            <a:endParaRPr lang="en-US" sz="1152" dirty="0"/>
          </a:p>
        </p:txBody>
      </p:sp>
      <p:sp>
        <p:nvSpPr>
          <p:cNvPr id="7" name="Text 4"/>
          <p:cNvSpPr/>
          <p:nvPr/>
        </p:nvSpPr>
        <p:spPr>
          <a:xfrm>
            <a:off x="548640" y="2011680"/>
            <a:ext cx="80467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F4E79"/>
                </a:solidFill>
                <a:latin typeface="Microsoft YaHei" pitchFamily="34" charset="0"/>
                <a:ea typeface="Microsoft YaHei" pitchFamily="34" charset="-122"/>
                <a:cs typeface="Microsoft YaHei" pitchFamily="34" charset="-120"/>
              </a:rPr>
              <a:t>Key Terms</a:t>
            </a:r>
            <a:endParaRPr lang="en-US" sz="1152" dirty="0"/>
          </a:p>
        </p:txBody>
      </p:sp>
      <p:sp>
        <p:nvSpPr>
          <p:cNvPr id="8" name="Shape 5"/>
          <p:cNvSpPr/>
          <p:nvPr/>
        </p:nvSpPr>
        <p:spPr>
          <a:xfrm>
            <a:off x="548640" y="2578608"/>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EEF4FA"/>
          </a:solidFill>
          <a:ln/>
        </p:spPr>
      </p:sp>
      <p:sp>
        <p:nvSpPr>
          <p:cNvPr id="9" name="Shape 6"/>
          <p:cNvSpPr/>
          <p:nvPr/>
        </p:nvSpPr>
        <p:spPr>
          <a:xfrm>
            <a:off x="4663440" y="2578608"/>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EEF4FA"/>
          </a:solidFill>
          <a:ln/>
        </p:spPr>
      </p:sp>
      <p:sp>
        <p:nvSpPr>
          <p:cNvPr id="10" name="Text 7"/>
          <p:cNvSpPr/>
          <p:nvPr/>
        </p:nvSpPr>
        <p:spPr>
          <a:xfrm>
            <a:off x="731520" y="2706624"/>
            <a:ext cx="35661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Git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tracks your work</a:t>
            </a:r>
            <a:endParaRPr lang="en-US" sz="1152" dirty="0"/>
          </a:p>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GitHub</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stores projects online</a:t>
            </a:r>
            <a:endParaRPr lang="en-US" sz="1152" dirty="0"/>
          </a:p>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Commit</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checkpoint</a:t>
            </a:r>
            <a:endParaRPr lang="en-US" sz="1152" dirty="0"/>
          </a:p>
        </p:txBody>
      </p:sp>
      <p:sp>
        <p:nvSpPr>
          <p:cNvPr id="11" name="Text 8"/>
          <p:cNvSpPr/>
          <p:nvPr/>
        </p:nvSpPr>
        <p:spPr>
          <a:xfrm>
            <a:off x="4846320" y="2706624"/>
            <a:ext cx="35661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Push</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send commits to GitHub</a:t>
            </a:r>
            <a:endParaRPr lang="en-US" sz="1152" dirty="0"/>
          </a:p>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Pull</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receive commits from GitHub</a:t>
            </a:r>
            <a:endParaRPr lang="en-US" sz="1152" dirty="0"/>
          </a:p>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Branch</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separate line</a:t>
            </a:r>
            <a:endParaRPr lang="en-US" sz="1152" dirty="0"/>
          </a:p>
        </p:txBody>
      </p:sp>
      <p:sp>
        <p:nvSpPr>
          <p:cNvPr id="12" name="Shape 9"/>
          <p:cNvSpPr/>
          <p:nvPr/>
        </p:nvSpPr>
        <p:spPr>
          <a:xfrm>
            <a:off x="548640" y="4233672"/>
            <a:ext cx="8046720" cy="438912"/>
          </a:xfrm>
          <a:custGeom>
            <a:avLst/>
            <a:gdLst/>
            <a:ahLst/>
            <a:cxnLst/>
            <a:rect l="l" t="t" r="r" b="b"/>
            <a:pathLst>
              <a:path w="8046720" h="438912">
                <a:moveTo>
                  <a:pt x="0" y="0"/>
                </a:moveTo>
                <a:lnTo>
                  <a:pt x="8046720" y="0"/>
                </a:lnTo>
                <a:lnTo>
                  <a:pt x="8046720" y="438912"/>
                </a:lnTo>
                <a:lnTo>
                  <a:pt x="0" y="438912"/>
                </a:lnTo>
                <a:close/>
              </a:path>
            </a:pathLst>
          </a:custGeom>
          <a:solidFill>
            <a:srgbClr val="FFF3CD"/>
          </a:solidFill>
          <a:ln/>
        </p:spPr>
      </p:sp>
      <p:sp>
        <p:nvSpPr>
          <p:cNvPr id="13" name="Text 10"/>
          <p:cNvSpPr/>
          <p:nvPr/>
        </p:nvSpPr>
        <p:spPr>
          <a:xfrm>
            <a:off x="731520" y="4261104"/>
            <a:ext cx="76809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856404"/>
                </a:solidFill>
                <a:latin typeface="Microsoft YaHei" pitchFamily="34" charset="0"/>
                <a:ea typeface="Microsoft YaHei" pitchFamily="34" charset="-122"/>
                <a:cs typeface="Microsoft YaHei" pitchFamily="34" charset="-120"/>
              </a:rPr>
              <a:t>Commit early. Commit often. Write useful commit messages.</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2026-09-22T12:50:58Z</dcterms:created>
  <dcterms:modified xsi:type="dcterms:W3CDTF">2026-09-22T12:50:58Z</dcterms:modified>
</cp:coreProperties>
</file>